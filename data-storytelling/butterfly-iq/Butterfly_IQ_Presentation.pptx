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4"/>
    <p:sldMasterId id="2147483712" r:id="rId5"/>
  </p:sldMasterIdLst>
  <p:notesMasterIdLst>
    <p:notesMasterId r:id="rId16"/>
  </p:notesMasterIdLst>
  <p:handoutMasterIdLst>
    <p:handoutMasterId r:id="rId17"/>
  </p:handoutMasterIdLst>
  <p:sldIdLst>
    <p:sldId id="341" r:id="rId6"/>
    <p:sldId id="401" r:id="rId7"/>
    <p:sldId id="342" r:id="rId8"/>
    <p:sldId id="406" r:id="rId9"/>
    <p:sldId id="344" r:id="rId10"/>
    <p:sldId id="348" r:id="rId11"/>
    <p:sldId id="349" r:id="rId12"/>
    <p:sldId id="407" r:id="rId13"/>
    <p:sldId id="351" r:id="rId14"/>
    <p:sldId id="35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s" id="{673A9683-8CA5-E246-90EB-EF5125DAFC0F}">
          <p14:sldIdLst>
            <p14:sldId id="341"/>
            <p14:sldId id="401"/>
            <p14:sldId id="342"/>
            <p14:sldId id="406"/>
            <p14:sldId id="344"/>
            <p14:sldId id="348"/>
            <p14:sldId id="349"/>
            <p14:sldId id="407"/>
            <p14:sldId id="351"/>
            <p14:sldId id="3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48" userDrawn="1">
          <p15:clr>
            <a:srgbClr val="A4A3A4"/>
          </p15:clr>
        </p15:guide>
        <p15:guide id="2" pos="7080" userDrawn="1">
          <p15:clr>
            <a:srgbClr val="A4A3A4"/>
          </p15:clr>
        </p15:guide>
        <p15:guide id="3" pos="51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3FFB7"/>
    <a:srgbClr val="00C1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83504" autoAdjust="0"/>
  </p:normalViewPr>
  <p:slideViewPr>
    <p:cSldViewPr snapToGrid="0">
      <p:cViewPr varScale="1">
        <p:scale>
          <a:sx n="93" d="100"/>
          <a:sy n="93" d="100"/>
        </p:scale>
        <p:origin x="1088" y="200"/>
      </p:cViewPr>
      <p:guideLst>
        <p:guide orient="horz" pos="1848"/>
        <p:guide pos="7080"/>
        <p:guide pos="5112"/>
      </p:guideLst>
    </p:cSldViewPr>
  </p:slideViewPr>
  <p:outlineViewPr>
    <p:cViewPr>
      <p:scale>
        <a:sx n="33" d="100"/>
        <a:sy n="33" d="100"/>
      </p:scale>
      <p:origin x="0" y="-4819"/>
    </p:cViewPr>
  </p:outlineViewPr>
  <p:notesTextViewPr>
    <p:cViewPr>
      <p:scale>
        <a:sx n="95" d="100"/>
        <a:sy n="95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266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67C3D1-D5A0-4B5F-BE19-6568CD3B03E8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557521F-4005-4DBE-911E-E97BDE9EDABD}">
      <dgm:prSet custT="1"/>
      <dgm:spPr/>
      <dgm:t>
        <a:bodyPr/>
        <a:lstStyle/>
        <a:p>
          <a:r>
            <a:rPr lang="en-US" sz="2000" dirty="0"/>
            <a:t>Lung scans help </a:t>
          </a:r>
          <a:r>
            <a:rPr lang="en-US" sz="2000" u="sng" dirty="0"/>
            <a:t>detect fluid </a:t>
          </a:r>
          <a:r>
            <a:rPr lang="en-US" sz="2000" dirty="0"/>
            <a:t>buildup or </a:t>
          </a:r>
          <a:r>
            <a:rPr lang="en-US" sz="2000" u="sng" dirty="0"/>
            <a:t>pneumonia</a:t>
          </a:r>
          <a:r>
            <a:rPr lang="en-US" sz="2000" dirty="0"/>
            <a:t> quickly.</a:t>
          </a:r>
        </a:p>
      </dgm:t>
    </dgm:pt>
    <dgm:pt modelId="{2A91027B-67DF-437E-9D6D-A01CD396CC93}" type="parTrans" cxnId="{B6F1235C-1D4A-4448-B7AA-E356121D5102}">
      <dgm:prSet/>
      <dgm:spPr/>
      <dgm:t>
        <a:bodyPr/>
        <a:lstStyle/>
        <a:p>
          <a:endParaRPr lang="en-US" sz="2000"/>
        </a:p>
      </dgm:t>
    </dgm:pt>
    <dgm:pt modelId="{547D63F2-00D9-4D90-9EE9-B581D63358CC}" type="sibTrans" cxnId="{B6F1235C-1D4A-4448-B7AA-E356121D5102}">
      <dgm:prSet/>
      <dgm:spPr/>
      <dgm:t>
        <a:bodyPr/>
        <a:lstStyle/>
        <a:p>
          <a:endParaRPr lang="en-US" sz="2000"/>
        </a:p>
      </dgm:t>
    </dgm:pt>
    <dgm:pt modelId="{2E49D1BD-17BF-4CB9-B490-6B06FB3C7CD2}">
      <dgm:prSet custT="1"/>
      <dgm:spPr/>
      <dgm:t>
        <a:bodyPr/>
        <a:lstStyle/>
        <a:p>
          <a:r>
            <a:rPr lang="en-US" sz="2000" dirty="0"/>
            <a:t>Cardiac imaging </a:t>
          </a:r>
          <a:r>
            <a:rPr lang="en-US" sz="2000" u="sng" dirty="0"/>
            <a:t>identifies issues </a:t>
          </a:r>
          <a:r>
            <a:rPr lang="en-US" sz="2000" dirty="0"/>
            <a:t>like heart failure </a:t>
          </a:r>
          <a:r>
            <a:rPr lang="en-US" sz="2000" u="sng" dirty="0"/>
            <a:t>before hospital arrival</a:t>
          </a:r>
          <a:r>
            <a:rPr lang="en-US" sz="2000" dirty="0"/>
            <a:t>.</a:t>
          </a:r>
        </a:p>
      </dgm:t>
    </dgm:pt>
    <dgm:pt modelId="{F49CCC1F-DED2-4273-A971-D5A09E6508CC}" type="parTrans" cxnId="{1AC293EA-E205-40A8-91B3-55CEF58A6FD1}">
      <dgm:prSet/>
      <dgm:spPr/>
      <dgm:t>
        <a:bodyPr/>
        <a:lstStyle/>
        <a:p>
          <a:endParaRPr lang="en-US" sz="2000"/>
        </a:p>
      </dgm:t>
    </dgm:pt>
    <dgm:pt modelId="{F9F6F9D2-6C4E-42E1-8783-B832453CE9E7}" type="sibTrans" cxnId="{1AC293EA-E205-40A8-91B3-55CEF58A6FD1}">
      <dgm:prSet/>
      <dgm:spPr/>
      <dgm:t>
        <a:bodyPr/>
        <a:lstStyle/>
        <a:p>
          <a:endParaRPr lang="en-US" sz="2000"/>
        </a:p>
      </dgm:t>
    </dgm:pt>
    <dgm:pt modelId="{C7B41615-7C28-4CD3-BD3C-40D92CC2204B}">
      <dgm:prSet custT="1"/>
      <dgm:spPr/>
      <dgm:t>
        <a:bodyPr/>
        <a:lstStyle/>
        <a:p>
          <a:r>
            <a:rPr lang="en-US" sz="2000" dirty="0"/>
            <a:t>Aortic scans </a:t>
          </a:r>
          <a:r>
            <a:rPr lang="en-US" sz="2000" u="sng" dirty="0"/>
            <a:t>detect life-threatening </a:t>
          </a:r>
          <a:r>
            <a:rPr lang="en-US" sz="2000" dirty="0"/>
            <a:t>aneurysms in </a:t>
          </a:r>
          <a:r>
            <a:rPr lang="en-US" sz="2000" u="sng" dirty="0"/>
            <a:t>emergency settings</a:t>
          </a:r>
          <a:r>
            <a:rPr lang="en-US" sz="2000" u="none" dirty="0"/>
            <a:t>.</a:t>
          </a:r>
        </a:p>
      </dgm:t>
    </dgm:pt>
    <dgm:pt modelId="{7322810B-1334-4879-83FB-5897985A8658}" type="parTrans" cxnId="{404D4EA4-DAA3-4385-B29B-947FC47C4039}">
      <dgm:prSet/>
      <dgm:spPr/>
      <dgm:t>
        <a:bodyPr/>
        <a:lstStyle/>
        <a:p>
          <a:endParaRPr lang="en-US" sz="2000"/>
        </a:p>
      </dgm:t>
    </dgm:pt>
    <dgm:pt modelId="{5D453246-7187-4791-B085-FDD2B2C6155C}" type="sibTrans" cxnId="{404D4EA4-DAA3-4385-B29B-947FC47C4039}">
      <dgm:prSet/>
      <dgm:spPr/>
      <dgm:t>
        <a:bodyPr/>
        <a:lstStyle/>
        <a:p>
          <a:endParaRPr lang="en-US" sz="2000"/>
        </a:p>
      </dgm:t>
    </dgm:pt>
    <dgm:pt modelId="{2F8F22AC-9188-4279-9326-3E92DDF69140}" type="pres">
      <dgm:prSet presAssocID="{7A67C3D1-D5A0-4B5F-BE19-6568CD3B03E8}" presName="root" presStyleCnt="0">
        <dgm:presLayoutVars>
          <dgm:dir/>
          <dgm:resizeHandles val="exact"/>
        </dgm:presLayoutVars>
      </dgm:prSet>
      <dgm:spPr/>
    </dgm:pt>
    <dgm:pt modelId="{FD18890A-836E-494F-8F4D-DDC34A8C3092}" type="pres">
      <dgm:prSet presAssocID="{9557521F-4005-4DBE-911E-E97BDE9EDABD}" presName="compNode" presStyleCnt="0"/>
      <dgm:spPr/>
    </dgm:pt>
    <dgm:pt modelId="{D4BB758C-7913-4426-B70C-E9AE1AC9C7CD}" type="pres">
      <dgm:prSet presAssocID="{9557521F-4005-4DBE-911E-E97BDE9EDAB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ungs"/>
        </a:ext>
      </dgm:extLst>
    </dgm:pt>
    <dgm:pt modelId="{EED6F459-C093-45A0-ADE6-CACD78A572EB}" type="pres">
      <dgm:prSet presAssocID="{9557521F-4005-4DBE-911E-E97BDE9EDABD}" presName="spaceRect" presStyleCnt="0"/>
      <dgm:spPr/>
    </dgm:pt>
    <dgm:pt modelId="{9FC1FBCF-1A9F-4859-AE7B-584EF5DF7D8A}" type="pres">
      <dgm:prSet presAssocID="{9557521F-4005-4DBE-911E-E97BDE9EDABD}" presName="textRect" presStyleLbl="revTx" presStyleIdx="0" presStyleCnt="3">
        <dgm:presLayoutVars>
          <dgm:chMax val="1"/>
          <dgm:chPref val="1"/>
        </dgm:presLayoutVars>
      </dgm:prSet>
      <dgm:spPr/>
    </dgm:pt>
    <dgm:pt modelId="{CD713B73-E86A-4DA8-86B7-683B0A8F913B}" type="pres">
      <dgm:prSet presAssocID="{547D63F2-00D9-4D90-9EE9-B581D63358CC}" presName="sibTrans" presStyleCnt="0"/>
      <dgm:spPr/>
    </dgm:pt>
    <dgm:pt modelId="{7F90E119-8AF6-4FDD-9262-CB816B7CC64B}" type="pres">
      <dgm:prSet presAssocID="{2E49D1BD-17BF-4CB9-B490-6B06FB3C7CD2}" presName="compNode" presStyleCnt="0"/>
      <dgm:spPr/>
    </dgm:pt>
    <dgm:pt modelId="{5E3805D7-23B8-4BA1-81A8-A48751B7AEC7}" type="pres">
      <dgm:prSet presAssocID="{2E49D1BD-17BF-4CB9-B490-6B06FB3C7CD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9CC12B5E-7F7D-4E75-96BB-8957CB43A6F9}" type="pres">
      <dgm:prSet presAssocID="{2E49D1BD-17BF-4CB9-B490-6B06FB3C7CD2}" presName="spaceRect" presStyleCnt="0"/>
      <dgm:spPr/>
    </dgm:pt>
    <dgm:pt modelId="{E12D6B8C-8FEB-44DD-8126-52C8BF61B0C4}" type="pres">
      <dgm:prSet presAssocID="{2E49D1BD-17BF-4CB9-B490-6B06FB3C7CD2}" presName="textRect" presStyleLbl="revTx" presStyleIdx="1" presStyleCnt="3">
        <dgm:presLayoutVars>
          <dgm:chMax val="1"/>
          <dgm:chPref val="1"/>
        </dgm:presLayoutVars>
      </dgm:prSet>
      <dgm:spPr/>
    </dgm:pt>
    <dgm:pt modelId="{7D6F801D-B577-40DF-96A5-346F03F921FB}" type="pres">
      <dgm:prSet presAssocID="{F9F6F9D2-6C4E-42E1-8783-B832453CE9E7}" presName="sibTrans" presStyleCnt="0"/>
      <dgm:spPr/>
    </dgm:pt>
    <dgm:pt modelId="{482335E9-AE8F-4A1D-B89F-6C1DC6C94999}" type="pres">
      <dgm:prSet presAssocID="{C7B41615-7C28-4CD3-BD3C-40D92CC2204B}" presName="compNode" presStyleCnt="0"/>
      <dgm:spPr/>
    </dgm:pt>
    <dgm:pt modelId="{4892938A-2148-44EA-9862-A328AAF66EED}" type="pres">
      <dgm:prSet presAssocID="{C7B41615-7C28-4CD3-BD3C-40D92CC2204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21B14EF6-B4B9-4718-9D28-7315DE48D2D2}" type="pres">
      <dgm:prSet presAssocID="{C7B41615-7C28-4CD3-BD3C-40D92CC2204B}" presName="spaceRect" presStyleCnt="0"/>
      <dgm:spPr/>
    </dgm:pt>
    <dgm:pt modelId="{FEB026D2-8E7D-4F61-9539-1611CBA75954}" type="pres">
      <dgm:prSet presAssocID="{C7B41615-7C28-4CD3-BD3C-40D92CC2204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6877317-9CFF-4A13-A266-DD8828CAE697}" type="presOf" srcId="{2E49D1BD-17BF-4CB9-B490-6B06FB3C7CD2}" destId="{E12D6B8C-8FEB-44DD-8126-52C8BF61B0C4}" srcOrd="0" destOrd="0" presId="urn:microsoft.com/office/officeart/2018/2/layout/IconLabelList"/>
    <dgm:cxn modelId="{B6F1235C-1D4A-4448-B7AA-E356121D5102}" srcId="{7A67C3D1-D5A0-4B5F-BE19-6568CD3B03E8}" destId="{9557521F-4005-4DBE-911E-E97BDE9EDABD}" srcOrd="0" destOrd="0" parTransId="{2A91027B-67DF-437E-9D6D-A01CD396CC93}" sibTransId="{547D63F2-00D9-4D90-9EE9-B581D63358CC}"/>
    <dgm:cxn modelId="{679B6972-3DCD-44EB-836B-F73E47A9604F}" type="presOf" srcId="{9557521F-4005-4DBE-911E-E97BDE9EDABD}" destId="{9FC1FBCF-1A9F-4859-AE7B-584EF5DF7D8A}" srcOrd="0" destOrd="0" presId="urn:microsoft.com/office/officeart/2018/2/layout/IconLabelList"/>
    <dgm:cxn modelId="{404D4EA4-DAA3-4385-B29B-947FC47C4039}" srcId="{7A67C3D1-D5A0-4B5F-BE19-6568CD3B03E8}" destId="{C7B41615-7C28-4CD3-BD3C-40D92CC2204B}" srcOrd="2" destOrd="0" parTransId="{7322810B-1334-4879-83FB-5897985A8658}" sibTransId="{5D453246-7187-4791-B085-FDD2B2C6155C}"/>
    <dgm:cxn modelId="{C40051AC-2B20-41BA-A657-30D710D00CD2}" type="presOf" srcId="{C7B41615-7C28-4CD3-BD3C-40D92CC2204B}" destId="{FEB026D2-8E7D-4F61-9539-1611CBA75954}" srcOrd="0" destOrd="0" presId="urn:microsoft.com/office/officeart/2018/2/layout/IconLabelList"/>
    <dgm:cxn modelId="{37FBBDDC-D0FD-4F0F-A636-8C82E0522933}" type="presOf" srcId="{7A67C3D1-D5A0-4B5F-BE19-6568CD3B03E8}" destId="{2F8F22AC-9188-4279-9326-3E92DDF69140}" srcOrd="0" destOrd="0" presId="urn:microsoft.com/office/officeart/2018/2/layout/IconLabelList"/>
    <dgm:cxn modelId="{1AC293EA-E205-40A8-91B3-55CEF58A6FD1}" srcId="{7A67C3D1-D5A0-4B5F-BE19-6568CD3B03E8}" destId="{2E49D1BD-17BF-4CB9-B490-6B06FB3C7CD2}" srcOrd="1" destOrd="0" parTransId="{F49CCC1F-DED2-4273-A971-D5A09E6508CC}" sibTransId="{F9F6F9D2-6C4E-42E1-8783-B832453CE9E7}"/>
    <dgm:cxn modelId="{F1755DA2-4F1E-4B9D-A462-AD545D5FFCB5}" type="presParOf" srcId="{2F8F22AC-9188-4279-9326-3E92DDF69140}" destId="{FD18890A-836E-494F-8F4D-DDC34A8C3092}" srcOrd="0" destOrd="0" presId="urn:microsoft.com/office/officeart/2018/2/layout/IconLabelList"/>
    <dgm:cxn modelId="{1BEC5771-3748-4950-8F9E-F2DC62D74F5D}" type="presParOf" srcId="{FD18890A-836E-494F-8F4D-DDC34A8C3092}" destId="{D4BB758C-7913-4426-B70C-E9AE1AC9C7CD}" srcOrd="0" destOrd="0" presId="urn:microsoft.com/office/officeart/2018/2/layout/IconLabelList"/>
    <dgm:cxn modelId="{5E30BA6A-2DAB-44BB-9BD8-2092E16DCC48}" type="presParOf" srcId="{FD18890A-836E-494F-8F4D-DDC34A8C3092}" destId="{EED6F459-C093-45A0-ADE6-CACD78A572EB}" srcOrd="1" destOrd="0" presId="urn:microsoft.com/office/officeart/2018/2/layout/IconLabelList"/>
    <dgm:cxn modelId="{C7042E95-DBD1-42E2-A27D-ABBBD27A0DC6}" type="presParOf" srcId="{FD18890A-836E-494F-8F4D-DDC34A8C3092}" destId="{9FC1FBCF-1A9F-4859-AE7B-584EF5DF7D8A}" srcOrd="2" destOrd="0" presId="urn:microsoft.com/office/officeart/2018/2/layout/IconLabelList"/>
    <dgm:cxn modelId="{8DE983EC-C574-44BD-8075-BBAB3F8BE0B0}" type="presParOf" srcId="{2F8F22AC-9188-4279-9326-3E92DDF69140}" destId="{CD713B73-E86A-4DA8-86B7-683B0A8F913B}" srcOrd="1" destOrd="0" presId="urn:microsoft.com/office/officeart/2018/2/layout/IconLabelList"/>
    <dgm:cxn modelId="{ACEC0A4E-16CA-402C-A6C4-4C5EE0207694}" type="presParOf" srcId="{2F8F22AC-9188-4279-9326-3E92DDF69140}" destId="{7F90E119-8AF6-4FDD-9262-CB816B7CC64B}" srcOrd="2" destOrd="0" presId="urn:microsoft.com/office/officeart/2018/2/layout/IconLabelList"/>
    <dgm:cxn modelId="{8ADB2680-A894-476B-82C3-375C1B79AF48}" type="presParOf" srcId="{7F90E119-8AF6-4FDD-9262-CB816B7CC64B}" destId="{5E3805D7-23B8-4BA1-81A8-A48751B7AEC7}" srcOrd="0" destOrd="0" presId="urn:microsoft.com/office/officeart/2018/2/layout/IconLabelList"/>
    <dgm:cxn modelId="{BFF1CEB4-CC95-4852-8555-39F24B6820BB}" type="presParOf" srcId="{7F90E119-8AF6-4FDD-9262-CB816B7CC64B}" destId="{9CC12B5E-7F7D-4E75-96BB-8957CB43A6F9}" srcOrd="1" destOrd="0" presId="urn:microsoft.com/office/officeart/2018/2/layout/IconLabelList"/>
    <dgm:cxn modelId="{39BC31DC-ED9E-4B44-9C25-866A837F6E50}" type="presParOf" srcId="{7F90E119-8AF6-4FDD-9262-CB816B7CC64B}" destId="{E12D6B8C-8FEB-44DD-8126-52C8BF61B0C4}" srcOrd="2" destOrd="0" presId="urn:microsoft.com/office/officeart/2018/2/layout/IconLabelList"/>
    <dgm:cxn modelId="{EEB0C275-5616-4019-9A30-55C1612D0F80}" type="presParOf" srcId="{2F8F22AC-9188-4279-9326-3E92DDF69140}" destId="{7D6F801D-B577-40DF-96A5-346F03F921FB}" srcOrd="3" destOrd="0" presId="urn:microsoft.com/office/officeart/2018/2/layout/IconLabelList"/>
    <dgm:cxn modelId="{116FD1C5-CEE8-4A2E-B5FF-38B60E9EC0ED}" type="presParOf" srcId="{2F8F22AC-9188-4279-9326-3E92DDF69140}" destId="{482335E9-AE8F-4A1D-B89F-6C1DC6C94999}" srcOrd="4" destOrd="0" presId="urn:microsoft.com/office/officeart/2018/2/layout/IconLabelList"/>
    <dgm:cxn modelId="{7D278710-96E6-4051-9D8A-141EADEC15B5}" type="presParOf" srcId="{482335E9-AE8F-4A1D-B89F-6C1DC6C94999}" destId="{4892938A-2148-44EA-9862-A328AAF66EED}" srcOrd="0" destOrd="0" presId="urn:microsoft.com/office/officeart/2018/2/layout/IconLabelList"/>
    <dgm:cxn modelId="{6A62838C-BAFA-4FF5-8FBD-1612BBA647F0}" type="presParOf" srcId="{482335E9-AE8F-4A1D-B89F-6C1DC6C94999}" destId="{21B14EF6-B4B9-4718-9D28-7315DE48D2D2}" srcOrd="1" destOrd="0" presId="urn:microsoft.com/office/officeart/2018/2/layout/IconLabelList"/>
    <dgm:cxn modelId="{426B9A7F-2871-4941-87B5-2A3A6E0B3528}" type="presParOf" srcId="{482335E9-AE8F-4A1D-B89F-6C1DC6C94999}" destId="{FEB026D2-8E7D-4F61-9539-1611CBA7595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BB758C-7913-4426-B70C-E9AE1AC9C7CD}">
      <dsp:nvSpPr>
        <dsp:cNvPr id="0" name=""/>
        <dsp:cNvSpPr/>
      </dsp:nvSpPr>
      <dsp:spPr>
        <a:xfrm>
          <a:off x="993915" y="867214"/>
          <a:ext cx="1463478" cy="14634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1FBCF-1A9F-4859-AE7B-584EF5DF7D8A}">
      <dsp:nvSpPr>
        <dsp:cNvPr id="0" name=""/>
        <dsp:cNvSpPr/>
      </dsp:nvSpPr>
      <dsp:spPr>
        <a:xfrm>
          <a:off x="99567" y="2727959"/>
          <a:ext cx="3252175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Lung scans help </a:t>
          </a:r>
          <a:r>
            <a:rPr lang="en-US" sz="2000" u="sng" kern="1200" dirty="0"/>
            <a:t>detect fluid </a:t>
          </a:r>
          <a:r>
            <a:rPr lang="en-US" sz="2000" kern="1200" dirty="0"/>
            <a:t>buildup or </a:t>
          </a:r>
          <a:r>
            <a:rPr lang="en-US" sz="2000" u="sng" kern="1200" dirty="0"/>
            <a:t>pneumonia</a:t>
          </a:r>
          <a:r>
            <a:rPr lang="en-US" sz="2000" kern="1200" dirty="0"/>
            <a:t> quickly.</a:t>
          </a:r>
        </a:p>
      </dsp:txBody>
      <dsp:txXfrm>
        <a:off x="99567" y="2727959"/>
        <a:ext cx="3252175" cy="787500"/>
      </dsp:txXfrm>
    </dsp:sp>
    <dsp:sp modelId="{5E3805D7-23B8-4BA1-81A8-A48751B7AEC7}">
      <dsp:nvSpPr>
        <dsp:cNvPr id="0" name=""/>
        <dsp:cNvSpPr/>
      </dsp:nvSpPr>
      <dsp:spPr>
        <a:xfrm>
          <a:off x="4815221" y="867214"/>
          <a:ext cx="1463478" cy="14634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D6B8C-8FEB-44DD-8126-52C8BF61B0C4}">
      <dsp:nvSpPr>
        <dsp:cNvPr id="0" name=""/>
        <dsp:cNvSpPr/>
      </dsp:nvSpPr>
      <dsp:spPr>
        <a:xfrm>
          <a:off x="3920872" y="2727959"/>
          <a:ext cx="3252175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Cardiac imaging </a:t>
          </a:r>
          <a:r>
            <a:rPr lang="en-US" sz="2000" u="sng" kern="1200" dirty="0"/>
            <a:t>identifies issues </a:t>
          </a:r>
          <a:r>
            <a:rPr lang="en-US" sz="2000" kern="1200" dirty="0"/>
            <a:t>like heart failure </a:t>
          </a:r>
          <a:r>
            <a:rPr lang="en-US" sz="2000" u="sng" kern="1200" dirty="0"/>
            <a:t>before hospital arrival</a:t>
          </a:r>
          <a:r>
            <a:rPr lang="en-US" sz="2000" kern="1200" dirty="0"/>
            <a:t>.</a:t>
          </a:r>
        </a:p>
      </dsp:txBody>
      <dsp:txXfrm>
        <a:off x="3920872" y="2727959"/>
        <a:ext cx="3252175" cy="787500"/>
      </dsp:txXfrm>
    </dsp:sp>
    <dsp:sp modelId="{4892938A-2148-44EA-9862-A328AAF66EED}">
      <dsp:nvSpPr>
        <dsp:cNvPr id="0" name=""/>
        <dsp:cNvSpPr/>
      </dsp:nvSpPr>
      <dsp:spPr>
        <a:xfrm>
          <a:off x="8636526" y="867214"/>
          <a:ext cx="1463478" cy="14634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B026D2-8E7D-4F61-9539-1611CBA75954}">
      <dsp:nvSpPr>
        <dsp:cNvPr id="0" name=""/>
        <dsp:cNvSpPr/>
      </dsp:nvSpPr>
      <dsp:spPr>
        <a:xfrm>
          <a:off x="7742178" y="2727959"/>
          <a:ext cx="3252175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Aortic scans </a:t>
          </a:r>
          <a:r>
            <a:rPr lang="en-US" sz="2000" u="sng" kern="1200" dirty="0"/>
            <a:t>detect life-threatening </a:t>
          </a:r>
          <a:r>
            <a:rPr lang="en-US" sz="2000" kern="1200" dirty="0"/>
            <a:t>aneurysms in </a:t>
          </a:r>
          <a:r>
            <a:rPr lang="en-US" sz="2000" u="sng" kern="1200" dirty="0"/>
            <a:t>emergency settings</a:t>
          </a:r>
          <a:r>
            <a:rPr lang="en-US" sz="2000" u="none" kern="1200" dirty="0"/>
            <a:t>.</a:t>
          </a:r>
        </a:p>
      </dsp:txBody>
      <dsp:txXfrm>
        <a:off x="7742178" y="2727959"/>
        <a:ext cx="3252175" cy="787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0AE3C0-C0E9-40F8-963A-C710B0868C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B19749-4C26-46F6-A13E-4F2E91EC14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B2F5F-49ED-40E3-A1A5-941FF8279870}" type="datetimeFigureOut">
              <a:rPr lang="en-US" smtClean="0"/>
              <a:t>12/17/25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26E5B-3572-4EEA-91A0-FE0838ED61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D8116-DB0F-4C4A-85AD-5331C0D78B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DB74FA-BCF5-412C-B474-5CA730E53D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6456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C1060-699B-414A-8D16-7630F8BDD05E}" type="datetimeFigureOut">
              <a:rPr lang="en-US" smtClean="0"/>
              <a:t>12/17/25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DF348-2A86-4531-BD4E-BD8C0BBDAD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876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1A82B-ABE9-57AE-AD65-8DCF2A825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9374A0-48A2-3006-56A1-6A95598C9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5EA54-5480-40A9-48C9-1DDF5617C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F970A-219E-3675-8DDD-6BEB8F2B1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DF348-2A86-4531-BD4E-BD8C0BBDAD4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46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9E7E8-36E4-467C-8300-85BCF6933F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73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037A0-4A21-CE04-0CDE-7F02D78A0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8B5F2-47BC-1CF2-1801-AB3EE6A78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0F5BDD-F62C-BD40-6DF3-AA0B05090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3BCE9-03F4-C903-E168-E2D3A58F4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DF348-2A86-4531-BD4E-BD8C0BBDAD4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828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ED8B2-26FF-F3B1-2E11-1E104438E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E8E90-2E29-A662-34E2-58713DD8A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946014-E7C0-D83E-7AC9-904B85416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F6547-60F5-79D6-0982-AA828E571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DF348-2A86-4531-BD4E-BD8C0BBDAD4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853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64B41-9B81-4018-0418-E524B1651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2D389-5E5C-0ED4-C216-31D65EE6E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53C38-000E-C70C-3924-E632AAAFC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44728-54F7-826D-A0F4-1136DCA418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ADF348-2A86-4531-BD4E-BD8C0BBDAD4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736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A3207-BC2F-FF2D-F398-4CF341028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091EC-B9CA-3F0D-2308-8DD98A7DC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BB1899-545E-A5E2-6479-9A1E65F77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C0BC8-827C-8F3A-92CD-D53395D5C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ADF348-2A86-4531-BD4E-BD8C0BBDAD4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77658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75F8D-5288-8331-8AA9-01FB02F5E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EF32C-8800-3B14-9463-49552832DD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C63F7C-B665-6306-E580-5ED2B31033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endParaRPr lang="en-US" b="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0E0F5-0632-34E0-9D96-98E1A7580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96957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F8AAE-1088-817E-29C9-A56E535C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51F04-D2D6-AC4D-F534-CC1B78748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C819CA-7D77-D0E0-A3F3-A94D92366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5E247-7AF2-B732-CA7F-589A76149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9E7E8-36E4-467C-8300-85BCF6933FB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063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EDD9B-B6ED-BF3B-C8DA-AC016A5D0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17BE13-A761-8DD4-AC79-680C0A4C1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61125A-7555-F3E0-2462-FF30D24F0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DDD35-88C4-6110-687B-94E34AC99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ADF348-2A86-4531-BD4E-BD8C0BBDAD4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9002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77E0A-B0DF-B923-C3DF-4262F04C8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D2EBF-EA01-39D0-6746-1A6664009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0F03A-3784-EF3C-02CF-5DB8841A0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3F989-0185-0C64-99E8-BA8747E555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D51245-A7A5-4517-A4C5-F741FAE668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880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1947BE1-D586-49AE-B2E6-EE426AA23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5329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C316E-D918-422D-AC5F-D93C59AB67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493776"/>
            <a:ext cx="6389027" cy="4178808"/>
          </a:xfrm>
        </p:spPr>
        <p:txBody>
          <a:bodyPr anchor="b">
            <a:noAutofit/>
          </a:bodyPr>
          <a:lstStyle>
            <a:lvl1pPr algn="l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defRPr sz="5400" baseline="0"/>
            </a:lvl1pPr>
          </a:lstStyle>
          <a:p>
            <a:r>
              <a:rPr lang="en-US" dirty="0"/>
              <a:t>Click to edit Master TEXT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B4012DC-9879-489B-B525-C474C5DD29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0392" y="5001768"/>
            <a:ext cx="6227064" cy="1216152"/>
          </a:xfrm>
        </p:spPr>
        <p:txBody>
          <a:bodyPr anchor="ctr">
            <a:normAutofit/>
          </a:bodyPr>
          <a:lstStyle>
            <a:lvl1pPr>
              <a:defRPr lang="en-US" sz="2400" kern="1200" spc="50" baseline="0" dirty="0" smtClean="0">
                <a:solidFill>
                  <a:schemeClr val="bg1"/>
                </a:solidFill>
                <a:latin typeface="+mn-lt"/>
                <a:ea typeface="+mn-ea"/>
                <a:cs typeface="Calibri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AFC936F-8170-723C-A6D1-A8D7B87C47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34656" y="0"/>
            <a:ext cx="4654296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1024960-56D5-F5C3-5D87-3CBEB9F79D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4656" y="3429000"/>
            <a:ext cx="4654296" cy="3429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051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9D15A25-1111-478B-8F77-D992652C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264985"/>
            <a:ext cx="5297764" cy="39521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93472D-332A-4010-9FEA-8E1E9AE7E1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6213" y="336958"/>
            <a:ext cx="10616187" cy="1700784"/>
          </a:xfrm>
        </p:spPr>
        <p:txBody>
          <a:bodyPr>
            <a:normAutofit/>
          </a:bodyPr>
          <a:lstStyle>
            <a:lvl1pPr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defRPr sz="4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FF791A-8D73-49AD-8569-7F4FE14648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60120" y="2587752"/>
            <a:ext cx="3694176" cy="3258102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cs typeface="Calibri"/>
              </a:rPr>
              <a:t>Click to edit master text style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9D1BED5-2D39-40ED-92F5-CF06BE8A75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97764" y="2265363"/>
            <a:ext cx="3479524" cy="39512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2FBE291-E88A-44C5-884C-183EE7F67EE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77288" y="2265363"/>
            <a:ext cx="3414712" cy="395128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907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with three imag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E19D4B2-6593-465B-9A8E-03DFC94344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0120" y="3639312"/>
            <a:ext cx="10488168" cy="309067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z="5400" dirty="0"/>
              <a:t>Click to edit master text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537098-0CB9-40F0-99EE-35DF790670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37"/>
            <a:ext cx="6080760" cy="34283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B54A389-080E-45CE-8275-215B7C9B58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9048" y="0"/>
            <a:ext cx="3048000" cy="3429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F5006F58-5D95-4392-9D32-BE333EA549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53144" y="0"/>
            <a:ext cx="3044952" cy="3429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049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,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AC15B2-D6B3-D582-D31F-550B4D51D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763256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9CC2FD-DEAD-15BE-FCA9-4EFD14D59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6089904" cy="298094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BF9E8A0-9731-99CA-717E-085634925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6089904" cy="1545336"/>
          </a:xfr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537098-0CB9-40F0-99EE-35DF790670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3256" y="637"/>
            <a:ext cx="2194560" cy="34283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B54A389-080E-45CE-8275-215B7C9B58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66960" y="0"/>
            <a:ext cx="2221992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F5006F58-5D95-4392-9D32-BE333EA549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3256" y="3429000"/>
            <a:ext cx="4407408" cy="3429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11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570464" cy="1700784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96696" y="2770632"/>
            <a:ext cx="4983480" cy="3639312"/>
          </a:xfrm>
        </p:spPr>
        <p:txBody>
          <a:bodyPr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 sz="2000"/>
            </a:lvl1pPr>
            <a:lvl2pPr marL="548640" indent="-283464">
              <a:defRPr sz="1800"/>
            </a:lvl2pPr>
            <a:lvl3pPr marL="822960" indent="-285750">
              <a:buFont typeface="Arial" panose="020B0604020202020204" pitchFamily="34" charset="0"/>
              <a:buChar char="•"/>
              <a:defRPr sz="1400"/>
            </a:lvl3pPr>
            <a:lvl4pPr marL="1097280" indent="-283464">
              <a:defRPr sz="1400"/>
            </a:lvl4pPr>
            <a:lvl5pPr marL="1371600" indent="-2857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2770632"/>
            <a:ext cx="4983480" cy="3639312"/>
          </a:xfrm>
        </p:spPr>
        <p:txBody>
          <a:bodyPr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 sz="2000"/>
            </a:lvl1pPr>
            <a:lvl2pPr marL="548640" indent="-283464">
              <a:defRPr sz="1800"/>
            </a:lvl2pPr>
            <a:lvl3pPr marL="822960" indent="-285750">
              <a:buFont typeface="Arial" panose="020B0604020202020204" pitchFamily="34" charset="0"/>
              <a:buChar char="•"/>
              <a:defRPr sz="1400"/>
            </a:lvl3pPr>
            <a:lvl4pPr marL="1097280" indent="-283464">
              <a:defRPr sz="1400"/>
            </a:lvl4pPr>
            <a:lvl5pPr marL="1371600" indent="-2857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593407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243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984A150-581C-4608-9034-48767311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57345" y="0"/>
            <a:ext cx="753465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91E375-8FC7-F526-C116-1136385785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8384" y="384048"/>
            <a:ext cx="6099048" cy="4343400"/>
          </a:xfrm>
        </p:spPr>
        <p:txBody>
          <a:bodyPr anchor="b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z="5400" dirty="0"/>
              <a:t>Click to edit master text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537098-0CB9-40F0-99EE-35DF790670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7345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309CC8E-0532-4674-9535-1514DA3C14B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5771" y="4865914"/>
            <a:ext cx="6096000" cy="1307592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  <a:cs typeface="Calibri"/>
              </a:rPr>
              <a:t>Click to edit master text style</a:t>
            </a:r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A468A676-C4AD-4F50-936D-1C858E8136CE}"/>
              </a:ext>
            </a:extLst>
          </p:cNvPr>
          <p:cNvSpPr txBox="1">
            <a:spLocks/>
          </p:cNvSpPr>
          <p:nvPr userDrawn="1"/>
        </p:nvSpPr>
        <p:spPr>
          <a:xfrm>
            <a:off x="960438" y="6356350"/>
            <a:ext cx="498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kern="1200" cap="all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26340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570464" cy="1700784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2770632"/>
            <a:ext cx="4983480" cy="376732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347472" indent="-347472">
              <a:spcBef>
                <a:spcPts val="700"/>
              </a:spcBef>
              <a:spcAft>
                <a:spcPts val="700"/>
              </a:spcAft>
              <a:defRPr sz="2000"/>
            </a:lvl2pPr>
            <a:lvl3pPr marL="560070" indent="-285750">
              <a:buFont typeface="Arial" panose="020B0604020202020204" pitchFamily="34" charset="0"/>
              <a:buChar char="•"/>
              <a:defRPr sz="1600"/>
            </a:lvl3pPr>
            <a:lvl4pPr>
              <a:defRPr sz="1600"/>
            </a:lvl4pPr>
            <a:lvl5pPr marL="880110" indent="-2857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2770632"/>
            <a:ext cx="4983480" cy="376732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347472" indent="-347472">
              <a:spcBef>
                <a:spcPts val="700"/>
              </a:spcBef>
              <a:spcAft>
                <a:spcPts val="700"/>
              </a:spcAft>
              <a:defRPr sz="2000"/>
            </a:lvl2pPr>
            <a:lvl3pPr marL="560070" indent="-285750">
              <a:buFont typeface="Arial" panose="020B0604020202020204" pitchFamily="34" charset="0"/>
              <a:buChar char="•"/>
              <a:defRPr sz="1600"/>
            </a:lvl3pPr>
            <a:lvl4pPr>
              <a:defRPr sz="1600"/>
            </a:lvl4pPr>
            <a:lvl5pPr marL="880110" indent="-2857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593407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314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7BA8F8-2F7B-FDA9-6615-3FE2C52C1B99}"/>
              </a:ext>
            </a:extLst>
          </p:cNvPr>
          <p:cNvSpPr/>
          <p:nvPr userDrawn="1"/>
        </p:nvSpPr>
        <p:spPr>
          <a:xfrm>
            <a:off x="0" y="2258568"/>
            <a:ext cx="12192000" cy="45994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570464" cy="1700784"/>
          </a:xfrm>
        </p:spPr>
        <p:txBody>
          <a:bodyPr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2770632"/>
            <a:ext cx="3739896" cy="36576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347472" indent="-347472">
              <a:spcBef>
                <a:spcPts val="700"/>
              </a:spcBef>
              <a:spcAft>
                <a:spcPts val="700"/>
              </a:spcAft>
              <a:buFont typeface="+mj-lt"/>
              <a:buAutoNum type="arabicPeriod"/>
              <a:defRPr sz="2000">
                <a:solidFill>
                  <a:schemeClr val="bg1"/>
                </a:solidFill>
              </a:defRPr>
            </a:lvl2pPr>
            <a:lvl3pPr marL="56007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 marL="88011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394960" y="2770632"/>
            <a:ext cx="6007608" cy="36576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347472" indent="-347472">
              <a:spcBef>
                <a:spcPts val="700"/>
              </a:spcBef>
              <a:spcAft>
                <a:spcPts val="700"/>
              </a:spcAft>
              <a:defRPr sz="2000">
                <a:solidFill>
                  <a:schemeClr val="bg1"/>
                </a:solidFill>
              </a:defRPr>
            </a:lvl2pPr>
            <a:lvl3pPr marL="56007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 marL="88011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59340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306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9CC2FD-DEAD-15BE-FCA9-4EFD14D59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47472"/>
            <a:ext cx="7315200" cy="3081528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8A315E-3D77-4A9C-F6F5-4B525C5B2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666744"/>
            <a:ext cx="8650224" cy="31912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7E5C666-A348-D887-B11B-D23CF67FB8B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58952" y="3959352"/>
            <a:ext cx="7315200" cy="239572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cs typeface="Calibri"/>
              </a:rPr>
              <a:t>Click to edit master text style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537098-0CB9-40F0-99EE-35DF790670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50224" y="0"/>
            <a:ext cx="3547872" cy="2651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F5006F58-5D95-4392-9D32-BE333EA549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50224" y="2651760"/>
            <a:ext cx="3547872" cy="420624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818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770632"/>
            <a:ext cx="2724912" cy="3392424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923B6E-5860-3554-77F7-17C8DF8381D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4216" y="2770632"/>
            <a:ext cx="7315200" cy="33924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3CC8D5-8386-BA2F-F44B-2FE211C3FDC3}"/>
              </a:ext>
            </a:extLst>
          </p:cNvPr>
          <p:cNvSpPr/>
          <p:nvPr userDrawn="1"/>
        </p:nvSpPr>
        <p:spPr>
          <a:xfrm>
            <a:off x="4015451" y="2691925"/>
            <a:ext cx="7315200" cy="8102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99105B81-BB6A-A6CE-1BA4-4C00B1378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593407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9">
            <a:extLst>
              <a:ext uri="{FF2B5EF4-FFF2-40B4-BE49-F238E27FC236}">
                <a16:creationId xmlns:a16="http://schemas.microsoft.com/office/drawing/2014/main" id="{941F5AC3-7362-1179-648D-6062C75CFF0C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9E944BE1-F27E-140F-1071-B7DA15A393E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96144" y="6356350"/>
            <a:ext cx="932688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80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570464" cy="1700784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2770632"/>
            <a:ext cx="4983480" cy="376732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/>
            </a:lvl1pPr>
            <a:lvl2pPr marL="0" indent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  <a:defRPr sz="2000"/>
            </a:lvl2pPr>
            <a:lvl3pPr marL="283464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3pPr>
            <a:lvl4pPr>
              <a:defRPr sz="1400"/>
            </a:lvl4pPr>
            <a:lvl5pPr marL="880110" indent="-2857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2770632"/>
            <a:ext cx="4983480" cy="376732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/>
            </a:lvl1pPr>
            <a:lvl2pPr marL="347472" indent="-347472">
              <a:spcBef>
                <a:spcPts val="700"/>
              </a:spcBef>
              <a:spcAft>
                <a:spcPts val="700"/>
              </a:spcAft>
              <a:defRPr sz="2000"/>
            </a:lvl2pPr>
            <a:lvl3pPr marL="560070" indent="-285750">
              <a:buFont typeface="Arial" panose="020B0604020202020204" pitchFamily="34" charset="0"/>
              <a:buChar char="•"/>
              <a:defRPr sz="1600"/>
            </a:lvl3pPr>
            <a:lvl4pPr>
              <a:defRPr sz="1600"/>
            </a:lvl4pPr>
            <a:lvl5pPr marL="880110" indent="-2857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593407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12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CF64393-2F7A-8740-66F1-95C9EC151E02}"/>
              </a:ext>
            </a:extLst>
          </p:cNvPr>
          <p:cNvSpPr/>
          <p:nvPr userDrawn="1"/>
        </p:nvSpPr>
        <p:spPr>
          <a:xfrm>
            <a:off x="841248" y="2221992"/>
            <a:ext cx="10515600" cy="38313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570464" cy="1700784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1248" y="2221992"/>
            <a:ext cx="10515600" cy="3831336"/>
          </a:xfrm>
          <a:noFill/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347472" indent="-347472">
              <a:spcBef>
                <a:spcPts val="700"/>
              </a:spcBef>
              <a:spcAft>
                <a:spcPts val="700"/>
              </a:spcAft>
              <a:defRPr sz="1800">
                <a:solidFill>
                  <a:schemeClr val="tx1"/>
                </a:solidFill>
              </a:defRPr>
            </a:lvl2pPr>
            <a:lvl3pPr marL="56007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 marL="88011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59340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9CF62C-2747-714E-F829-A0176E230364}"/>
              </a:ext>
            </a:extLst>
          </p:cNvPr>
          <p:cNvSpPr/>
          <p:nvPr userDrawn="1"/>
        </p:nvSpPr>
        <p:spPr>
          <a:xfrm>
            <a:off x="838198" y="2129741"/>
            <a:ext cx="10515600" cy="9259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195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9D15A25-1111-478B-8F77-D992652C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25296"/>
            <a:ext cx="12188952" cy="395935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9D1BED5-2D39-40ED-92F5-CF06BE8A75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225296"/>
            <a:ext cx="3337560" cy="39512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93472D-332A-4010-9FEA-8E1E9AE7E1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3632" y="1444752"/>
            <a:ext cx="7781544" cy="3392424"/>
          </a:xfrm>
        </p:spPr>
        <p:txBody>
          <a:bodyPr anchor="b">
            <a:normAutofit/>
          </a:bodyPr>
          <a:lstStyle>
            <a:lvl1pPr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defRPr sz="5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TEXT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BD2514F-3F04-795C-290B-E557B57E4C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13632" y="5358384"/>
            <a:ext cx="7781544" cy="374904"/>
          </a:xfrm>
        </p:spPr>
        <p:txBody>
          <a:bodyPr anchor="ctr">
            <a:normAutofit/>
          </a:bodyPr>
          <a:lstStyle>
            <a:lvl1pPr>
              <a:defRPr lang="en-US" sz="2400" kern="1200" spc="50" baseline="0" dirty="0" smtClean="0">
                <a:solidFill>
                  <a:schemeClr val="tx1"/>
                </a:solidFill>
                <a:latin typeface="+mn-lt"/>
                <a:ea typeface="+mn-ea"/>
                <a:cs typeface="Calibri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8588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1C2B8-9C1A-B319-F35C-EC58B5DFF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6FBFF-25AD-291A-79DB-3E80C08EB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CA6E6-9D04-714F-32C1-71F8F5962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9026-5E54-4E45-AF7A-9288D1FCD42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C35B7-5F5E-E1B1-163C-E29AF24B1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363B4-0983-2A43-7C52-AF021DC5F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CE6C-D650-42F8-907A-CE4658A6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1850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head &amp;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3600" spc="-75" dirty="0">
                <a:latin typeface="+mj-lt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914721" y="1353312"/>
            <a:ext cx="10362880" cy="475488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200"/>
            </a:lvl1pPr>
          </a:lstStyle>
          <a:p>
            <a:pPr marL="228600" lvl="0" indent="-228600">
              <a:lnSpc>
                <a:spcPct val="130000"/>
              </a:lnSpc>
            </a:pPr>
            <a:r>
              <a:rPr lang="en-US"/>
              <a:t>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914971" y="46634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r>
              <a:rPr lang="en-US" dirty="0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3578436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9026-5E54-4E45-AF7A-9288D1FCD42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CE6C-D650-42F8-907A-CE4658A6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0651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9026-5E54-4E45-AF7A-9288D1FCD42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CE6C-D650-42F8-907A-CE4658A6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636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9026-5E54-4E45-AF7A-9288D1FCD42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CE6C-D650-42F8-907A-CE4658A6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244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9026-5E54-4E45-AF7A-9288D1FCD42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CE6C-D650-42F8-907A-CE4658A6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825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9026-5E54-4E45-AF7A-9288D1FCD42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CE6C-D650-42F8-907A-CE4658A6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059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9026-5E54-4E45-AF7A-9288D1FCD42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CE6C-D650-42F8-907A-CE4658A6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4510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9026-5E54-4E45-AF7A-9288D1FCD42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CE6C-D650-42F8-907A-CE4658A6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797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9026-5E54-4E45-AF7A-9288D1FCD42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CE6C-D650-42F8-907A-CE4658A6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105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9026-5E54-4E45-AF7A-9288D1FCD42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CE6C-D650-42F8-907A-CE4658A6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662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9026-5E54-4E45-AF7A-9288D1FCD42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CE6C-D650-42F8-907A-CE4658A6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412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9026-5E54-4E45-AF7A-9288D1FCD42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CE6C-D650-42F8-907A-CE4658A6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0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head &amp;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3600" spc="-75" dirty="0">
                <a:latin typeface="+mj-lt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914721" y="1353312"/>
            <a:ext cx="10362880" cy="475488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200"/>
            </a:lvl1pPr>
          </a:lstStyle>
          <a:p>
            <a:pPr marL="228600" lvl="0" indent="-228600">
              <a:lnSpc>
                <a:spcPct val="130000"/>
              </a:lnSpc>
            </a:pPr>
            <a:r>
              <a:rPr lang="en-US"/>
              <a:t>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914971" y="46634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r>
              <a:rPr lang="en-US" dirty="0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519486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17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90" r:id="rId3"/>
    <p:sldLayoutId id="2147483691" r:id="rId4"/>
    <p:sldLayoutId id="2147483692" r:id="rId5"/>
    <p:sldLayoutId id="2147483686" r:id="rId6"/>
    <p:sldLayoutId id="2147483693" r:id="rId7"/>
    <p:sldLayoutId id="2147483694" r:id="rId8"/>
    <p:sldLayoutId id="2147483695" r:id="rId9"/>
    <p:sldLayoutId id="2147483672" r:id="rId10"/>
    <p:sldLayoutId id="2147483696" r:id="rId11"/>
    <p:sldLayoutId id="2147483697" r:id="rId12"/>
    <p:sldLayoutId id="2147483698" r:id="rId13"/>
    <p:sldLayoutId id="2147483699" r:id="rId14"/>
    <p:sldLayoutId id="2147483724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814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22.xml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tags" Target="../tags/tag2.xml"/><Relationship Id="rId16" Type="http://schemas.openxmlformats.org/officeDocument/2006/relationships/image" Target="../media/image14.svg"/><Relationship Id="rId1" Type="http://schemas.openxmlformats.org/officeDocument/2006/relationships/tags" Target="../tags/tag1.xml"/><Relationship Id="rId6" Type="http://schemas.openxmlformats.org/officeDocument/2006/relationships/image" Target="../media/image4.emf"/><Relationship Id="rId11" Type="http://schemas.openxmlformats.org/officeDocument/2006/relationships/image" Target="../media/image9.png"/><Relationship Id="rId5" Type="http://schemas.openxmlformats.org/officeDocument/2006/relationships/oleObject" Target="../embeddings/oleObject1.bin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3" Type="http://schemas.openxmlformats.org/officeDocument/2006/relationships/slideLayout" Target="../slideLayouts/slideLayout27.xml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tags" Target="../tags/tag4.xml"/><Relationship Id="rId16" Type="http://schemas.openxmlformats.org/officeDocument/2006/relationships/image" Target="../media/image38.svg"/><Relationship Id="rId1" Type="http://schemas.openxmlformats.org/officeDocument/2006/relationships/tags" Target="../tags/tag3.xml"/><Relationship Id="rId6" Type="http://schemas.openxmlformats.org/officeDocument/2006/relationships/image" Target="../media/image4.emf"/><Relationship Id="rId11" Type="http://schemas.openxmlformats.org/officeDocument/2006/relationships/image" Target="../media/image33.png"/><Relationship Id="rId5" Type="http://schemas.openxmlformats.org/officeDocument/2006/relationships/oleObject" Target="../embeddings/oleObject1.bin"/><Relationship Id="rId15" Type="http://schemas.openxmlformats.org/officeDocument/2006/relationships/image" Target="../media/image37.png"/><Relationship Id="rId10" Type="http://schemas.openxmlformats.org/officeDocument/2006/relationships/image" Target="../media/image32.sv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31.png"/><Relationship Id="rId14" Type="http://schemas.openxmlformats.org/officeDocument/2006/relationships/image" Target="../media/image3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22D10-BFA0-35CD-258E-A12E8A11C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2197F90-FA6F-9BCB-9DD8-D89261E12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47472"/>
            <a:ext cx="7315200" cy="3081528"/>
          </a:xfrm>
        </p:spPr>
        <p:txBody>
          <a:bodyPr anchor="b">
            <a:normAutofit/>
          </a:bodyPr>
          <a:lstStyle/>
          <a:p>
            <a:r>
              <a:rPr lang="en-US" dirty="0"/>
              <a:t>How Data science REVOLUTIONIZES the Future of healthcare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E071AE7-24DE-53AD-BABE-4CAFA6B9F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748" y="3938087"/>
            <a:ext cx="7315200" cy="2395728"/>
          </a:xfrm>
        </p:spPr>
        <p:txBody>
          <a:bodyPr>
            <a:normAutofit/>
          </a:bodyPr>
          <a:lstStyle/>
          <a:p>
            <a:r>
              <a:rPr lang="en-US" sz="2800" dirty="0"/>
              <a:t>Chloe Barker</a:t>
            </a:r>
          </a:p>
          <a:p>
            <a:r>
              <a:rPr lang="en-US" dirty="0"/>
              <a:t>Storytelling with Data | Southern Methodist University</a:t>
            </a:r>
          </a:p>
          <a:p>
            <a:endParaRPr lang="en-US" dirty="0"/>
          </a:p>
        </p:txBody>
      </p:sp>
      <p:pic>
        <p:nvPicPr>
          <p:cNvPr id="7" name="Picture Placeholder 6" descr="A person in a white coat drawing a brain&#10;&#10;AI-generated content may be incorrect.">
            <a:extLst>
              <a:ext uri="{FF2B5EF4-FFF2-40B4-BE49-F238E27FC236}">
                <a16:creationId xmlns:a16="http://schemas.microsoft.com/office/drawing/2014/main" id="{922BF38E-B730-3C5C-FA88-8BC51DE232E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r="1" b="20864"/>
          <a:stretch>
            <a:fillRect/>
          </a:stretch>
        </p:blipFill>
        <p:spPr>
          <a:xfrm>
            <a:off x="8650224" y="2651760"/>
            <a:ext cx="3547872" cy="4206240"/>
          </a:xfrm>
          <a:noFill/>
        </p:spPr>
      </p:pic>
      <p:pic>
        <p:nvPicPr>
          <p:cNvPr id="2" name="Picture 1" descr="A blue and black logo&#10;&#10;AI-generated content may be incorrect.">
            <a:extLst>
              <a:ext uri="{FF2B5EF4-FFF2-40B4-BE49-F238E27FC236}">
                <a16:creationId xmlns:a16="http://schemas.microsoft.com/office/drawing/2014/main" id="{222C92E2-FFED-7648-4F83-11026E3E8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454" y="119092"/>
            <a:ext cx="2034137" cy="179785"/>
          </a:xfrm>
          <a:prstGeom prst="rect">
            <a:avLst/>
          </a:prstGeom>
        </p:spPr>
      </p:pic>
      <p:pic>
        <p:nvPicPr>
          <p:cNvPr id="18" name="Picture Placeholder 17" descr="A hand holding a device&#10;&#10;AI-generated content may be incorrect.">
            <a:extLst>
              <a:ext uri="{FF2B5EF4-FFF2-40B4-BE49-F238E27FC236}">
                <a16:creationId xmlns:a16="http://schemas.microsoft.com/office/drawing/2014/main" id="{8A0E0422-4A30-968C-3FC2-C927007FA1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/>
          <a:srcRect l="4530" r="4530"/>
          <a:stretch>
            <a:fillRect/>
          </a:stretch>
        </p:blipFill>
        <p:spPr>
          <a:xfrm>
            <a:off x="8650288" y="0"/>
            <a:ext cx="3541712" cy="2686050"/>
          </a:xfrm>
        </p:spPr>
      </p:pic>
    </p:spTree>
    <p:extLst>
      <p:ext uri="{BB962C8B-B14F-4D97-AF65-F5344CB8AC3E}">
        <p14:creationId xmlns:p14="http://schemas.microsoft.com/office/powerpoint/2010/main" val="649269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7842094-7EAA-426F-B434-B015D8C8D51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5" imgH="416" progId="TCLayout.ActiveDocument.1">
                  <p:embed/>
                </p:oleObj>
              </mc:Choice>
              <mc:Fallback>
                <p:oleObj name="think-cell Slide" r:id="rId5" imgW="415" imgH="41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7842094-7EAA-426F-B434-B015D8C8D5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0311A8DC-2C48-4F40-AAB9-F7A1E45C51F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n-US" sz="3600" dirty="0">
              <a:latin typeface="Chronicle Display Black" pitchFamily="50" charset="0"/>
              <a:sym typeface="Chronicle Display Black" pitchFamily="5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6AE169-6FD5-4EF0-BA1B-E55F3F44A79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4536" y="449998"/>
            <a:ext cx="10838985" cy="598217"/>
          </a:xfrm>
        </p:spPr>
        <p:txBody>
          <a:bodyPr>
            <a:noAutofit/>
          </a:bodyPr>
          <a:lstStyle/>
          <a:p>
            <a:r>
              <a:rPr kumimoji="0" lang="en-US" sz="5400" b="0" i="0" u="none" strike="noStrike" kern="1200" cap="all" spc="120" normalizeH="0" baseline="0" noProof="0" dirty="0">
                <a:ln>
                  <a:noFill/>
                </a:ln>
                <a:effectLst/>
                <a:uLnTx/>
                <a:uFillTx/>
                <a:latin typeface="Franklin Gothic Demi Cond"/>
                <a:ea typeface="+mj-ea"/>
                <a:cs typeface="+mj-cs"/>
              </a:rPr>
              <a:t>Common healthcare challenges</a:t>
            </a:r>
            <a:endParaRPr lang="en-US" sz="5400" dirty="0">
              <a:latin typeface="Franklin Gothic Medium" panose="020B06030201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35A2645-ED6E-47CA-820B-B29C09064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041654"/>
              </p:ext>
            </p:extLst>
          </p:nvPr>
        </p:nvGraphicFramePr>
        <p:xfrm>
          <a:off x="401127" y="2533082"/>
          <a:ext cx="11404990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0998">
                  <a:extLst>
                    <a:ext uri="{9D8B030D-6E8A-4147-A177-3AD203B41FA5}">
                      <a16:colId xmlns:a16="http://schemas.microsoft.com/office/drawing/2014/main" val="800214455"/>
                    </a:ext>
                  </a:extLst>
                </a:gridCol>
                <a:gridCol w="2279886">
                  <a:extLst>
                    <a:ext uri="{9D8B030D-6E8A-4147-A177-3AD203B41FA5}">
                      <a16:colId xmlns:a16="http://schemas.microsoft.com/office/drawing/2014/main" val="3015815130"/>
                    </a:ext>
                  </a:extLst>
                </a:gridCol>
                <a:gridCol w="2282110">
                  <a:extLst>
                    <a:ext uri="{9D8B030D-6E8A-4147-A177-3AD203B41FA5}">
                      <a16:colId xmlns:a16="http://schemas.microsoft.com/office/drawing/2014/main" val="2935081982"/>
                    </a:ext>
                  </a:extLst>
                </a:gridCol>
                <a:gridCol w="2280998">
                  <a:extLst>
                    <a:ext uri="{9D8B030D-6E8A-4147-A177-3AD203B41FA5}">
                      <a16:colId xmlns:a16="http://schemas.microsoft.com/office/drawing/2014/main" val="3842248130"/>
                    </a:ext>
                  </a:extLst>
                </a:gridCol>
                <a:gridCol w="2280998">
                  <a:extLst>
                    <a:ext uri="{9D8B030D-6E8A-4147-A177-3AD203B41FA5}">
                      <a16:colId xmlns:a16="http://schemas.microsoft.com/office/drawing/2014/main" val="3106033350"/>
                    </a:ext>
                  </a:extLst>
                </a:gridCol>
              </a:tblGrid>
              <a:tr h="1076119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Medium" panose="020B0603020102020204" pitchFamily="34" charset="0"/>
                          <a:ea typeface="Libre Baskerville" charset="0"/>
                          <a:cs typeface="Libre Baskerville" charset="0"/>
                        </a:rPr>
                        <a:t>COMPLICATED DIGITAL INTEGRATION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Medium" panose="020B0603020102020204" pitchFamily="34" charset="0"/>
                          <a:ea typeface="Libre Baskerville" charset="0"/>
                          <a:cs typeface="Libre Baskerville" charset="0"/>
                        </a:rPr>
                        <a:t>LARGE AND COMPLEX MACHINERY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Medium" panose="020B0603020102020204" pitchFamily="34" charset="0"/>
                          <a:ea typeface="Libre Baskerville" charset="0"/>
                          <a:cs typeface="Libre Baskerville" charset="0"/>
                        </a:rPr>
                        <a:t>HIGH COST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Medium" panose="020B0603020102020204" pitchFamily="34" charset="0"/>
                          <a:ea typeface="Libre Baskerville" charset="0"/>
                          <a:cs typeface="Libre Baskerville" charset="0"/>
                        </a:rPr>
                        <a:t>LIMITED ACCESS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Medium" panose="020B0603020102020204" pitchFamily="34" charset="0"/>
                          <a:ea typeface="Libre Baskerville" charset="0"/>
                          <a:cs typeface="Libre Baskerville" charset="0"/>
                        </a:rPr>
                        <a:t>INNEFFICIENT EMERGENCY RESPONSE AND </a:t>
                      </a:r>
                      <a:r>
                        <a:rPr lang="en-US" sz="2000" b="1" i="0" baseline="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Medium" panose="020B0603020102020204" pitchFamily="34" charset="0"/>
                          <a:ea typeface="Libre Baskerville" charset="0"/>
                          <a:cs typeface="Libre Baskerville" charset="0"/>
                        </a:rPr>
                        <a:t>PATIENT MOBILITY</a:t>
                      </a:r>
                      <a:endParaRPr lang="en-US" sz="2000" b="1" i="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Medium" panose="020B0603020102020204" pitchFamily="34" charset="0"/>
                        <a:ea typeface="Libre Baskerville" charset="0"/>
                        <a:cs typeface="Libre Baskerville" charset="0"/>
                      </a:endParaRPr>
                    </a:p>
                    <a:p>
                      <a:pPr algn="ctr"/>
                      <a:endParaRPr lang="en-US" sz="2000" b="1" i="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Medium" panose="020B0603020102020204" pitchFamily="34" charset="0"/>
                        <a:ea typeface="Libre Baskerville" charset="0"/>
                        <a:cs typeface="Libre Baskerville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940454"/>
                  </a:ext>
                </a:extLst>
              </a:tr>
              <a:tr h="219670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>
                          <a:solidFill>
                            <a:schemeClr val="tx2"/>
                          </a:solidFill>
                          <a:latin typeface="Franklin Gothic Medium" panose="020B0603020102020204" pitchFamily="34" charset="0"/>
                          <a:ea typeface="Ubuntu" charset="0"/>
                          <a:cs typeface="Ubuntu" charset="0"/>
                        </a:rPr>
                        <a:t>Many hospitals still use outdated systems that can’t easily share imaging data, limiting remote consultations, second opinions, and team workflows.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dirty="0">
                          <a:solidFill>
                            <a:schemeClr val="tx2"/>
                          </a:solidFill>
                          <a:latin typeface="Franklin Gothic Medium" panose="020B0603020102020204" pitchFamily="34" charset="0"/>
                          <a:ea typeface="Ubuntu" charset="0"/>
                          <a:cs typeface="Ubuntu" charset="0"/>
                        </a:rPr>
                        <a:t>Traditional ultrasound machines are large, room-bound, and require multiple probes - impractical for emergency or mobile use.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dirty="0">
                          <a:solidFill>
                            <a:schemeClr val="tx2"/>
                          </a:solidFill>
                          <a:latin typeface="Franklin Gothic Medium" panose="020B0603020102020204" pitchFamily="34" charset="0"/>
                          <a:ea typeface="Ubuntu" charset="0"/>
                          <a:cs typeface="Ubuntu" charset="0"/>
                        </a:rPr>
                        <a:t>Imaging devices can cost tens of thousands of dollars, making them inaccessible for small clinics, EMS, and global health settings.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dirty="0">
                          <a:solidFill>
                            <a:schemeClr val="tx2"/>
                          </a:solidFill>
                          <a:latin typeface="Franklin Gothic Medium" panose="020B0603020102020204" pitchFamily="34" charset="0"/>
                          <a:ea typeface="Ubuntu" charset="0"/>
                          <a:cs typeface="Ubuntu" charset="0"/>
                        </a:rPr>
                        <a:t>Rural and </a:t>
                      </a:r>
                      <a:r>
                        <a:rPr lang="en-US" sz="1800" b="0" i="0" kern="1200" dirty="0" err="1">
                          <a:solidFill>
                            <a:schemeClr val="tx2"/>
                          </a:solidFill>
                          <a:latin typeface="Franklin Gothic Medium" panose="020B0603020102020204" pitchFamily="34" charset="0"/>
                          <a:ea typeface="Ubuntu" charset="0"/>
                          <a:cs typeface="Ubuntu" charset="0"/>
                        </a:rPr>
                        <a:t>underresourced</a:t>
                      </a:r>
                      <a:r>
                        <a:rPr lang="en-US" sz="1800" b="0" i="0" kern="1200" dirty="0">
                          <a:solidFill>
                            <a:schemeClr val="tx2"/>
                          </a:solidFill>
                          <a:latin typeface="Franklin Gothic Medium" panose="020B0603020102020204" pitchFamily="34" charset="0"/>
                          <a:ea typeface="Ubuntu" charset="0"/>
                          <a:cs typeface="Ubuntu" charset="0"/>
                        </a:rPr>
                        <a:t> areas lack access to imaging tools, causing delays in diagnosis and poorer health outcomes.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dirty="0">
                          <a:solidFill>
                            <a:schemeClr val="tx2"/>
                          </a:solidFill>
                          <a:latin typeface="Franklin Gothic Medium" panose="020B0603020102020204" pitchFamily="34" charset="0"/>
                          <a:ea typeface="Ubuntu" charset="0"/>
                          <a:cs typeface="Ubuntu" charset="0"/>
                        </a:rPr>
                        <a:t>Transporting critically ill or trauma patients for imaging is dangerous and time-consuming. Clinicians need tools that come to the patient.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172318"/>
                  </a:ext>
                </a:extLst>
              </a:tr>
            </a:tbl>
          </a:graphicData>
        </a:graphic>
      </p:graphicFrame>
      <p:pic>
        <p:nvPicPr>
          <p:cNvPr id="5" name="Picture 13" descr="Cloud Computing with solid fill">
            <a:extLst>
              <a:ext uri="{FF2B5EF4-FFF2-40B4-BE49-F238E27FC236}">
                <a16:creationId xmlns:a16="http://schemas.microsoft.com/office/drawing/2014/main" id="{71D64C42-4A4F-2B16-81D5-D1D603C788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075297" y="1428389"/>
            <a:ext cx="914400" cy="914400"/>
          </a:xfrm>
          <a:prstGeom prst="rect">
            <a:avLst/>
          </a:prstGeom>
        </p:spPr>
      </p:pic>
      <p:pic>
        <p:nvPicPr>
          <p:cNvPr id="6" name="Picture 14" descr="Periodic Graph with solid fill">
            <a:extLst>
              <a:ext uri="{FF2B5EF4-FFF2-40B4-BE49-F238E27FC236}">
                <a16:creationId xmlns:a16="http://schemas.microsoft.com/office/drawing/2014/main" id="{9FCEFFF3-D666-6426-3612-D799B968AFF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3405167" y="1428389"/>
            <a:ext cx="914400" cy="914400"/>
          </a:xfrm>
          <a:prstGeom prst="rect">
            <a:avLst/>
          </a:prstGeom>
        </p:spPr>
      </p:pic>
      <p:pic>
        <p:nvPicPr>
          <p:cNvPr id="25" name="Picture 15" descr="Money with solid fill">
            <a:extLst>
              <a:ext uri="{FF2B5EF4-FFF2-40B4-BE49-F238E27FC236}">
                <a16:creationId xmlns:a16="http://schemas.microsoft.com/office/drawing/2014/main" id="{A8E20885-5137-F7E5-DE7C-9DE68C5C92A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5501166" y="1428389"/>
            <a:ext cx="914400" cy="914400"/>
          </a:xfrm>
          <a:prstGeom prst="rect">
            <a:avLst/>
          </a:prstGeom>
        </p:spPr>
      </p:pic>
      <p:pic>
        <p:nvPicPr>
          <p:cNvPr id="26" name="Picture 16" descr="Satellite dish with solid fill">
            <a:extLst>
              <a:ext uri="{FF2B5EF4-FFF2-40B4-BE49-F238E27FC236}">
                <a16:creationId xmlns:a16="http://schemas.microsoft.com/office/drawing/2014/main" id="{AA3F6CEC-5AA8-ED21-3BAC-7FF2E703BB6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637702" y="1428389"/>
            <a:ext cx="914400" cy="914400"/>
          </a:xfrm>
          <a:prstGeom prst="rect">
            <a:avLst/>
          </a:prstGeom>
        </p:spPr>
      </p:pic>
      <p:pic>
        <p:nvPicPr>
          <p:cNvPr id="27" name="Picture 17" descr="Ambulance with solid fill">
            <a:extLst>
              <a:ext uri="{FF2B5EF4-FFF2-40B4-BE49-F238E27FC236}">
                <a16:creationId xmlns:a16="http://schemas.microsoft.com/office/drawing/2014/main" id="{1F0B752B-356C-3F67-6B3C-AACDCAA26E5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10002529" y="14283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57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A02E2-27B5-668B-8FB1-61257CEC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1BBA6-A6B5-7EA8-6045-70E8262E1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34" y="1207320"/>
            <a:ext cx="7468019" cy="914400"/>
          </a:xfrm>
          <a:noFill/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anchor="b">
            <a:normAutofit fontScale="90000"/>
          </a:bodyPr>
          <a:lstStyle/>
          <a:p>
            <a:r>
              <a:rPr lang="en-US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Meet Butterfly</a:t>
            </a:r>
            <a:br>
              <a:rPr lang="en-US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</a:br>
            <a:r>
              <a:rPr lang="en-US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IQ/iQ+/IQ</a:t>
            </a:r>
            <a:r>
              <a:rPr lang="en-US" baseline="300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728C2A-C005-F03F-F02B-F8ED976BBB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3823" y="3027947"/>
            <a:ext cx="6227064" cy="3373120"/>
          </a:xfrm>
        </p:spPr>
        <p:txBody>
          <a:bodyPr anchor="ctr">
            <a:noAutofit/>
          </a:bodyPr>
          <a:lstStyle/>
          <a:p>
            <a:pPr marL="457200" indent="-457200">
              <a:lnSpc>
                <a:spcPct val="91000"/>
              </a:lnSpc>
              <a:buClr>
                <a:schemeClr val="accent3">
                  <a:lumMod val="60000"/>
                  <a:lumOff val="40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/>
              <a:t>Butterfly iQ is a </a:t>
            </a:r>
            <a:r>
              <a:rPr lang="en-US" sz="2000" u="sng" dirty="0"/>
              <a:t>portable, point-of-care ultrasound (POCUS) device</a:t>
            </a:r>
            <a:r>
              <a:rPr lang="en-US" sz="2000" dirty="0"/>
              <a:t> that connects to smartphones or tablets.</a:t>
            </a:r>
          </a:p>
          <a:p>
            <a:pPr marL="457200" indent="-457200">
              <a:lnSpc>
                <a:spcPct val="91000"/>
              </a:lnSpc>
              <a:buClr>
                <a:schemeClr val="accent3">
                  <a:lumMod val="60000"/>
                  <a:lumOff val="40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/>
              <a:t>Replaces multiple traditional transducers with a </a:t>
            </a:r>
            <a:r>
              <a:rPr lang="en-US" sz="2000" u="sng" dirty="0"/>
              <a:t>single silicon chip-based probe.</a:t>
            </a:r>
          </a:p>
          <a:p>
            <a:pPr marL="457200" indent="-457200">
              <a:lnSpc>
                <a:spcPct val="91000"/>
              </a:lnSpc>
              <a:buClr>
                <a:schemeClr val="accent3">
                  <a:lumMod val="60000"/>
                  <a:lumOff val="40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/>
              <a:t>FDA-cleared for </a:t>
            </a:r>
            <a:r>
              <a:rPr lang="en-US" sz="2000" u="sng" dirty="0"/>
              <a:t>whole-body imaging</a:t>
            </a:r>
            <a:r>
              <a:rPr lang="en-US" sz="2000" dirty="0"/>
              <a:t> in a wide range of medical settings ( i.e. emergency rooms, rural clinics, etc.).</a:t>
            </a:r>
          </a:p>
          <a:p>
            <a:pPr marL="457200" indent="-457200">
              <a:lnSpc>
                <a:spcPct val="91000"/>
              </a:lnSpc>
              <a:buClr>
                <a:schemeClr val="accent3">
                  <a:lumMod val="60000"/>
                  <a:lumOff val="40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/>
              <a:t>Enables AI-powered imaging and real-time diagnostics at the bedside or in the field.</a:t>
            </a:r>
          </a:p>
          <a:p>
            <a:pPr marL="457200" indent="-457200">
              <a:lnSpc>
                <a:spcPct val="91000"/>
              </a:lnSpc>
              <a:buClr>
                <a:schemeClr val="accent3">
                  <a:lumMod val="60000"/>
                  <a:lumOff val="40000"/>
                </a:schemeClr>
              </a:buClr>
              <a:buSzPct val="120000"/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3" name="Picture Placeholder 12" descr="A device with a screen on it&#10;&#10;AI-generated content may be incorrect.">
            <a:extLst>
              <a:ext uri="{FF2B5EF4-FFF2-40B4-BE49-F238E27FC236}">
                <a16:creationId xmlns:a16="http://schemas.microsoft.com/office/drawing/2014/main" id="{11689ACE-ABC3-E93F-B2B7-36B6FEB8DC1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t="7004" b="7004"/>
          <a:stretch>
            <a:fillRect/>
          </a:stretch>
        </p:blipFill>
        <p:spPr>
          <a:xfrm>
            <a:off x="7107381" y="0"/>
            <a:ext cx="5081571" cy="3906982"/>
          </a:xfrm>
        </p:spPr>
      </p:pic>
      <p:pic>
        <p:nvPicPr>
          <p:cNvPr id="29" name="Picture Placeholder 28" descr="A close-up of a device&#10;&#10;AI-generated content may be incorrect.">
            <a:extLst>
              <a:ext uri="{FF2B5EF4-FFF2-40B4-BE49-F238E27FC236}">
                <a16:creationId xmlns:a16="http://schemas.microsoft.com/office/drawing/2014/main" id="{1CC5D7CD-0D26-2ED7-0FFD-183CE27961A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 l="61" r="61"/>
          <a:stretch>
            <a:fillRect/>
          </a:stretch>
        </p:blipFill>
        <p:spPr>
          <a:xfrm>
            <a:off x="7007225" y="3886200"/>
            <a:ext cx="5184775" cy="2971800"/>
          </a:xfrm>
        </p:spPr>
      </p:pic>
    </p:spTree>
    <p:extLst>
      <p:ext uri="{BB962C8B-B14F-4D97-AF65-F5344CB8AC3E}">
        <p14:creationId xmlns:p14="http://schemas.microsoft.com/office/powerpoint/2010/main" val="420137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EB49B-179D-FF8A-2A97-243709BA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1D790-2439-94EC-C899-5BB056EAF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764505" cy="205139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AI Behind the Butterfly iQ+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C0DBD-BECD-BE67-E59F-B522AD16F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663" y="2165684"/>
            <a:ext cx="4223084" cy="4219618"/>
          </a:xfr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457200" indent="-457200">
              <a:buClr>
                <a:schemeClr val="accent3">
                  <a:lumMod val="60000"/>
                  <a:lumOff val="40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AI enhances </a:t>
            </a:r>
            <a:r>
              <a:rPr lang="en-US" u="sng" dirty="0">
                <a:solidFill>
                  <a:schemeClr val="tx1"/>
                </a:solidFill>
              </a:rPr>
              <a:t>image acquisition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u="sng" dirty="0">
                <a:solidFill>
                  <a:schemeClr val="tx1"/>
                </a:solidFill>
              </a:rPr>
              <a:t>interpretation, &amp; </a:t>
            </a:r>
            <a:r>
              <a:rPr lang="en-US" dirty="0">
                <a:solidFill>
                  <a:schemeClr val="tx1"/>
                </a:solidFill>
              </a:rPr>
              <a:t>diagnostic speed</a:t>
            </a:r>
          </a:p>
          <a:p>
            <a:pPr marL="457200" indent="-457200">
              <a:buClr>
                <a:schemeClr val="accent3">
                  <a:lumMod val="60000"/>
                  <a:lumOff val="40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Trained on 1B+ frames, 3M+ labeled scans</a:t>
            </a:r>
          </a:p>
          <a:p>
            <a:pPr marL="457200" indent="-457200">
              <a:buClr>
                <a:schemeClr val="accent3">
                  <a:lumMod val="60000"/>
                  <a:lumOff val="40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tx1"/>
                </a:solidFill>
              </a:rPr>
              <a:t>Real-time guidance </a:t>
            </a:r>
            <a:r>
              <a:rPr lang="en-US" dirty="0">
                <a:solidFill>
                  <a:schemeClr val="tx1"/>
                </a:solidFill>
              </a:rPr>
              <a:t>for probe positioning and capturing images.</a:t>
            </a:r>
          </a:p>
          <a:p>
            <a:pPr marL="457200" indent="-457200">
              <a:buClr>
                <a:schemeClr val="accent3">
                  <a:lumMod val="60000"/>
                  <a:lumOff val="40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tx1"/>
                </a:solidFill>
              </a:rPr>
              <a:t>Automated measurements </a:t>
            </a:r>
            <a:r>
              <a:rPr lang="en-US" dirty="0">
                <a:solidFill>
                  <a:schemeClr val="tx1"/>
                </a:solidFill>
              </a:rPr>
              <a:t>(e.g., bladder volume) with high precision.</a:t>
            </a:r>
          </a:p>
          <a:p>
            <a:pPr marL="457200" indent="-457200">
              <a:buClr>
                <a:schemeClr val="accent3">
                  <a:lumMod val="60000"/>
                  <a:lumOff val="40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ScanLab</a:t>
            </a:r>
            <a:r>
              <a:rPr lang="en-US" dirty="0">
                <a:solidFill>
                  <a:schemeClr val="tx1"/>
                </a:solidFill>
              </a:rPr>
              <a:t>™ simplifies training for new users &amp; </a:t>
            </a:r>
            <a:r>
              <a:rPr lang="en-US" u="sng" dirty="0">
                <a:solidFill>
                  <a:schemeClr val="tx1"/>
                </a:solidFill>
              </a:rPr>
              <a:t>reduces the learning curve</a:t>
            </a:r>
            <a:r>
              <a:rPr lang="en-US" dirty="0">
                <a:solidFill>
                  <a:schemeClr val="tx1"/>
                </a:solidFill>
              </a:rPr>
              <a:t> for non-specialists.</a:t>
            </a:r>
          </a:p>
          <a:p>
            <a:pPr marL="457200" indent="-457200">
              <a:buClr>
                <a:schemeClr val="accent3">
                  <a:lumMod val="60000"/>
                  <a:lumOff val="40000"/>
                </a:schemeClr>
              </a:buClr>
              <a:buSzPct val="120000"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Clr>
                <a:schemeClr val="accent3">
                  <a:lumMod val="60000"/>
                  <a:lumOff val="40000"/>
                </a:schemeClr>
              </a:buClr>
              <a:buSzPct val="120000"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0DA822-2F11-1159-5766-4FC53A0C92E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60138" y="6356350"/>
            <a:ext cx="93186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10" name="Picture 9" descr="A device with a screen and a device with a picture of a sonogram&#10;&#10;AI-generated content may be incorrect.">
            <a:extLst>
              <a:ext uri="{FF2B5EF4-FFF2-40B4-BE49-F238E27FC236}">
                <a16:creationId xmlns:a16="http://schemas.microsoft.com/office/drawing/2014/main" id="{7CE0A428-3E20-ECFA-3DE7-B57F64CF2E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592" r="3" b="32718"/>
          <a:stretch>
            <a:fillRect/>
          </a:stretch>
        </p:blipFill>
        <p:spPr>
          <a:xfrm>
            <a:off x="8395855" y="3649351"/>
            <a:ext cx="3796145" cy="2772230"/>
          </a:xfrm>
          <a:prstGeom prst="rect">
            <a:avLst/>
          </a:prstGeom>
          <a:noFill/>
        </p:spPr>
      </p:pic>
      <p:pic>
        <p:nvPicPr>
          <p:cNvPr id="6" name="Picture 5" descr="A screen shot of a phone&#10;&#10;AI-generated content may be incorrect.">
            <a:extLst>
              <a:ext uri="{FF2B5EF4-FFF2-40B4-BE49-F238E27FC236}">
                <a16:creationId xmlns:a16="http://schemas.microsoft.com/office/drawing/2014/main" id="{8FB50A22-0A31-B453-E93C-AA1E6C822D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44" t="6202" r="6633" b="4066"/>
          <a:stretch>
            <a:fillRect/>
          </a:stretch>
        </p:blipFill>
        <p:spPr>
          <a:xfrm>
            <a:off x="5179468" y="880150"/>
            <a:ext cx="2660073" cy="5101278"/>
          </a:xfrm>
          <a:prstGeom prst="roundRect">
            <a:avLst/>
          </a:prstGeom>
        </p:spPr>
      </p:pic>
      <p:pic>
        <p:nvPicPr>
          <p:cNvPr id="9" name="Picture 8" descr="A screenshot of a medical device&#10;&#10;AI-generated content may be incorrect.">
            <a:extLst>
              <a:ext uri="{FF2B5EF4-FFF2-40B4-BE49-F238E27FC236}">
                <a16:creationId xmlns:a16="http://schemas.microsoft.com/office/drawing/2014/main" id="{620269F4-BB81-3E6C-B3E1-6292C1BAB4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2109" y="353291"/>
            <a:ext cx="3629891" cy="288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429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910ED-B1CD-9941-1DE8-9BC20D3B1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86DCFF8-83F3-3543-A756-AD07017C2A94}"/>
              </a:ext>
            </a:extLst>
          </p:cNvPr>
          <p:cNvCxnSpPr>
            <a:cxnSpLocks/>
          </p:cNvCxnSpPr>
          <p:nvPr/>
        </p:nvCxnSpPr>
        <p:spPr>
          <a:xfrm flipV="1">
            <a:off x="800100" y="1689733"/>
            <a:ext cx="0" cy="209707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0CEDDD-7FED-1507-51AA-CC01A0F78974}"/>
              </a:ext>
            </a:extLst>
          </p:cNvPr>
          <p:cNvCxnSpPr>
            <a:cxnSpLocks/>
            <a:endCxn id="27" idx="4"/>
          </p:cNvCxnSpPr>
          <p:nvPr/>
        </p:nvCxnSpPr>
        <p:spPr>
          <a:xfrm flipV="1">
            <a:off x="9436917" y="2210542"/>
            <a:ext cx="0" cy="165818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2EF2E3-634B-B9BA-B5F2-3CDCF87AB9BC}"/>
              </a:ext>
            </a:extLst>
          </p:cNvPr>
          <p:cNvCxnSpPr>
            <a:cxnSpLocks/>
          </p:cNvCxnSpPr>
          <p:nvPr/>
        </p:nvCxnSpPr>
        <p:spPr>
          <a:xfrm flipV="1">
            <a:off x="6560072" y="1500658"/>
            <a:ext cx="0" cy="266926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7D1A002C-C6F4-465A-C874-BB83F5A9207A}"/>
              </a:ext>
            </a:extLst>
          </p:cNvPr>
          <p:cNvSpPr txBox="1">
            <a:spLocks/>
          </p:cNvSpPr>
          <p:nvPr/>
        </p:nvSpPr>
        <p:spPr>
          <a:xfrm>
            <a:off x="3913188" y="2229548"/>
            <a:ext cx="2372496" cy="13652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Image Reconstruction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Real-time image formation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36EAA4A-2B1B-B928-FC7C-5C1B8272DD53}"/>
              </a:ext>
            </a:extLst>
          </p:cNvPr>
          <p:cNvSpPr/>
          <p:nvPr/>
        </p:nvSpPr>
        <p:spPr>
          <a:xfrm>
            <a:off x="6445772" y="1448985"/>
            <a:ext cx="228600" cy="2286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Franklin Gothic Medium" panose="020B0603020102020204" pitchFamily="34" charset="0"/>
              <a:ea typeface="Microsoft YaHei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77A0182-1A94-8CFA-F3A7-F392024B3776}"/>
              </a:ext>
            </a:extLst>
          </p:cNvPr>
          <p:cNvCxnSpPr>
            <a:cxnSpLocks/>
          </p:cNvCxnSpPr>
          <p:nvPr/>
        </p:nvCxnSpPr>
        <p:spPr>
          <a:xfrm flipV="1">
            <a:off x="3678884" y="2273807"/>
            <a:ext cx="0" cy="1674432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19B01972-FDB9-0742-A899-8EB8CA0A27C3}"/>
              </a:ext>
            </a:extLst>
          </p:cNvPr>
          <p:cNvSpPr/>
          <p:nvPr/>
        </p:nvSpPr>
        <p:spPr>
          <a:xfrm>
            <a:off x="3564584" y="2210985"/>
            <a:ext cx="228600" cy="2286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Franklin Gothic Medium" panose="020B0603020102020204" pitchFamily="34" charset="0"/>
              <a:ea typeface="Microsoft YaHei"/>
              <a:cs typeface="+mn-cs"/>
            </a:endParaRP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125E83-AC5D-CE17-F062-2F4686400483}"/>
              </a:ext>
            </a:extLst>
          </p:cNvPr>
          <p:cNvSpPr txBox="1">
            <a:spLocks/>
          </p:cNvSpPr>
          <p:nvPr/>
        </p:nvSpPr>
        <p:spPr>
          <a:xfrm>
            <a:off x="6783388" y="1472634"/>
            <a:ext cx="2372496" cy="13652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User Interface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Real-time display 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User input and annotations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83E18CA-F16C-BC7D-202E-7D2406C87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" y="2869103"/>
            <a:ext cx="12188825" cy="2158272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8B3D936A-9D7C-102F-9F9D-4513ABF1D792}"/>
              </a:ext>
            </a:extLst>
          </p:cNvPr>
          <p:cNvSpPr/>
          <p:nvPr/>
        </p:nvSpPr>
        <p:spPr>
          <a:xfrm>
            <a:off x="685800" y="1512779"/>
            <a:ext cx="228600" cy="2286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Franklin Gothic Medium" panose="020B0603020102020204" pitchFamily="34" charset="0"/>
              <a:ea typeface="Microsoft YaHei"/>
              <a:cs typeface="+mn-cs"/>
            </a:endParaRP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CDEEFCF3-D6FD-E4DA-C333-24067E10B9F7}"/>
              </a:ext>
            </a:extLst>
          </p:cNvPr>
          <p:cNvSpPr txBox="1">
            <a:spLocks/>
          </p:cNvSpPr>
          <p:nvPr/>
        </p:nvSpPr>
        <p:spPr>
          <a:xfrm>
            <a:off x="1028700" y="1540200"/>
            <a:ext cx="2372496" cy="13652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Signal Acquisition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CMUT transducer captures raw ultrasound signals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5E8AF33-7E58-EC92-ABFA-87D9DA3203E3}"/>
              </a:ext>
            </a:extLst>
          </p:cNvPr>
          <p:cNvSpPr/>
          <p:nvPr/>
        </p:nvSpPr>
        <p:spPr>
          <a:xfrm>
            <a:off x="9322617" y="1981942"/>
            <a:ext cx="228600" cy="2286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Franklin Gothic Medium" panose="020B0603020102020204" pitchFamily="34" charset="0"/>
              <a:ea typeface="Microsoft YaHei"/>
              <a:cs typeface="+mn-cs"/>
            </a:endParaRP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B7BA2C76-7B38-7ACC-13B2-CF071340B87D}"/>
              </a:ext>
            </a:extLst>
          </p:cNvPr>
          <p:cNvSpPr txBox="1">
            <a:spLocks/>
          </p:cNvSpPr>
          <p:nvPr/>
        </p:nvSpPr>
        <p:spPr>
          <a:xfrm>
            <a:off x="9665517" y="1962703"/>
            <a:ext cx="2372496" cy="13652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Data Analytics &amp; Feedback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 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Usage analytics 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Model improvement via feedback loops 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Population health insights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99FB96B8-A096-C9EB-FFDA-541A4D3FA946}"/>
              </a:ext>
            </a:extLst>
          </p:cNvPr>
          <p:cNvSpPr txBox="1">
            <a:spLocks/>
          </p:cNvSpPr>
          <p:nvPr/>
        </p:nvSpPr>
        <p:spPr>
          <a:xfrm>
            <a:off x="1207854" y="5045499"/>
            <a:ext cx="2372496" cy="13652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Digital Signal Procession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Algorithms convert signals to digital data 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Noise reduction, artifact removal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8C6E3457-5E85-E859-5EC2-1AA2EF4F7FE4}"/>
              </a:ext>
            </a:extLst>
          </p:cNvPr>
          <p:cNvSpPr txBox="1">
            <a:spLocks/>
          </p:cNvSpPr>
          <p:nvPr/>
        </p:nvSpPr>
        <p:spPr>
          <a:xfrm>
            <a:off x="4340843" y="5727734"/>
            <a:ext cx="2372496" cy="13652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A56FEDBC-66FE-4DAB-00BA-1D4F7CA6BE2E}"/>
              </a:ext>
            </a:extLst>
          </p:cNvPr>
          <p:cNvSpPr txBox="1">
            <a:spLocks/>
          </p:cNvSpPr>
          <p:nvPr/>
        </p:nvSpPr>
        <p:spPr>
          <a:xfrm>
            <a:off x="4117739" y="4717512"/>
            <a:ext cx="2372496" cy="134775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AI/ML-Powered Interpretation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 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Automated structure recognition 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Automated measurements 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Quality assessment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51357DB8-BBE1-1786-BF15-3AAB908018AA}"/>
              </a:ext>
            </a:extLst>
          </p:cNvPr>
          <p:cNvSpPr txBox="1">
            <a:spLocks/>
          </p:cNvSpPr>
          <p:nvPr/>
        </p:nvSpPr>
        <p:spPr>
          <a:xfrm>
            <a:off x="7055516" y="5194212"/>
            <a:ext cx="2372496" cy="178123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Cloud Integration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 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Secure upload of images and metadata 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Remote access and telemedicine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D03EE596-FBC8-EDA0-7369-96CA9BF1D2A8}"/>
              </a:ext>
            </a:extLst>
          </p:cNvPr>
          <p:cNvSpPr txBox="1">
            <a:spLocks/>
          </p:cNvSpPr>
          <p:nvPr/>
        </p:nvSpPr>
        <p:spPr>
          <a:xfrm>
            <a:off x="9937185" y="4836776"/>
            <a:ext cx="2372496" cy="205263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Security &amp; Compliance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 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Data encryption 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HIPAA compliance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59D7F76-5272-2012-DB1E-9F5B940BD142}"/>
              </a:ext>
            </a:extLst>
          </p:cNvPr>
          <p:cNvCxnSpPr>
            <a:cxnSpLocks/>
          </p:cNvCxnSpPr>
          <p:nvPr/>
        </p:nvCxnSpPr>
        <p:spPr>
          <a:xfrm flipV="1">
            <a:off x="1083850" y="3868727"/>
            <a:ext cx="0" cy="1329437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08F870F7-B5E8-688D-A7DE-FFF65157D173}"/>
              </a:ext>
            </a:extLst>
          </p:cNvPr>
          <p:cNvSpPr/>
          <p:nvPr/>
        </p:nvSpPr>
        <p:spPr>
          <a:xfrm>
            <a:off x="969550" y="5073507"/>
            <a:ext cx="228600" cy="2286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Franklin Gothic Medium" panose="020B0603020102020204" pitchFamily="34" charset="0"/>
              <a:ea typeface="Microsoft YaHei"/>
              <a:cs typeface="+mn-cs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A122636-D681-4BF2-C5E3-0073896EE846}"/>
              </a:ext>
            </a:extLst>
          </p:cNvPr>
          <p:cNvCxnSpPr>
            <a:cxnSpLocks/>
            <a:stCxn id="48" idx="4"/>
          </p:cNvCxnSpPr>
          <p:nvPr/>
        </p:nvCxnSpPr>
        <p:spPr>
          <a:xfrm flipV="1">
            <a:off x="3949625" y="4021127"/>
            <a:ext cx="0" cy="926487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68D1FC84-01C9-885A-31A8-417F51A6C45B}"/>
              </a:ext>
            </a:extLst>
          </p:cNvPr>
          <p:cNvSpPr/>
          <p:nvPr/>
        </p:nvSpPr>
        <p:spPr>
          <a:xfrm>
            <a:off x="3835325" y="4719014"/>
            <a:ext cx="228600" cy="2286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Franklin Gothic Medium" panose="020B0603020102020204" pitchFamily="34" charset="0"/>
              <a:ea typeface="Microsoft YaHei"/>
              <a:cs typeface="+mn-cs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E2DE95B-78B1-D95E-223E-5149EB19F5AD}"/>
              </a:ext>
            </a:extLst>
          </p:cNvPr>
          <p:cNvCxnSpPr>
            <a:cxnSpLocks/>
          </p:cNvCxnSpPr>
          <p:nvPr/>
        </p:nvCxnSpPr>
        <p:spPr>
          <a:xfrm flipV="1">
            <a:off x="6891598" y="4021127"/>
            <a:ext cx="0" cy="1329437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CE63E623-1828-2E29-4271-42A6C10F70B0}"/>
              </a:ext>
            </a:extLst>
          </p:cNvPr>
          <p:cNvSpPr/>
          <p:nvPr/>
        </p:nvSpPr>
        <p:spPr>
          <a:xfrm>
            <a:off x="6777298" y="5225907"/>
            <a:ext cx="228600" cy="2286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Franklin Gothic Medium" panose="020B0603020102020204" pitchFamily="34" charset="0"/>
              <a:ea typeface="Microsoft YaHei"/>
              <a:cs typeface="+mn-cs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190DE1A-F957-99EB-A8FA-B192782C3AA2}"/>
              </a:ext>
            </a:extLst>
          </p:cNvPr>
          <p:cNvCxnSpPr>
            <a:cxnSpLocks/>
          </p:cNvCxnSpPr>
          <p:nvPr/>
        </p:nvCxnSpPr>
        <p:spPr>
          <a:xfrm flipV="1">
            <a:off x="9767318" y="4173527"/>
            <a:ext cx="0" cy="659787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E74213D8-7126-AC9D-1B56-E691C598F5FC}"/>
              </a:ext>
            </a:extLst>
          </p:cNvPr>
          <p:cNvSpPr/>
          <p:nvPr/>
        </p:nvSpPr>
        <p:spPr>
          <a:xfrm>
            <a:off x="9653018" y="4791901"/>
            <a:ext cx="228600" cy="2286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Franklin Gothic Medium" panose="020B0603020102020204" pitchFamily="34" charset="0"/>
              <a:ea typeface="Microsoft YaHei"/>
              <a:cs typeface="+mn-cs"/>
            </a:endParaRPr>
          </a:p>
        </p:txBody>
      </p:sp>
      <p:sp>
        <p:nvSpPr>
          <p:cNvPr id="54" name="Title 40">
            <a:extLst>
              <a:ext uri="{FF2B5EF4-FFF2-40B4-BE49-F238E27FC236}">
                <a16:creationId xmlns:a16="http://schemas.microsoft.com/office/drawing/2014/main" id="{4E32354F-0797-AC27-25EF-1EB6A8F21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90" y="278613"/>
            <a:ext cx="11721591" cy="935590"/>
          </a:xfrm>
        </p:spPr>
        <p:txBody>
          <a:bodyPr>
            <a:noAutofit/>
          </a:bodyPr>
          <a:lstStyle/>
          <a:p>
            <a:r>
              <a:rPr kumimoji="0" lang="en-US" sz="3600" b="0" i="0" u="none" strike="noStrike" kern="1200" cap="all" spc="120" normalizeH="0" baseline="0" noProof="0" dirty="0">
                <a:ln>
                  <a:noFill/>
                </a:ln>
                <a:effectLst/>
                <a:uLnTx/>
                <a:uFillTx/>
                <a:latin typeface="Franklin Gothic Demi Cond"/>
                <a:ea typeface="+mj-ea"/>
                <a:cs typeface="+mj-cs"/>
              </a:rPr>
              <a:t>Inside the Technology: </a:t>
            </a:r>
            <a:br>
              <a:rPr kumimoji="0" lang="en-US" sz="3600" b="0" i="0" u="none" strike="noStrike" kern="1200" cap="all" spc="120" normalizeH="0" baseline="0" noProof="0" dirty="0">
                <a:ln>
                  <a:noFill/>
                </a:ln>
                <a:effectLst/>
                <a:uLnTx/>
                <a:uFillTx/>
                <a:latin typeface="Franklin Gothic Demi Cond"/>
                <a:ea typeface="+mj-ea"/>
                <a:cs typeface="+mj-cs"/>
              </a:rPr>
            </a:br>
            <a:r>
              <a:rPr kumimoji="0" lang="en-US" sz="3600" b="0" i="0" u="none" strike="noStrike" kern="1200" cap="all" spc="120" normalizeH="0" baseline="0" noProof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uLnTx/>
                <a:uFillTx/>
                <a:latin typeface="Franklin Gothic Demi Cond"/>
                <a:ea typeface="+mj-ea"/>
                <a:cs typeface="+mj-cs"/>
              </a:rPr>
              <a:t>Data Science’s role in Butterfly iQ+</a:t>
            </a:r>
            <a:endParaRPr lang="en-US" sz="2400" b="1" dirty="0">
              <a:solidFill>
                <a:schemeClr val="accent3">
                  <a:lumMod val="60000"/>
                  <a:lumOff val="40000"/>
                </a:schemeClr>
              </a:solidFill>
              <a:latin typeface="Franklin Gothic Medium" panose="020B0603020102020204" pitchFamily="34" charset="0"/>
            </a:endParaRPr>
          </a:p>
        </p:txBody>
      </p:sp>
      <p:pic>
        <p:nvPicPr>
          <p:cNvPr id="2" name="Picture 1" descr="A hand holding a paper with images of a baby&#10;&#10;AI-generated content may be incorrect.">
            <a:extLst>
              <a:ext uri="{FF2B5EF4-FFF2-40B4-BE49-F238E27FC236}">
                <a16:creationId xmlns:a16="http://schemas.microsoft.com/office/drawing/2014/main" id="{917AD0F6-10B1-0B28-C255-F9F5EE514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9663" y="280386"/>
            <a:ext cx="2641412" cy="1548414"/>
          </a:xfrm>
          <a:prstGeom prst="rect">
            <a:avLst/>
          </a:prstGeom>
          <a:effectLst>
            <a:glow rad="58164">
              <a:schemeClr val="bg2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183427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CCAD7-37DF-C59A-2F31-1316AFD62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2A201-4E7F-974B-126B-048774DA6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Real-World Case:</a:t>
            </a:r>
            <a:br>
              <a:rPr lang="en-US" dirty="0"/>
            </a:br>
            <a:r>
              <a:rPr lang="en-US" sz="3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Hennepin EMS Case Study</a:t>
            </a:r>
            <a:endParaRPr lang="en-US" sz="27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DE6DF-87E3-4034-5126-558060CD2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Clr>
                <a:schemeClr val="accent3">
                  <a:lumMod val="60000"/>
                  <a:lumOff val="40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US" u="sng" dirty="0"/>
              <a:t>40 ambulances</a:t>
            </a:r>
            <a:r>
              <a:rPr lang="en-US" dirty="0"/>
              <a:t> equipped with Butterfly iQ+.</a:t>
            </a:r>
          </a:p>
          <a:p>
            <a:pPr marL="457200" indent="-457200">
              <a:buClr>
                <a:schemeClr val="accent3">
                  <a:lumMod val="60000"/>
                  <a:lumOff val="40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US" u="sng" dirty="0"/>
              <a:t>210 paramedics</a:t>
            </a:r>
            <a:r>
              <a:rPr lang="en-US" dirty="0"/>
              <a:t> trained in its use.</a:t>
            </a:r>
          </a:p>
          <a:p>
            <a:pPr marL="457200" indent="-457200">
              <a:buClr>
                <a:schemeClr val="accent3">
                  <a:lumMod val="60000"/>
                  <a:lumOff val="40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/>
              <a:t>These paramedics completed over </a:t>
            </a:r>
            <a:r>
              <a:rPr lang="en-US" u="sng" dirty="0"/>
              <a:t>6,000 scans</a:t>
            </a:r>
            <a:r>
              <a:rPr lang="en-US" dirty="0"/>
              <a:t> in 2024.</a:t>
            </a:r>
          </a:p>
          <a:p>
            <a:pPr marL="457200" indent="-457200">
              <a:buClr>
                <a:schemeClr val="accent3">
                  <a:lumMod val="60000"/>
                  <a:lumOff val="40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/>
              <a:t>10% of scans significantly </a:t>
            </a:r>
            <a:r>
              <a:rPr lang="en-US" u="sng" dirty="0"/>
              <a:t>changed patient care decisions</a:t>
            </a:r>
            <a:r>
              <a:rPr lang="en-US" dirty="0"/>
              <a:t>.</a:t>
            </a:r>
          </a:p>
          <a:p>
            <a:pPr marL="457200" indent="-457200">
              <a:buClr>
                <a:schemeClr val="accent3">
                  <a:lumMod val="60000"/>
                  <a:lumOff val="40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/>
              <a:t>Enabled </a:t>
            </a:r>
            <a:r>
              <a:rPr lang="en-US" u="sng" dirty="0"/>
              <a:t>early diagnosis</a:t>
            </a:r>
            <a:r>
              <a:rPr lang="en-US" dirty="0"/>
              <a:t> of serious conditions like pulmonary embolism and aortic aneurysm.</a:t>
            </a:r>
          </a:p>
          <a:p>
            <a:pPr marL="457200" indent="-457200">
              <a:buClr>
                <a:schemeClr val="accent3">
                  <a:lumMod val="60000"/>
                  <a:lumOff val="40000"/>
                </a:schemeClr>
              </a:buClr>
              <a:buSzPct val="120000"/>
              <a:buFont typeface="Arial" panose="020B0604020202020204" pitchFamily="34" charset="0"/>
              <a:buChar char="•"/>
            </a:pPr>
            <a:endParaRPr lang="en-US" dirty="0"/>
          </a:p>
          <a:p>
            <a:endParaRPr dirty="0"/>
          </a:p>
        </p:txBody>
      </p:sp>
      <p:pic>
        <p:nvPicPr>
          <p:cNvPr id="5" name="Picture 4" descr="A person holding a device to a person lying on a bed&#10;&#10;AI-generated content may be incorrect.">
            <a:extLst>
              <a:ext uri="{FF2B5EF4-FFF2-40B4-BE49-F238E27FC236}">
                <a16:creationId xmlns:a16="http://schemas.microsoft.com/office/drawing/2014/main" id="{2139B151-2B64-6D24-B2F2-224B84864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700" y="609600"/>
            <a:ext cx="3615999" cy="27093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8073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96FDB-ED76-A321-54D5-5A431CFD3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E294-CE89-8551-32AF-1FCBFDEF4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 anchor="ctr">
            <a:normAutofit/>
          </a:bodyPr>
          <a:lstStyle/>
          <a:p>
            <a:r>
              <a:rPr lang="en-US"/>
              <a:t>Clinical Use Examples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F3FFCB2-EBFC-039C-853C-0936182F4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C49BCE6C-D650-42F8-907A-CE4658A6F5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CF0168-3E51-E65B-89B8-7A79679760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2284229"/>
              </p:ext>
            </p:extLst>
          </p:nvPr>
        </p:nvGraphicFramePr>
        <p:xfrm>
          <a:off x="479684" y="2078086"/>
          <a:ext cx="11093921" cy="4382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8683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82E32-E7B7-E5DF-6F59-EC17D88D9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296EDB-3F73-34E1-3F53-EB322A25F2E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5" imgH="416" progId="TCLayout.ActiveDocument.1">
                  <p:embed/>
                </p:oleObj>
              </mc:Choice>
              <mc:Fallback>
                <p:oleObj name="think-cell Slide" r:id="rId5" imgW="415" imgH="41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BA35606-4438-C135-5626-0AAF5B7281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C27A71C-7B68-80DE-797C-E4CCB8F476F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n-US" sz="3600" dirty="0">
              <a:latin typeface="Chronicle Display Black" pitchFamily="50" charset="0"/>
              <a:sym typeface="Chronicle Display Black" pitchFamily="5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16E5D6-BAD6-0759-1119-E934DE7CB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43" y="437810"/>
            <a:ext cx="10538298" cy="594360"/>
          </a:xfrm>
        </p:spPr>
        <p:txBody>
          <a:bodyPr/>
          <a:lstStyle/>
          <a:p>
            <a:r>
              <a:rPr kumimoji="0" lang="en-US" sz="5400" b="0" i="0" u="none" strike="noStrike" kern="1200" cap="all" spc="1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 Cond"/>
                <a:ea typeface="+mj-ea"/>
                <a:cs typeface="+mj-cs"/>
              </a:rPr>
              <a:t>Butterfly </a:t>
            </a:r>
            <a:r>
              <a:rPr kumimoji="0" lang="en-US" sz="5400" b="0" i="0" u="none" strike="noStrike" kern="1200" cap="all" spc="1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 Cond"/>
                <a:ea typeface="+mj-ea"/>
                <a:cs typeface="+mj-cs"/>
              </a:rPr>
              <a:t>iq</a:t>
            </a:r>
            <a:r>
              <a:rPr kumimoji="0" lang="en-US" sz="5400" b="0" i="0" u="none" strike="noStrike" kern="1200" cap="all" spc="1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 Cond"/>
                <a:ea typeface="+mj-ea"/>
                <a:cs typeface="+mj-cs"/>
              </a:rPr>
              <a:t> bridges the gap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C364E66-9847-3F57-364B-C5E0C6EB5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640697"/>
              </p:ext>
            </p:extLst>
          </p:nvPr>
        </p:nvGraphicFramePr>
        <p:xfrm>
          <a:off x="354907" y="2007588"/>
          <a:ext cx="11404990" cy="731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0998">
                  <a:extLst>
                    <a:ext uri="{9D8B030D-6E8A-4147-A177-3AD203B41FA5}">
                      <a16:colId xmlns:a16="http://schemas.microsoft.com/office/drawing/2014/main" val="800214455"/>
                    </a:ext>
                  </a:extLst>
                </a:gridCol>
                <a:gridCol w="2280998">
                  <a:extLst>
                    <a:ext uri="{9D8B030D-6E8A-4147-A177-3AD203B41FA5}">
                      <a16:colId xmlns:a16="http://schemas.microsoft.com/office/drawing/2014/main" val="3015815130"/>
                    </a:ext>
                  </a:extLst>
                </a:gridCol>
                <a:gridCol w="2280998">
                  <a:extLst>
                    <a:ext uri="{9D8B030D-6E8A-4147-A177-3AD203B41FA5}">
                      <a16:colId xmlns:a16="http://schemas.microsoft.com/office/drawing/2014/main" val="2935081982"/>
                    </a:ext>
                  </a:extLst>
                </a:gridCol>
                <a:gridCol w="2280998">
                  <a:extLst>
                    <a:ext uri="{9D8B030D-6E8A-4147-A177-3AD203B41FA5}">
                      <a16:colId xmlns:a16="http://schemas.microsoft.com/office/drawing/2014/main" val="3842248130"/>
                    </a:ext>
                  </a:extLst>
                </a:gridCol>
                <a:gridCol w="2280998">
                  <a:extLst>
                    <a:ext uri="{9D8B030D-6E8A-4147-A177-3AD203B41FA5}">
                      <a16:colId xmlns:a16="http://schemas.microsoft.com/office/drawing/2014/main" val="3106033350"/>
                    </a:ext>
                  </a:extLst>
                </a:gridCol>
              </a:tblGrid>
              <a:tr h="564203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Medium" panose="020B0603020102020204" pitchFamily="34" charset="0"/>
                          <a:ea typeface="Libre Baskerville" charset="0"/>
                          <a:cs typeface="Libre Baskerville" charset="0"/>
                        </a:rPr>
                        <a:t>COMPLICATED DIGITAL INTEGRATION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Medium" panose="020B0603020102020204" pitchFamily="34" charset="0"/>
                          <a:ea typeface="Libre Baskerville" charset="0"/>
                          <a:cs typeface="Libre Baskerville" charset="0"/>
                        </a:rPr>
                        <a:t>LARGE AND COMPLEX MACHINERY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Medium" panose="020B0603020102020204" pitchFamily="34" charset="0"/>
                          <a:ea typeface="Libre Baskerville" charset="0"/>
                          <a:cs typeface="Libre Baskerville" charset="0"/>
                        </a:rPr>
                        <a:t>HIGH COST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Medium" panose="020B0603020102020204" pitchFamily="34" charset="0"/>
                          <a:ea typeface="Libre Baskerville" charset="0"/>
                          <a:cs typeface="Libre Baskerville" charset="0"/>
                        </a:rPr>
                        <a:t>LIMITED ACCESS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Medium" panose="020B0603020102020204" pitchFamily="34" charset="0"/>
                          <a:ea typeface="Libre Baskerville" charset="0"/>
                          <a:cs typeface="Libre Baskerville" charset="0"/>
                        </a:rPr>
                        <a:t>INNEFICIENT EMERGENCY RESPONSE AND </a:t>
                      </a:r>
                      <a:r>
                        <a:rPr lang="en-US" sz="1400" b="1" i="0" baseline="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Medium" panose="020B0603020102020204" pitchFamily="34" charset="0"/>
                          <a:ea typeface="Libre Baskerville" charset="0"/>
                          <a:cs typeface="Libre Baskerville" charset="0"/>
                        </a:rPr>
                        <a:t>PATIENT MOBILITY</a:t>
                      </a:r>
                      <a:endParaRPr lang="en-US" sz="1400" b="1" i="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Medium" panose="020B0603020102020204" pitchFamily="34" charset="0"/>
                        <a:ea typeface="Libre Baskerville" charset="0"/>
                        <a:cs typeface="Libre Baskerville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940454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168B5687-0E61-0D99-8595-5646E0D39E62}"/>
              </a:ext>
            </a:extLst>
          </p:cNvPr>
          <p:cNvGrpSpPr/>
          <p:nvPr/>
        </p:nvGrpSpPr>
        <p:grpSpPr>
          <a:xfrm>
            <a:off x="523236" y="2829473"/>
            <a:ext cx="11140156" cy="340242"/>
            <a:chOff x="556547" y="5431447"/>
            <a:chExt cx="11140156" cy="340242"/>
          </a:xfrm>
          <a:solidFill>
            <a:schemeClr val="tx1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5F7710-1B08-7360-A0BD-A4446E307200}"/>
                </a:ext>
              </a:extLst>
            </p:cNvPr>
            <p:cNvCxnSpPr/>
            <p:nvPr/>
          </p:nvCxnSpPr>
          <p:spPr>
            <a:xfrm>
              <a:off x="556547" y="5431794"/>
              <a:ext cx="11140156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riangle 22">
              <a:extLst>
                <a:ext uri="{FF2B5EF4-FFF2-40B4-BE49-F238E27FC236}">
                  <a16:creationId xmlns:a16="http://schemas.microsoft.com/office/drawing/2014/main" id="{F3155C39-DA76-182F-2A35-80D34FFD4526}"/>
                </a:ext>
              </a:extLst>
            </p:cNvPr>
            <p:cNvSpPr/>
            <p:nvPr/>
          </p:nvSpPr>
          <p:spPr>
            <a:xfrm rot="10800000">
              <a:off x="5717272" y="5431447"/>
              <a:ext cx="818707" cy="340242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34" name="Picture 13" descr="Cloud Computing with solid fill">
            <a:extLst>
              <a:ext uri="{FF2B5EF4-FFF2-40B4-BE49-F238E27FC236}">
                <a16:creationId xmlns:a16="http://schemas.microsoft.com/office/drawing/2014/main" id="{815E9342-72C6-3B93-E6A7-B132BFFC16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123424" y="1101171"/>
            <a:ext cx="914400" cy="914400"/>
          </a:xfrm>
          <a:prstGeom prst="rect">
            <a:avLst/>
          </a:prstGeom>
        </p:spPr>
      </p:pic>
      <p:pic>
        <p:nvPicPr>
          <p:cNvPr id="35" name="Picture 14" descr="Periodic Graph with solid fill">
            <a:extLst>
              <a:ext uri="{FF2B5EF4-FFF2-40B4-BE49-F238E27FC236}">
                <a16:creationId xmlns:a16="http://schemas.microsoft.com/office/drawing/2014/main" id="{3FB2C192-E10E-7C1E-AF54-0670F45BF0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3453294" y="1101171"/>
            <a:ext cx="914400" cy="914400"/>
          </a:xfrm>
          <a:prstGeom prst="rect">
            <a:avLst/>
          </a:prstGeom>
        </p:spPr>
      </p:pic>
      <p:pic>
        <p:nvPicPr>
          <p:cNvPr id="36" name="Picture 15" descr="Money with solid fill">
            <a:extLst>
              <a:ext uri="{FF2B5EF4-FFF2-40B4-BE49-F238E27FC236}">
                <a16:creationId xmlns:a16="http://schemas.microsoft.com/office/drawing/2014/main" id="{773A8C38-0C06-2864-1922-C59217DB4B8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5549293" y="1101171"/>
            <a:ext cx="914400" cy="914400"/>
          </a:xfrm>
          <a:prstGeom prst="rect">
            <a:avLst/>
          </a:prstGeom>
        </p:spPr>
      </p:pic>
      <p:pic>
        <p:nvPicPr>
          <p:cNvPr id="37" name="Picture 16" descr="Satellite dish with solid fill">
            <a:extLst>
              <a:ext uri="{FF2B5EF4-FFF2-40B4-BE49-F238E27FC236}">
                <a16:creationId xmlns:a16="http://schemas.microsoft.com/office/drawing/2014/main" id="{D8039A42-0CF3-89AF-741C-AF2C90A505B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685829" y="1101171"/>
            <a:ext cx="914400" cy="914400"/>
          </a:xfrm>
          <a:prstGeom prst="rect">
            <a:avLst/>
          </a:prstGeom>
        </p:spPr>
      </p:pic>
      <p:pic>
        <p:nvPicPr>
          <p:cNvPr id="38" name="Picture 17" descr="Ambulance with solid fill">
            <a:extLst>
              <a:ext uri="{FF2B5EF4-FFF2-40B4-BE49-F238E27FC236}">
                <a16:creationId xmlns:a16="http://schemas.microsoft.com/office/drawing/2014/main" id="{535FE005-9DF6-44A3-8F71-E3C4D797656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10050656" y="1101171"/>
            <a:ext cx="914400" cy="914400"/>
          </a:xfrm>
          <a:prstGeom prst="rect">
            <a:avLst/>
          </a:prstGeom>
        </p:spPr>
      </p:pic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E9BBBDE-DFE0-6B48-3345-8F844D5B8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501808"/>
              </p:ext>
            </p:extLst>
          </p:nvPr>
        </p:nvGraphicFramePr>
        <p:xfrm>
          <a:off x="258079" y="3186409"/>
          <a:ext cx="11617090" cy="579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61058">
                  <a:extLst>
                    <a:ext uri="{9D8B030D-6E8A-4147-A177-3AD203B41FA5}">
                      <a16:colId xmlns:a16="http://schemas.microsoft.com/office/drawing/2014/main" val="800214455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01581513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935081982"/>
                    </a:ext>
                  </a:extLst>
                </a:gridCol>
                <a:gridCol w="2260614">
                  <a:extLst>
                    <a:ext uri="{9D8B030D-6E8A-4147-A177-3AD203B41FA5}">
                      <a16:colId xmlns:a16="http://schemas.microsoft.com/office/drawing/2014/main" val="3842248130"/>
                    </a:ext>
                  </a:extLst>
                </a:gridCol>
                <a:gridCol w="2323418">
                  <a:extLst>
                    <a:ext uri="{9D8B030D-6E8A-4147-A177-3AD203B41FA5}">
                      <a16:colId xmlns:a16="http://schemas.microsoft.com/office/drawing/2014/main" val="3106033350"/>
                    </a:ext>
                  </a:extLst>
                </a:gridCol>
              </a:tblGrid>
              <a:tr h="564203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Franklin Gothic Medium" panose="020B0603020102020204" pitchFamily="34" charset="0"/>
                          <a:ea typeface="Libre Baskerville" charset="0"/>
                          <a:cs typeface="Libre Baskerville" charset="0"/>
                        </a:rPr>
                        <a:t>SELF-SERVICE AND SEAMLESS IMAGING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Franklin Gothic Medium" panose="020B0603020102020204" pitchFamily="34" charset="0"/>
                          <a:ea typeface="Libre Baskerville" charset="0"/>
                          <a:cs typeface="Libre Baskerville" charset="0"/>
                        </a:rPr>
                        <a:t>PORTABLE, ALL-IN-ONE DESIGN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Franklin Gothic Medium" panose="020B0603020102020204" pitchFamily="34" charset="0"/>
                          <a:ea typeface="Libre Baskerville" charset="0"/>
                          <a:cs typeface="Libre Baskerville" charset="0"/>
                        </a:rPr>
                        <a:t>AFFORDABLE DIAGNOSTIC IMAGING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Franklin Gothic Medium" panose="020B0603020102020204" pitchFamily="34" charset="0"/>
                          <a:ea typeface="Libre Baskerville" charset="0"/>
                          <a:cs typeface="Libre Baskerville" charset="0"/>
                        </a:rPr>
                        <a:t>EXPANDING IMAGING ACCESS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Franklin Gothic Medium" panose="020B0603020102020204" pitchFamily="34" charset="0"/>
                          <a:ea typeface="Libre Baskerville" charset="0"/>
                          <a:cs typeface="Libre Baskerville" charset="0"/>
                        </a:rPr>
                        <a:t>ON-THE-SPOT EMERGENCY IMAGING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94045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66BA32A-3B63-D735-A024-94EC911DED3D}"/>
              </a:ext>
            </a:extLst>
          </p:cNvPr>
          <p:cNvSpPr>
            <a:spLocks/>
          </p:cNvSpPr>
          <p:nvPr/>
        </p:nvSpPr>
        <p:spPr>
          <a:xfrm>
            <a:off x="9648803" y="3847496"/>
            <a:ext cx="2086824" cy="2563793"/>
          </a:xfrm>
          <a:prstGeom prst="rect">
            <a:avLst/>
          </a:prstGeom>
          <a:solidFill>
            <a:schemeClr val="accent6">
              <a:lumMod val="60000"/>
              <a:lumOff val="40000"/>
              <a:alpha val="61116"/>
            </a:schemeClr>
          </a:solidFill>
          <a:ln w="12700">
            <a:solidFill>
              <a:srgbClr val="00C18D"/>
            </a:solidFill>
          </a:ln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2523"/>
                </a:solidFill>
                <a:effectLst/>
                <a:uLnTx/>
                <a:uFillTx/>
                <a:latin typeface="Franklin Gothic Medium" panose="020B0603020102020204" pitchFamily="34" charset="0"/>
                <a:ea typeface="Ubuntu" charset="0"/>
                <a:cs typeface="Ubuntu" charset="0"/>
              </a:rPr>
              <a:t>Allows paramedics and bedside providers to perform real-time scans without moving the patient - critical in trauma situations.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EE2E47-772A-51C5-FD42-00605E6A1A77}"/>
              </a:ext>
            </a:extLst>
          </p:cNvPr>
          <p:cNvSpPr>
            <a:spLocks/>
          </p:cNvSpPr>
          <p:nvPr/>
        </p:nvSpPr>
        <p:spPr>
          <a:xfrm>
            <a:off x="7387941" y="3839638"/>
            <a:ext cx="2086824" cy="2563793"/>
          </a:xfrm>
          <a:prstGeom prst="rect">
            <a:avLst/>
          </a:prstGeom>
          <a:solidFill>
            <a:schemeClr val="accent6">
              <a:lumMod val="60000"/>
              <a:lumOff val="40000"/>
              <a:alpha val="61116"/>
            </a:schemeClr>
          </a:solidFill>
          <a:ln w="12700">
            <a:solidFill>
              <a:srgbClr val="00C18D"/>
            </a:solidFill>
          </a:ln>
        </p:spPr>
        <p:txBody>
          <a:bodyPr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2523"/>
                </a:solidFill>
                <a:effectLst/>
                <a:uLnTx/>
                <a:uFillTx/>
                <a:latin typeface="Franklin Gothic Medium" panose="020B0603020102020204" pitchFamily="34" charset="0"/>
                <a:ea typeface="Ubuntu" charset="0"/>
                <a:cs typeface="Ubuntu" charset="0"/>
              </a:rPr>
              <a:t>Portable and battery-powered ideal for fieldwork, rural settings, and global health missions.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B22B35-8470-8AA2-4F5C-48A629EFBF73}"/>
              </a:ext>
            </a:extLst>
          </p:cNvPr>
          <p:cNvSpPr>
            <a:spLocks/>
          </p:cNvSpPr>
          <p:nvPr/>
        </p:nvSpPr>
        <p:spPr>
          <a:xfrm>
            <a:off x="5111216" y="3852412"/>
            <a:ext cx="2086824" cy="2563793"/>
          </a:xfrm>
          <a:prstGeom prst="rect">
            <a:avLst/>
          </a:prstGeom>
          <a:solidFill>
            <a:schemeClr val="accent6">
              <a:lumMod val="60000"/>
              <a:lumOff val="40000"/>
              <a:alpha val="61116"/>
            </a:schemeClr>
          </a:solidFill>
          <a:ln w="12700">
            <a:solidFill>
              <a:srgbClr val="00C18D"/>
            </a:solidFill>
          </a:ln>
        </p:spPr>
        <p:txBody>
          <a:bodyPr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2523"/>
                </a:solidFill>
                <a:effectLst/>
                <a:uLnTx/>
                <a:uFillTx/>
                <a:latin typeface="Franklin Gothic Medium" panose="020B0603020102020204" pitchFamily="34" charset="0"/>
                <a:ea typeface="Ubuntu" charset="0"/>
                <a:cs typeface="Ubuntu" charset="0"/>
              </a:rPr>
              <a:t>Lower up-front and maintenance costs thanks to chip-based design, making ultrasound accessible to more providers.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242523"/>
                </a:solidFill>
                <a:latin typeface="Franklin Gothic Medium" panose="020B0603020102020204" pitchFamily="34" charset="0"/>
                <a:ea typeface="Ubuntu" charset="0"/>
                <a:cs typeface="Ubuntu" charset="0"/>
              </a:rPr>
              <a:t>Cost: $500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242523"/>
              </a:solidFill>
              <a:effectLst/>
              <a:uLnTx/>
              <a:uFillTx/>
              <a:latin typeface="Franklin Gothic Medium" panose="020B0603020102020204" pitchFamily="34" charset="0"/>
              <a:ea typeface="Ubuntu" charset="0"/>
              <a:cs typeface="Ubuntu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CD0725-B2AF-ECFC-84AA-68F3D0A1504C}"/>
              </a:ext>
            </a:extLst>
          </p:cNvPr>
          <p:cNvSpPr>
            <a:spLocks/>
          </p:cNvSpPr>
          <p:nvPr/>
        </p:nvSpPr>
        <p:spPr>
          <a:xfrm>
            <a:off x="2850354" y="3844557"/>
            <a:ext cx="2086824" cy="2563793"/>
          </a:xfrm>
          <a:prstGeom prst="rect">
            <a:avLst/>
          </a:prstGeom>
          <a:solidFill>
            <a:schemeClr val="accent6">
              <a:lumMod val="60000"/>
              <a:lumOff val="40000"/>
              <a:alpha val="61116"/>
            </a:schemeClr>
          </a:solidFill>
          <a:ln w="12700">
            <a:solidFill>
              <a:srgbClr val="00C18D"/>
            </a:solidFill>
          </a:ln>
        </p:spPr>
        <p:txBody>
          <a:bodyPr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2523"/>
                </a:solidFill>
                <a:effectLst/>
                <a:uLnTx/>
                <a:uFillTx/>
                <a:latin typeface="Franklin Gothic Medium" panose="020B0603020102020204" pitchFamily="34" charset="0"/>
                <a:ea typeface="Ubuntu" charset="0"/>
                <a:cs typeface="Ubuntu" charset="0"/>
              </a:rPr>
              <a:t>Replaces multiple traditional probes with a single silicon chip; fits in your pocket and connects to a mobile device with multiple preset options.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73429E-239B-F481-2197-22959B6FE445}"/>
              </a:ext>
            </a:extLst>
          </p:cNvPr>
          <p:cNvSpPr>
            <a:spLocks/>
          </p:cNvSpPr>
          <p:nvPr/>
        </p:nvSpPr>
        <p:spPr>
          <a:xfrm>
            <a:off x="553964" y="3837665"/>
            <a:ext cx="2086824" cy="2563793"/>
          </a:xfrm>
          <a:prstGeom prst="rect">
            <a:avLst/>
          </a:prstGeom>
          <a:solidFill>
            <a:schemeClr val="accent6">
              <a:lumMod val="60000"/>
              <a:lumOff val="40000"/>
              <a:alpha val="61116"/>
            </a:schemeClr>
          </a:solidFill>
          <a:ln w="12700">
            <a:solidFill>
              <a:srgbClr val="00C18D"/>
            </a:solidFill>
          </a:ln>
        </p:spPr>
        <p:txBody>
          <a:bodyPr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2523"/>
                </a:solidFill>
                <a:effectLst/>
                <a:uLnTx/>
                <a:uFillTx/>
                <a:latin typeface="Franklin Gothic Medium" panose="020B0603020102020204" pitchFamily="34" charset="0"/>
                <a:ea typeface="Ubuntu" charset="0"/>
                <a:cs typeface="Ubuntu" charset="0"/>
              </a:rPr>
              <a:t>Secure cloud storage + telemedicine-ready platform enables fast image sharing and remote specialist collaboration.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CE3B7E-7EAC-8EDD-BA30-66FEBE945E44}"/>
              </a:ext>
            </a:extLst>
          </p:cNvPr>
          <p:cNvSpPr/>
          <p:nvPr/>
        </p:nvSpPr>
        <p:spPr>
          <a:xfrm>
            <a:off x="0" y="2088236"/>
            <a:ext cx="12083716" cy="589552"/>
          </a:xfrm>
          <a:prstGeom prst="rect">
            <a:avLst/>
          </a:prstGeom>
          <a:solidFill>
            <a:srgbClr val="FFFFFF">
              <a:alpha val="7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8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4" grpId="0" animBg="1"/>
      <p:bldP spid="15" grpId="0" animBg="1"/>
      <p:bldP spid="16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DDE6E-FAF4-3A4B-BFAB-DC2FD3F4A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F0D7ED72-2DB4-2789-C0D3-744B6A148E05}"/>
              </a:ext>
            </a:extLst>
          </p:cNvPr>
          <p:cNvSpPr/>
          <p:nvPr/>
        </p:nvSpPr>
        <p:spPr>
          <a:xfrm>
            <a:off x="0" y="1712024"/>
            <a:ext cx="2948940" cy="5145975"/>
          </a:xfrm>
          <a:prstGeom prst="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E5CBBB49-7875-C254-23D1-B52A43B63CC2}"/>
              </a:ext>
            </a:extLst>
          </p:cNvPr>
          <p:cNvSpPr/>
          <p:nvPr/>
        </p:nvSpPr>
        <p:spPr>
          <a:xfrm>
            <a:off x="9055607" y="1306640"/>
            <a:ext cx="3136392" cy="5551359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F5E9C54C-E2A0-1A02-7BA0-EFE0EED21CDF}"/>
              </a:ext>
            </a:extLst>
          </p:cNvPr>
          <p:cNvSpPr txBox="1"/>
          <p:nvPr/>
        </p:nvSpPr>
        <p:spPr>
          <a:xfrm>
            <a:off x="2416810" y="4506437"/>
            <a:ext cx="2108200" cy="2364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25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 ExtraBold"/>
                <a:ea typeface="+mn-ea"/>
                <a:cs typeface="Open Sans ExtraBold"/>
              </a:rPr>
              <a:t>DATA DRIVEN DECISION MAKING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+mn-ea"/>
              <a:cs typeface="Open Sans"/>
            </a:endParaRPr>
          </a:p>
          <a:p>
            <a:pPr marL="60325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Empowers clinicians to make </a:t>
            </a:r>
            <a:r>
              <a:rPr kumimoji="0" lang="en-US" sz="1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Open Sans ExtraBold"/>
              </a:rPr>
              <a:t>faster</a:t>
            </a:r>
            <a:r>
              <a:rPr kumimoji="0" lang="en-US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, more </a:t>
            </a:r>
            <a:r>
              <a:rPr kumimoji="0" lang="en-US" sz="1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Open Sans ExtraBold"/>
              </a:rPr>
              <a:t>accurate diagnoses </a:t>
            </a:r>
            <a:r>
              <a:rPr kumimoji="0" lang="en-US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at the point of care</a:t>
            </a:r>
          </a:p>
          <a:p>
            <a:pPr marL="12700" marR="5080" lvl="0" indent="0" algn="ctr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+mn-ea"/>
              <a:cs typeface="Open Sans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7964AF97-1FCD-F400-0D8E-35503815B7D3}"/>
              </a:ext>
            </a:extLst>
          </p:cNvPr>
          <p:cNvSpPr txBox="1"/>
          <p:nvPr/>
        </p:nvSpPr>
        <p:spPr>
          <a:xfrm>
            <a:off x="4799838" y="4506437"/>
            <a:ext cx="2281555" cy="1982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 ExtraBold"/>
                <a:ea typeface="+mn-ea"/>
                <a:cs typeface="Open Sans ExtraBold"/>
              </a:rPr>
              <a:t>ACCESSIBLE AND SCALABLE</a:t>
            </a:r>
          </a:p>
          <a:p>
            <a:pPr marL="1905" marR="0" lvl="0" indent="0" algn="ctr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Allows for </a:t>
            </a:r>
            <a:r>
              <a:rPr kumimoji="0" lang="en-US" sz="1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Open Sans ExtraBold"/>
              </a:rPr>
              <a:t>portability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and </a:t>
            </a:r>
            <a:r>
              <a:rPr kumimoji="0" lang="en-US" sz="1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Open Sans ExtraBold"/>
              </a:rPr>
              <a:t>ease of use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to deliver high-quality ultrasound imaging anywhere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ABC4BFCC-18C2-3B2A-3A12-6034944C75D3}"/>
              </a:ext>
            </a:extLst>
          </p:cNvPr>
          <p:cNvSpPr txBox="1"/>
          <p:nvPr/>
        </p:nvSpPr>
        <p:spPr>
          <a:xfrm>
            <a:off x="7341488" y="4460717"/>
            <a:ext cx="2320672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 ExtraBold"/>
                <a:ea typeface="+mn-ea"/>
                <a:cs typeface="Open Sans ExtraBold"/>
              </a:rPr>
              <a:t>RAPID RESPONSE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+mn-ea"/>
              <a:cs typeface="Open Sans"/>
            </a:endParaRPr>
          </a:p>
          <a:p>
            <a:pPr marL="12700" marR="5080" lvl="0" indent="0" algn="ctr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Enables </a:t>
            </a:r>
            <a:r>
              <a:rPr kumimoji="0" lang="en-US" sz="1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Open Sans ExtraBold"/>
              </a:rPr>
              <a:t>quick responses in critical situations</a:t>
            </a:r>
            <a:r>
              <a:rPr kumimoji="0" lang="en-US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, improving patient outcomes through timely interventions</a:t>
            </a: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F63610C6-CAE8-DED4-A6EA-7F23EC5E941C}"/>
              </a:ext>
            </a:extLst>
          </p:cNvPr>
          <p:cNvSpPr/>
          <p:nvPr/>
        </p:nvSpPr>
        <p:spPr>
          <a:xfrm>
            <a:off x="2398776" y="1605503"/>
            <a:ext cx="2146300" cy="2146300"/>
          </a:xfrm>
          <a:custGeom>
            <a:avLst/>
            <a:gdLst/>
            <a:ahLst/>
            <a:cxnLst/>
            <a:rect l="l" t="t" r="r" b="b"/>
            <a:pathLst>
              <a:path w="2146300" h="2146300">
                <a:moveTo>
                  <a:pt x="1072896" y="0"/>
                </a:moveTo>
                <a:lnTo>
                  <a:pt x="1025102" y="1045"/>
                </a:lnTo>
                <a:lnTo>
                  <a:pt x="977843" y="4152"/>
                </a:lnTo>
                <a:lnTo>
                  <a:pt x="931164" y="9276"/>
                </a:lnTo>
                <a:lnTo>
                  <a:pt x="885108" y="16375"/>
                </a:lnTo>
                <a:lnTo>
                  <a:pt x="839718" y="25405"/>
                </a:lnTo>
                <a:lnTo>
                  <a:pt x="795039" y="36322"/>
                </a:lnTo>
                <a:lnTo>
                  <a:pt x="751112" y="49082"/>
                </a:lnTo>
                <a:lnTo>
                  <a:pt x="707984" y="63643"/>
                </a:lnTo>
                <a:lnTo>
                  <a:pt x="665696" y="79959"/>
                </a:lnTo>
                <a:lnTo>
                  <a:pt x="624292" y="97989"/>
                </a:lnTo>
                <a:lnTo>
                  <a:pt x="583816" y="117687"/>
                </a:lnTo>
                <a:lnTo>
                  <a:pt x="544312" y="139011"/>
                </a:lnTo>
                <a:lnTo>
                  <a:pt x="505823" y="161917"/>
                </a:lnTo>
                <a:lnTo>
                  <a:pt x="468393" y="186361"/>
                </a:lnTo>
                <a:lnTo>
                  <a:pt x="432065" y="212301"/>
                </a:lnTo>
                <a:lnTo>
                  <a:pt x="396884" y="239691"/>
                </a:lnTo>
                <a:lnTo>
                  <a:pt x="362892" y="268489"/>
                </a:lnTo>
                <a:lnTo>
                  <a:pt x="330133" y="298650"/>
                </a:lnTo>
                <a:lnTo>
                  <a:pt x="298650" y="330133"/>
                </a:lnTo>
                <a:lnTo>
                  <a:pt x="268489" y="362892"/>
                </a:lnTo>
                <a:lnTo>
                  <a:pt x="239691" y="396884"/>
                </a:lnTo>
                <a:lnTo>
                  <a:pt x="212301" y="432065"/>
                </a:lnTo>
                <a:lnTo>
                  <a:pt x="186361" y="468393"/>
                </a:lnTo>
                <a:lnTo>
                  <a:pt x="161917" y="505823"/>
                </a:lnTo>
                <a:lnTo>
                  <a:pt x="139011" y="544312"/>
                </a:lnTo>
                <a:lnTo>
                  <a:pt x="117687" y="583816"/>
                </a:lnTo>
                <a:lnTo>
                  <a:pt x="97989" y="624292"/>
                </a:lnTo>
                <a:lnTo>
                  <a:pt x="79959" y="665696"/>
                </a:lnTo>
                <a:lnTo>
                  <a:pt x="63643" y="707984"/>
                </a:lnTo>
                <a:lnTo>
                  <a:pt x="49082" y="751112"/>
                </a:lnTo>
                <a:lnTo>
                  <a:pt x="36322" y="795039"/>
                </a:lnTo>
                <a:lnTo>
                  <a:pt x="25405" y="839718"/>
                </a:lnTo>
                <a:lnTo>
                  <a:pt x="16375" y="885108"/>
                </a:lnTo>
                <a:lnTo>
                  <a:pt x="9276" y="931164"/>
                </a:lnTo>
                <a:lnTo>
                  <a:pt x="4152" y="977843"/>
                </a:lnTo>
                <a:lnTo>
                  <a:pt x="1045" y="1025102"/>
                </a:lnTo>
                <a:lnTo>
                  <a:pt x="0" y="1072896"/>
                </a:lnTo>
                <a:lnTo>
                  <a:pt x="1045" y="1120689"/>
                </a:lnTo>
                <a:lnTo>
                  <a:pt x="4152" y="1167948"/>
                </a:lnTo>
                <a:lnTo>
                  <a:pt x="9276" y="1214627"/>
                </a:lnTo>
                <a:lnTo>
                  <a:pt x="16375" y="1260683"/>
                </a:lnTo>
                <a:lnTo>
                  <a:pt x="25405" y="1306073"/>
                </a:lnTo>
                <a:lnTo>
                  <a:pt x="36322" y="1350752"/>
                </a:lnTo>
                <a:lnTo>
                  <a:pt x="49082" y="1394679"/>
                </a:lnTo>
                <a:lnTo>
                  <a:pt x="63643" y="1437807"/>
                </a:lnTo>
                <a:lnTo>
                  <a:pt x="79959" y="1480095"/>
                </a:lnTo>
                <a:lnTo>
                  <a:pt x="97989" y="1521499"/>
                </a:lnTo>
                <a:lnTo>
                  <a:pt x="117687" y="1561975"/>
                </a:lnTo>
                <a:lnTo>
                  <a:pt x="139011" y="1601479"/>
                </a:lnTo>
                <a:lnTo>
                  <a:pt x="161917" y="1639968"/>
                </a:lnTo>
                <a:lnTo>
                  <a:pt x="186361" y="1677398"/>
                </a:lnTo>
                <a:lnTo>
                  <a:pt x="212301" y="1713726"/>
                </a:lnTo>
                <a:lnTo>
                  <a:pt x="239691" y="1748907"/>
                </a:lnTo>
                <a:lnTo>
                  <a:pt x="268489" y="1782899"/>
                </a:lnTo>
                <a:lnTo>
                  <a:pt x="298650" y="1815658"/>
                </a:lnTo>
                <a:lnTo>
                  <a:pt x="330133" y="1847141"/>
                </a:lnTo>
                <a:lnTo>
                  <a:pt x="362892" y="1877302"/>
                </a:lnTo>
                <a:lnTo>
                  <a:pt x="396884" y="1906100"/>
                </a:lnTo>
                <a:lnTo>
                  <a:pt x="432065" y="1933490"/>
                </a:lnTo>
                <a:lnTo>
                  <a:pt x="468393" y="1959430"/>
                </a:lnTo>
                <a:lnTo>
                  <a:pt x="505823" y="1983874"/>
                </a:lnTo>
                <a:lnTo>
                  <a:pt x="544312" y="2006780"/>
                </a:lnTo>
                <a:lnTo>
                  <a:pt x="583816" y="2028104"/>
                </a:lnTo>
                <a:lnTo>
                  <a:pt x="624292" y="2047802"/>
                </a:lnTo>
                <a:lnTo>
                  <a:pt x="665696" y="2065832"/>
                </a:lnTo>
                <a:lnTo>
                  <a:pt x="707984" y="2082148"/>
                </a:lnTo>
                <a:lnTo>
                  <a:pt x="751112" y="2096709"/>
                </a:lnTo>
                <a:lnTo>
                  <a:pt x="795039" y="2109469"/>
                </a:lnTo>
                <a:lnTo>
                  <a:pt x="839718" y="2120386"/>
                </a:lnTo>
                <a:lnTo>
                  <a:pt x="885108" y="2129416"/>
                </a:lnTo>
                <a:lnTo>
                  <a:pt x="931164" y="2136515"/>
                </a:lnTo>
                <a:lnTo>
                  <a:pt x="977843" y="2141639"/>
                </a:lnTo>
                <a:lnTo>
                  <a:pt x="1025102" y="2144746"/>
                </a:lnTo>
                <a:lnTo>
                  <a:pt x="1072896" y="2145792"/>
                </a:lnTo>
                <a:lnTo>
                  <a:pt x="1120689" y="2144746"/>
                </a:lnTo>
                <a:lnTo>
                  <a:pt x="1167948" y="2141639"/>
                </a:lnTo>
                <a:lnTo>
                  <a:pt x="1214627" y="2136515"/>
                </a:lnTo>
                <a:lnTo>
                  <a:pt x="1260683" y="2129416"/>
                </a:lnTo>
                <a:lnTo>
                  <a:pt x="1306073" y="2120386"/>
                </a:lnTo>
                <a:lnTo>
                  <a:pt x="1350752" y="2109469"/>
                </a:lnTo>
                <a:lnTo>
                  <a:pt x="1394679" y="2096709"/>
                </a:lnTo>
                <a:lnTo>
                  <a:pt x="1437807" y="2082148"/>
                </a:lnTo>
                <a:lnTo>
                  <a:pt x="1480095" y="2065832"/>
                </a:lnTo>
                <a:lnTo>
                  <a:pt x="1521499" y="2047802"/>
                </a:lnTo>
                <a:lnTo>
                  <a:pt x="1561975" y="2028104"/>
                </a:lnTo>
                <a:lnTo>
                  <a:pt x="1601479" y="2006780"/>
                </a:lnTo>
                <a:lnTo>
                  <a:pt x="1639968" y="1983874"/>
                </a:lnTo>
                <a:lnTo>
                  <a:pt x="1677398" y="1959430"/>
                </a:lnTo>
                <a:lnTo>
                  <a:pt x="1713726" y="1933490"/>
                </a:lnTo>
                <a:lnTo>
                  <a:pt x="1748907" y="1906100"/>
                </a:lnTo>
                <a:lnTo>
                  <a:pt x="1782899" y="1877302"/>
                </a:lnTo>
                <a:lnTo>
                  <a:pt x="1815658" y="1847141"/>
                </a:lnTo>
                <a:lnTo>
                  <a:pt x="1847141" y="1815658"/>
                </a:lnTo>
                <a:lnTo>
                  <a:pt x="1877302" y="1782899"/>
                </a:lnTo>
                <a:lnTo>
                  <a:pt x="1906100" y="1748907"/>
                </a:lnTo>
                <a:lnTo>
                  <a:pt x="1933490" y="1713726"/>
                </a:lnTo>
                <a:lnTo>
                  <a:pt x="1959430" y="1677398"/>
                </a:lnTo>
                <a:lnTo>
                  <a:pt x="1983874" y="1639968"/>
                </a:lnTo>
                <a:lnTo>
                  <a:pt x="2006780" y="1601479"/>
                </a:lnTo>
                <a:lnTo>
                  <a:pt x="2028104" y="1561975"/>
                </a:lnTo>
                <a:lnTo>
                  <a:pt x="2047802" y="1521499"/>
                </a:lnTo>
                <a:lnTo>
                  <a:pt x="2065832" y="1480095"/>
                </a:lnTo>
                <a:lnTo>
                  <a:pt x="2082148" y="1437807"/>
                </a:lnTo>
                <a:lnTo>
                  <a:pt x="2096709" y="1394679"/>
                </a:lnTo>
                <a:lnTo>
                  <a:pt x="2109469" y="1350752"/>
                </a:lnTo>
                <a:lnTo>
                  <a:pt x="2120386" y="1306073"/>
                </a:lnTo>
                <a:lnTo>
                  <a:pt x="2129416" y="1260683"/>
                </a:lnTo>
                <a:lnTo>
                  <a:pt x="2136515" y="1214627"/>
                </a:lnTo>
                <a:lnTo>
                  <a:pt x="2141639" y="1167948"/>
                </a:lnTo>
                <a:lnTo>
                  <a:pt x="2144746" y="1120689"/>
                </a:lnTo>
                <a:lnTo>
                  <a:pt x="2145791" y="1072896"/>
                </a:lnTo>
                <a:lnTo>
                  <a:pt x="2144746" y="1025102"/>
                </a:lnTo>
                <a:lnTo>
                  <a:pt x="2141639" y="977843"/>
                </a:lnTo>
                <a:lnTo>
                  <a:pt x="2136515" y="931164"/>
                </a:lnTo>
                <a:lnTo>
                  <a:pt x="2129416" y="885108"/>
                </a:lnTo>
                <a:lnTo>
                  <a:pt x="2120386" y="839718"/>
                </a:lnTo>
                <a:lnTo>
                  <a:pt x="2109469" y="795039"/>
                </a:lnTo>
                <a:lnTo>
                  <a:pt x="2096709" y="751112"/>
                </a:lnTo>
                <a:lnTo>
                  <a:pt x="2082148" y="707984"/>
                </a:lnTo>
                <a:lnTo>
                  <a:pt x="2065832" y="665696"/>
                </a:lnTo>
                <a:lnTo>
                  <a:pt x="2047802" y="624292"/>
                </a:lnTo>
                <a:lnTo>
                  <a:pt x="2028104" y="583816"/>
                </a:lnTo>
                <a:lnTo>
                  <a:pt x="2006780" y="544312"/>
                </a:lnTo>
                <a:lnTo>
                  <a:pt x="1983874" y="505823"/>
                </a:lnTo>
                <a:lnTo>
                  <a:pt x="1959430" y="468393"/>
                </a:lnTo>
                <a:lnTo>
                  <a:pt x="1933490" y="432065"/>
                </a:lnTo>
                <a:lnTo>
                  <a:pt x="1906100" y="396884"/>
                </a:lnTo>
                <a:lnTo>
                  <a:pt x="1877302" y="362892"/>
                </a:lnTo>
                <a:lnTo>
                  <a:pt x="1847141" y="330133"/>
                </a:lnTo>
                <a:lnTo>
                  <a:pt x="1815658" y="298650"/>
                </a:lnTo>
                <a:lnTo>
                  <a:pt x="1782899" y="268489"/>
                </a:lnTo>
                <a:lnTo>
                  <a:pt x="1748907" y="239691"/>
                </a:lnTo>
                <a:lnTo>
                  <a:pt x="1713726" y="212301"/>
                </a:lnTo>
                <a:lnTo>
                  <a:pt x="1677398" y="186361"/>
                </a:lnTo>
                <a:lnTo>
                  <a:pt x="1639968" y="161917"/>
                </a:lnTo>
                <a:lnTo>
                  <a:pt x="1601479" y="139011"/>
                </a:lnTo>
                <a:lnTo>
                  <a:pt x="1561975" y="117687"/>
                </a:lnTo>
                <a:lnTo>
                  <a:pt x="1521499" y="97989"/>
                </a:lnTo>
                <a:lnTo>
                  <a:pt x="1480095" y="79959"/>
                </a:lnTo>
                <a:lnTo>
                  <a:pt x="1437807" y="63643"/>
                </a:lnTo>
                <a:lnTo>
                  <a:pt x="1394679" y="49082"/>
                </a:lnTo>
                <a:lnTo>
                  <a:pt x="1350752" y="36322"/>
                </a:lnTo>
                <a:lnTo>
                  <a:pt x="1306073" y="25405"/>
                </a:lnTo>
                <a:lnTo>
                  <a:pt x="1260683" y="16375"/>
                </a:lnTo>
                <a:lnTo>
                  <a:pt x="1214627" y="9276"/>
                </a:lnTo>
                <a:lnTo>
                  <a:pt x="1167948" y="4152"/>
                </a:lnTo>
                <a:lnTo>
                  <a:pt x="1120689" y="1045"/>
                </a:lnTo>
                <a:lnTo>
                  <a:pt x="1072896" y="0"/>
                </a:lnTo>
                <a:close/>
              </a:path>
            </a:pathLst>
          </a:custGeom>
          <a:solidFill>
            <a:srgbClr val="34E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EFF69D85-8FBC-0680-1BCE-B6A3C5BA3FE6}"/>
              </a:ext>
            </a:extLst>
          </p:cNvPr>
          <p:cNvSpPr/>
          <p:nvPr/>
        </p:nvSpPr>
        <p:spPr>
          <a:xfrm>
            <a:off x="2592323" y="1799052"/>
            <a:ext cx="1840229" cy="1838706"/>
          </a:xfrm>
          <a:prstGeom prst="rect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70326827-2DC5-43B8-0379-3FCE4466531F}"/>
              </a:ext>
            </a:extLst>
          </p:cNvPr>
          <p:cNvSpPr/>
          <p:nvPr/>
        </p:nvSpPr>
        <p:spPr>
          <a:xfrm>
            <a:off x="2639567" y="1846296"/>
            <a:ext cx="1664335" cy="1663064"/>
          </a:xfrm>
          <a:custGeom>
            <a:avLst/>
            <a:gdLst/>
            <a:ahLst/>
            <a:cxnLst/>
            <a:rect l="l" t="t" r="r" b="b"/>
            <a:pathLst>
              <a:path w="1664335" h="1663064">
                <a:moveTo>
                  <a:pt x="832104" y="0"/>
                </a:moveTo>
                <a:lnTo>
                  <a:pt x="783206" y="1411"/>
                </a:lnTo>
                <a:lnTo>
                  <a:pt x="735052" y="5593"/>
                </a:lnTo>
                <a:lnTo>
                  <a:pt x="687722" y="12468"/>
                </a:lnTo>
                <a:lnTo>
                  <a:pt x="641292" y="21958"/>
                </a:lnTo>
                <a:lnTo>
                  <a:pt x="595842" y="33984"/>
                </a:lnTo>
                <a:lnTo>
                  <a:pt x="551447" y="48469"/>
                </a:lnTo>
                <a:lnTo>
                  <a:pt x="508188" y="65335"/>
                </a:lnTo>
                <a:lnTo>
                  <a:pt x="466141" y="84504"/>
                </a:lnTo>
                <a:lnTo>
                  <a:pt x="425385" y="105897"/>
                </a:lnTo>
                <a:lnTo>
                  <a:pt x="385998" y="129437"/>
                </a:lnTo>
                <a:lnTo>
                  <a:pt x="348058" y="155046"/>
                </a:lnTo>
                <a:lnTo>
                  <a:pt x="311642" y="182646"/>
                </a:lnTo>
                <a:lnTo>
                  <a:pt x="276829" y="212159"/>
                </a:lnTo>
                <a:lnTo>
                  <a:pt x="243697" y="243506"/>
                </a:lnTo>
                <a:lnTo>
                  <a:pt x="212323" y="276610"/>
                </a:lnTo>
                <a:lnTo>
                  <a:pt x="182786" y="311393"/>
                </a:lnTo>
                <a:lnTo>
                  <a:pt x="155164" y="347777"/>
                </a:lnTo>
                <a:lnTo>
                  <a:pt x="129535" y="385683"/>
                </a:lnTo>
                <a:lnTo>
                  <a:pt x="105976" y="425035"/>
                </a:lnTo>
                <a:lnTo>
                  <a:pt x="84566" y="465753"/>
                </a:lnTo>
                <a:lnTo>
                  <a:pt x="65383" y="507759"/>
                </a:lnTo>
                <a:lnTo>
                  <a:pt x="48504" y="550977"/>
                </a:lnTo>
                <a:lnTo>
                  <a:pt x="34008" y="595327"/>
                </a:lnTo>
                <a:lnTo>
                  <a:pt x="21973" y="640733"/>
                </a:lnTo>
                <a:lnTo>
                  <a:pt x="12477" y="687115"/>
                </a:lnTo>
                <a:lnTo>
                  <a:pt x="5597" y="734395"/>
                </a:lnTo>
                <a:lnTo>
                  <a:pt x="1412" y="782497"/>
                </a:lnTo>
                <a:lnTo>
                  <a:pt x="0" y="831341"/>
                </a:lnTo>
                <a:lnTo>
                  <a:pt x="1412" y="880186"/>
                </a:lnTo>
                <a:lnTo>
                  <a:pt x="5597" y="928288"/>
                </a:lnTo>
                <a:lnTo>
                  <a:pt x="12477" y="975568"/>
                </a:lnTo>
                <a:lnTo>
                  <a:pt x="21973" y="1021950"/>
                </a:lnTo>
                <a:lnTo>
                  <a:pt x="34008" y="1067356"/>
                </a:lnTo>
                <a:lnTo>
                  <a:pt x="48504" y="1111706"/>
                </a:lnTo>
                <a:lnTo>
                  <a:pt x="65383" y="1154924"/>
                </a:lnTo>
                <a:lnTo>
                  <a:pt x="84566" y="1196930"/>
                </a:lnTo>
                <a:lnTo>
                  <a:pt x="105976" y="1237648"/>
                </a:lnTo>
                <a:lnTo>
                  <a:pt x="129535" y="1277000"/>
                </a:lnTo>
                <a:lnTo>
                  <a:pt x="155164" y="1314906"/>
                </a:lnTo>
                <a:lnTo>
                  <a:pt x="182786" y="1351290"/>
                </a:lnTo>
                <a:lnTo>
                  <a:pt x="212323" y="1386073"/>
                </a:lnTo>
                <a:lnTo>
                  <a:pt x="243697" y="1419177"/>
                </a:lnTo>
                <a:lnTo>
                  <a:pt x="276829" y="1450524"/>
                </a:lnTo>
                <a:lnTo>
                  <a:pt x="311642" y="1480037"/>
                </a:lnTo>
                <a:lnTo>
                  <a:pt x="348058" y="1507637"/>
                </a:lnTo>
                <a:lnTo>
                  <a:pt x="385998" y="1533246"/>
                </a:lnTo>
                <a:lnTo>
                  <a:pt x="425385" y="1556786"/>
                </a:lnTo>
                <a:lnTo>
                  <a:pt x="466141" y="1578179"/>
                </a:lnTo>
                <a:lnTo>
                  <a:pt x="508188" y="1597348"/>
                </a:lnTo>
                <a:lnTo>
                  <a:pt x="551447" y="1614214"/>
                </a:lnTo>
                <a:lnTo>
                  <a:pt x="595842" y="1628699"/>
                </a:lnTo>
                <a:lnTo>
                  <a:pt x="641292" y="1640725"/>
                </a:lnTo>
                <a:lnTo>
                  <a:pt x="687722" y="1650215"/>
                </a:lnTo>
                <a:lnTo>
                  <a:pt x="735052" y="1657090"/>
                </a:lnTo>
                <a:lnTo>
                  <a:pt x="783206" y="1661272"/>
                </a:lnTo>
                <a:lnTo>
                  <a:pt x="832104" y="1662683"/>
                </a:lnTo>
                <a:lnTo>
                  <a:pt x="881001" y="1661272"/>
                </a:lnTo>
                <a:lnTo>
                  <a:pt x="929155" y="1657090"/>
                </a:lnTo>
                <a:lnTo>
                  <a:pt x="976485" y="1650215"/>
                </a:lnTo>
                <a:lnTo>
                  <a:pt x="1022915" y="1640725"/>
                </a:lnTo>
                <a:lnTo>
                  <a:pt x="1068365" y="1628699"/>
                </a:lnTo>
                <a:lnTo>
                  <a:pt x="1112760" y="1614214"/>
                </a:lnTo>
                <a:lnTo>
                  <a:pt x="1156019" y="1597348"/>
                </a:lnTo>
                <a:lnTo>
                  <a:pt x="1198066" y="1578179"/>
                </a:lnTo>
                <a:lnTo>
                  <a:pt x="1238822" y="1556786"/>
                </a:lnTo>
                <a:lnTo>
                  <a:pt x="1278209" y="1533246"/>
                </a:lnTo>
                <a:lnTo>
                  <a:pt x="1316149" y="1507637"/>
                </a:lnTo>
                <a:lnTo>
                  <a:pt x="1352565" y="1480037"/>
                </a:lnTo>
                <a:lnTo>
                  <a:pt x="1387378" y="1450524"/>
                </a:lnTo>
                <a:lnTo>
                  <a:pt x="1420510" y="1419177"/>
                </a:lnTo>
                <a:lnTo>
                  <a:pt x="1451884" y="1386073"/>
                </a:lnTo>
                <a:lnTo>
                  <a:pt x="1481421" y="1351290"/>
                </a:lnTo>
                <a:lnTo>
                  <a:pt x="1509043" y="1314906"/>
                </a:lnTo>
                <a:lnTo>
                  <a:pt x="1534672" y="1277000"/>
                </a:lnTo>
                <a:lnTo>
                  <a:pt x="1558231" y="1237648"/>
                </a:lnTo>
                <a:lnTo>
                  <a:pt x="1579641" y="1196930"/>
                </a:lnTo>
                <a:lnTo>
                  <a:pt x="1598824" y="1154924"/>
                </a:lnTo>
                <a:lnTo>
                  <a:pt x="1615703" y="1111706"/>
                </a:lnTo>
                <a:lnTo>
                  <a:pt x="1630199" y="1067356"/>
                </a:lnTo>
                <a:lnTo>
                  <a:pt x="1642234" y="1021950"/>
                </a:lnTo>
                <a:lnTo>
                  <a:pt x="1651730" y="975568"/>
                </a:lnTo>
                <a:lnTo>
                  <a:pt x="1658610" y="928288"/>
                </a:lnTo>
                <a:lnTo>
                  <a:pt x="1662795" y="880186"/>
                </a:lnTo>
                <a:lnTo>
                  <a:pt x="1664208" y="831341"/>
                </a:lnTo>
                <a:lnTo>
                  <a:pt x="1662795" y="782497"/>
                </a:lnTo>
                <a:lnTo>
                  <a:pt x="1658610" y="734395"/>
                </a:lnTo>
                <a:lnTo>
                  <a:pt x="1651730" y="687115"/>
                </a:lnTo>
                <a:lnTo>
                  <a:pt x="1642234" y="640733"/>
                </a:lnTo>
                <a:lnTo>
                  <a:pt x="1630199" y="595327"/>
                </a:lnTo>
                <a:lnTo>
                  <a:pt x="1615703" y="550977"/>
                </a:lnTo>
                <a:lnTo>
                  <a:pt x="1598824" y="507759"/>
                </a:lnTo>
                <a:lnTo>
                  <a:pt x="1579641" y="465753"/>
                </a:lnTo>
                <a:lnTo>
                  <a:pt x="1558231" y="425035"/>
                </a:lnTo>
                <a:lnTo>
                  <a:pt x="1534672" y="385683"/>
                </a:lnTo>
                <a:lnTo>
                  <a:pt x="1509043" y="347777"/>
                </a:lnTo>
                <a:lnTo>
                  <a:pt x="1481421" y="311393"/>
                </a:lnTo>
                <a:lnTo>
                  <a:pt x="1451884" y="276610"/>
                </a:lnTo>
                <a:lnTo>
                  <a:pt x="1420510" y="243506"/>
                </a:lnTo>
                <a:lnTo>
                  <a:pt x="1387378" y="212159"/>
                </a:lnTo>
                <a:lnTo>
                  <a:pt x="1352565" y="182646"/>
                </a:lnTo>
                <a:lnTo>
                  <a:pt x="1316149" y="155046"/>
                </a:lnTo>
                <a:lnTo>
                  <a:pt x="1278209" y="129437"/>
                </a:lnTo>
                <a:lnTo>
                  <a:pt x="1238822" y="105897"/>
                </a:lnTo>
                <a:lnTo>
                  <a:pt x="1198066" y="84504"/>
                </a:lnTo>
                <a:lnTo>
                  <a:pt x="1156019" y="65335"/>
                </a:lnTo>
                <a:lnTo>
                  <a:pt x="1112760" y="48469"/>
                </a:lnTo>
                <a:lnTo>
                  <a:pt x="1068365" y="33984"/>
                </a:lnTo>
                <a:lnTo>
                  <a:pt x="1022915" y="21958"/>
                </a:lnTo>
                <a:lnTo>
                  <a:pt x="976485" y="12468"/>
                </a:lnTo>
                <a:lnTo>
                  <a:pt x="929155" y="5593"/>
                </a:lnTo>
                <a:lnTo>
                  <a:pt x="881001" y="1411"/>
                </a:lnTo>
                <a:lnTo>
                  <a:pt x="8321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98D33F9E-5DBD-BD84-7038-FB94ED7D9819}"/>
              </a:ext>
            </a:extLst>
          </p:cNvPr>
          <p:cNvSpPr/>
          <p:nvPr/>
        </p:nvSpPr>
        <p:spPr>
          <a:xfrm>
            <a:off x="3116579" y="3604992"/>
            <a:ext cx="710565" cy="387350"/>
          </a:xfrm>
          <a:custGeom>
            <a:avLst/>
            <a:gdLst/>
            <a:ahLst/>
            <a:cxnLst/>
            <a:rect l="l" t="t" r="r" b="b"/>
            <a:pathLst>
              <a:path w="710564" h="387350">
                <a:moveTo>
                  <a:pt x="710183" y="0"/>
                </a:moveTo>
                <a:lnTo>
                  <a:pt x="0" y="0"/>
                </a:lnTo>
                <a:lnTo>
                  <a:pt x="355092" y="387096"/>
                </a:lnTo>
                <a:lnTo>
                  <a:pt x="710183" y="0"/>
                </a:lnTo>
                <a:close/>
              </a:path>
            </a:pathLst>
          </a:custGeom>
          <a:solidFill>
            <a:srgbClr val="34E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284CAEBD-1D26-E64D-2786-06AF81508173}"/>
              </a:ext>
            </a:extLst>
          </p:cNvPr>
          <p:cNvSpPr/>
          <p:nvPr/>
        </p:nvSpPr>
        <p:spPr>
          <a:xfrm>
            <a:off x="4852415" y="1605503"/>
            <a:ext cx="2146300" cy="2146300"/>
          </a:xfrm>
          <a:custGeom>
            <a:avLst/>
            <a:gdLst/>
            <a:ahLst/>
            <a:cxnLst/>
            <a:rect l="l" t="t" r="r" b="b"/>
            <a:pathLst>
              <a:path w="2146300" h="2146300">
                <a:moveTo>
                  <a:pt x="1072896" y="0"/>
                </a:moveTo>
                <a:lnTo>
                  <a:pt x="1025102" y="1045"/>
                </a:lnTo>
                <a:lnTo>
                  <a:pt x="977843" y="4152"/>
                </a:lnTo>
                <a:lnTo>
                  <a:pt x="931164" y="9276"/>
                </a:lnTo>
                <a:lnTo>
                  <a:pt x="885108" y="16375"/>
                </a:lnTo>
                <a:lnTo>
                  <a:pt x="839718" y="25405"/>
                </a:lnTo>
                <a:lnTo>
                  <a:pt x="795039" y="36322"/>
                </a:lnTo>
                <a:lnTo>
                  <a:pt x="751112" y="49082"/>
                </a:lnTo>
                <a:lnTo>
                  <a:pt x="707984" y="63643"/>
                </a:lnTo>
                <a:lnTo>
                  <a:pt x="665696" y="79959"/>
                </a:lnTo>
                <a:lnTo>
                  <a:pt x="624292" y="97989"/>
                </a:lnTo>
                <a:lnTo>
                  <a:pt x="583816" y="117687"/>
                </a:lnTo>
                <a:lnTo>
                  <a:pt x="544312" y="139011"/>
                </a:lnTo>
                <a:lnTo>
                  <a:pt x="505823" y="161917"/>
                </a:lnTo>
                <a:lnTo>
                  <a:pt x="468393" y="186361"/>
                </a:lnTo>
                <a:lnTo>
                  <a:pt x="432065" y="212301"/>
                </a:lnTo>
                <a:lnTo>
                  <a:pt x="396884" y="239691"/>
                </a:lnTo>
                <a:lnTo>
                  <a:pt x="362892" y="268489"/>
                </a:lnTo>
                <a:lnTo>
                  <a:pt x="330133" y="298650"/>
                </a:lnTo>
                <a:lnTo>
                  <a:pt x="298650" y="330133"/>
                </a:lnTo>
                <a:lnTo>
                  <a:pt x="268489" y="362892"/>
                </a:lnTo>
                <a:lnTo>
                  <a:pt x="239691" y="396884"/>
                </a:lnTo>
                <a:lnTo>
                  <a:pt x="212301" y="432065"/>
                </a:lnTo>
                <a:lnTo>
                  <a:pt x="186361" y="468393"/>
                </a:lnTo>
                <a:lnTo>
                  <a:pt x="161917" y="505823"/>
                </a:lnTo>
                <a:lnTo>
                  <a:pt x="139011" y="544312"/>
                </a:lnTo>
                <a:lnTo>
                  <a:pt x="117687" y="583816"/>
                </a:lnTo>
                <a:lnTo>
                  <a:pt x="97989" y="624292"/>
                </a:lnTo>
                <a:lnTo>
                  <a:pt x="79959" y="665696"/>
                </a:lnTo>
                <a:lnTo>
                  <a:pt x="63643" y="707984"/>
                </a:lnTo>
                <a:lnTo>
                  <a:pt x="49082" y="751112"/>
                </a:lnTo>
                <a:lnTo>
                  <a:pt x="36322" y="795039"/>
                </a:lnTo>
                <a:lnTo>
                  <a:pt x="25405" y="839718"/>
                </a:lnTo>
                <a:lnTo>
                  <a:pt x="16375" y="885108"/>
                </a:lnTo>
                <a:lnTo>
                  <a:pt x="9276" y="931164"/>
                </a:lnTo>
                <a:lnTo>
                  <a:pt x="4152" y="977843"/>
                </a:lnTo>
                <a:lnTo>
                  <a:pt x="1045" y="1025102"/>
                </a:lnTo>
                <a:lnTo>
                  <a:pt x="0" y="1072896"/>
                </a:lnTo>
                <a:lnTo>
                  <a:pt x="1045" y="1120689"/>
                </a:lnTo>
                <a:lnTo>
                  <a:pt x="4152" y="1167948"/>
                </a:lnTo>
                <a:lnTo>
                  <a:pt x="9276" y="1214627"/>
                </a:lnTo>
                <a:lnTo>
                  <a:pt x="16375" y="1260683"/>
                </a:lnTo>
                <a:lnTo>
                  <a:pt x="25405" y="1306073"/>
                </a:lnTo>
                <a:lnTo>
                  <a:pt x="36322" y="1350752"/>
                </a:lnTo>
                <a:lnTo>
                  <a:pt x="49082" y="1394679"/>
                </a:lnTo>
                <a:lnTo>
                  <a:pt x="63643" y="1437807"/>
                </a:lnTo>
                <a:lnTo>
                  <a:pt x="79959" y="1480095"/>
                </a:lnTo>
                <a:lnTo>
                  <a:pt x="97989" y="1521499"/>
                </a:lnTo>
                <a:lnTo>
                  <a:pt x="117687" y="1561975"/>
                </a:lnTo>
                <a:lnTo>
                  <a:pt x="139011" y="1601479"/>
                </a:lnTo>
                <a:lnTo>
                  <a:pt x="161917" y="1639968"/>
                </a:lnTo>
                <a:lnTo>
                  <a:pt x="186361" y="1677398"/>
                </a:lnTo>
                <a:lnTo>
                  <a:pt x="212301" y="1713726"/>
                </a:lnTo>
                <a:lnTo>
                  <a:pt x="239691" y="1748907"/>
                </a:lnTo>
                <a:lnTo>
                  <a:pt x="268489" y="1782899"/>
                </a:lnTo>
                <a:lnTo>
                  <a:pt x="298650" y="1815658"/>
                </a:lnTo>
                <a:lnTo>
                  <a:pt x="330133" y="1847141"/>
                </a:lnTo>
                <a:lnTo>
                  <a:pt x="362892" y="1877302"/>
                </a:lnTo>
                <a:lnTo>
                  <a:pt x="396884" y="1906100"/>
                </a:lnTo>
                <a:lnTo>
                  <a:pt x="432065" y="1933490"/>
                </a:lnTo>
                <a:lnTo>
                  <a:pt x="468393" y="1959430"/>
                </a:lnTo>
                <a:lnTo>
                  <a:pt x="505823" y="1983874"/>
                </a:lnTo>
                <a:lnTo>
                  <a:pt x="544312" y="2006780"/>
                </a:lnTo>
                <a:lnTo>
                  <a:pt x="583816" y="2028104"/>
                </a:lnTo>
                <a:lnTo>
                  <a:pt x="624292" y="2047802"/>
                </a:lnTo>
                <a:lnTo>
                  <a:pt x="665696" y="2065832"/>
                </a:lnTo>
                <a:lnTo>
                  <a:pt x="707984" y="2082148"/>
                </a:lnTo>
                <a:lnTo>
                  <a:pt x="751112" y="2096709"/>
                </a:lnTo>
                <a:lnTo>
                  <a:pt x="795039" y="2109469"/>
                </a:lnTo>
                <a:lnTo>
                  <a:pt x="839718" y="2120386"/>
                </a:lnTo>
                <a:lnTo>
                  <a:pt x="885108" y="2129416"/>
                </a:lnTo>
                <a:lnTo>
                  <a:pt x="931164" y="2136515"/>
                </a:lnTo>
                <a:lnTo>
                  <a:pt x="977843" y="2141639"/>
                </a:lnTo>
                <a:lnTo>
                  <a:pt x="1025102" y="2144746"/>
                </a:lnTo>
                <a:lnTo>
                  <a:pt x="1072896" y="2145792"/>
                </a:lnTo>
                <a:lnTo>
                  <a:pt x="1120689" y="2144746"/>
                </a:lnTo>
                <a:lnTo>
                  <a:pt x="1167948" y="2141639"/>
                </a:lnTo>
                <a:lnTo>
                  <a:pt x="1214627" y="2136515"/>
                </a:lnTo>
                <a:lnTo>
                  <a:pt x="1260683" y="2129416"/>
                </a:lnTo>
                <a:lnTo>
                  <a:pt x="1306073" y="2120386"/>
                </a:lnTo>
                <a:lnTo>
                  <a:pt x="1350752" y="2109469"/>
                </a:lnTo>
                <a:lnTo>
                  <a:pt x="1394679" y="2096709"/>
                </a:lnTo>
                <a:lnTo>
                  <a:pt x="1437807" y="2082148"/>
                </a:lnTo>
                <a:lnTo>
                  <a:pt x="1480095" y="2065832"/>
                </a:lnTo>
                <a:lnTo>
                  <a:pt x="1521499" y="2047802"/>
                </a:lnTo>
                <a:lnTo>
                  <a:pt x="1561975" y="2028104"/>
                </a:lnTo>
                <a:lnTo>
                  <a:pt x="1601479" y="2006780"/>
                </a:lnTo>
                <a:lnTo>
                  <a:pt x="1639968" y="1983874"/>
                </a:lnTo>
                <a:lnTo>
                  <a:pt x="1677398" y="1959430"/>
                </a:lnTo>
                <a:lnTo>
                  <a:pt x="1713726" y="1933490"/>
                </a:lnTo>
                <a:lnTo>
                  <a:pt x="1748907" y="1906100"/>
                </a:lnTo>
                <a:lnTo>
                  <a:pt x="1782899" y="1877302"/>
                </a:lnTo>
                <a:lnTo>
                  <a:pt x="1815658" y="1847141"/>
                </a:lnTo>
                <a:lnTo>
                  <a:pt x="1847141" y="1815658"/>
                </a:lnTo>
                <a:lnTo>
                  <a:pt x="1877302" y="1782899"/>
                </a:lnTo>
                <a:lnTo>
                  <a:pt x="1906100" y="1748907"/>
                </a:lnTo>
                <a:lnTo>
                  <a:pt x="1933490" y="1713726"/>
                </a:lnTo>
                <a:lnTo>
                  <a:pt x="1959430" y="1677398"/>
                </a:lnTo>
                <a:lnTo>
                  <a:pt x="1983874" y="1639968"/>
                </a:lnTo>
                <a:lnTo>
                  <a:pt x="2006780" y="1601479"/>
                </a:lnTo>
                <a:lnTo>
                  <a:pt x="2028104" y="1561975"/>
                </a:lnTo>
                <a:lnTo>
                  <a:pt x="2047802" y="1521499"/>
                </a:lnTo>
                <a:lnTo>
                  <a:pt x="2065832" y="1480095"/>
                </a:lnTo>
                <a:lnTo>
                  <a:pt x="2082148" y="1437807"/>
                </a:lnTo>
                <a:lnTo>
                  <a:pt x="2096709" y="1394679"/>
                </a:lnTo>
                <a:lnTo>
                  <a:pt x="2109469" y="1350752"/>
                </a:lnTo>
                <a:lnTo>
                  <a:pt x="2120386" y="1306073"/>
                </a:lnTo>
                <a:lnTo>
                  <a:pt x="2129416" y="1260683"/>
                </a:lnTo>
                <a:lnTo>
                  <a:pt x="2136515" y="1214627"/>
                </a:lnTo>
                <a:lnTo>
                  <a:pt x="2141639" y="1167948"/>
                </a:lnTo>
                <a:lnTo>
                  <a:pt x="2144746" y="1120689"/>
                </a:lnTo>
                <a:lnTo>
                  <a:pt x="2145791" y="1072896"/>
                </a:lnTo>
                <a:lnTo>
                  <a:pt x="2144746" y="1025102"/>
                </a:lnTo>
                <a:lnTo>
                  <a:pt x="2141639" y="977843"/>
                </a:lnTo>
                <a:lnTo>
                  <a:pt x="2136515" y="931164"/>
                </a:lnTo>
                <a:lnTo>
                  <a:pt x="2129416" y="885108"/>
                </a:lnTo>
                <a:lnTo>
                  <a:pt x="2120386" y="839718"/>
                </a:lnTo>
                <a:lnTo>
                  <a:pt x="2109469" y="795039"/>
                </a:lnTo>
                <a:lnTo>
                  <a:pt x="2096709" y="751112"/>
                </a:lnTo>
                <a:lnTo>
                  <a:pt x="2082148" y="707984"/>
                </a:lnTo>
                <a:lnTo>
                  <a:pt x="2065832" y="665696"/>
                </a:lnTo>
                <a:lnTo>
                  <a:pt x="2047802" y="624292"/>
                </a:lnTo>
                <a:lnTo>
                  <a:pt x="2028104" y="583816"/>
                </a:lnTo>
                <a:lnTo>
                  <a:pt x="2006780" y="544312"/>
                </a:lnTo>
                <a:lnTo>
                  <a:pt x="1983874" y="505823"/>
                </a:lnTo>
                <a:lnTo>
                  <a:pt x="1959430" y="468393"/>
                </a:lnTo>
                <a:lnTo>
                  <a:pt x="1933490" y="432065"/>
                </a:lnTo>
                <a:lnTo>
                  <a:pt x="1906100" y="396884"/>
                </a:lnTo>
                <a:lnTo>
                  <a:pt x="1877302" y="362892"/>
                </a:lnTo>
                <a:lnTo>
                  <a:pt x="1847141" y="330133"/>
                </a:lnTo>
                <a:lnTo>
                  <a:pt x="1815658" y="298650"/>
                </a:lnTo>
                <a:lnTo>
                  <a:pt x="1782899" y="268489"/>
                </a:lnTo>
                <a:lnTo>
                  <a:pt x="1748907" y="239691"/>
                </a:lnTo>
                <a:lnTo>
                  <a:pt x="1713726" y="212301"/>
                </a:lnTo>
                <a:lnTo>
                  <a:pt x="1677398" y="186361"/>
                </a:lnTo>
                <a:lnTo>
                  <a:pt x="1639968" y="161917"/>
                </a:lnTo>
                <a:lnTo>
                  <a:pt x="1601479" y="139011"/>
                </a:lnTo>
                <a:lnTo>
                  <a:pt x="1561975" y="117687"/>
                </a:lnTo>
                <a:lnTo>
                  <a:pt x="1521499" y="97989"/>
                </a:lnTo>
                <a:lnTo>
                  <a:pt x="1480095" y="79959"/>
                </a:lnTo>
                <a:lnTo>
                  <a:pt x="1437807" y="63643"/>
                </a:lnTo>
                <a:lnTo>
                  <a:pt x="1394679" y="49082"/>
                </a:lnTo>
                <a:lnTo>
                  <a:pt x="1350752" y="36322"/>
                </a:lnTo>
                <a:lnTo>
                  <a:pt x="1306073" y="25405"/>
                </a:lnTo>
                <a:lnTo>
                  <a:pt x="1260683" y="16375"/>
                </a:lnTo>
                <a:lnTo>
                  <a:pt x="1214627" y="9276"/>
                </a:lnTo>
                <a:lnTo>
                  <a:pt x="1167948" y="4152"/>
                </a:lnTo>
                <a:lnTo>
                  <a:pt x="1120689" y="1045"/>
                </a:lnTo>
                <a:lnTo>
                  <a:pt x="1072896" y="0"/>
                </a:lnTo>
                <a:close/>
              </a:path>
            </a:pathLst>
          </a:custGeom>
          <a:solidFill>
            <a:srgbClr val="FCD2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0A9F8E4E-879F-7BE2-A625-BF7F11A42D0C}"/>
              </a:ext>
            </a:extLst>
          </p:cNvPr>
          <p:cNvSpPr/>
          <p:nvPr/>
        </p:nvSpPr>
        <p:spPr>
          <a:xfrm>
            <a:off x="5045964" y="1809719"/>
            <a:ext cx="1840230" cy="1838706"/>
          </a:xfrm>
          <a:prstGeom prst="rect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7391AABF-2E51-18D4-ABC8-C7D82BBA3FD1}"/>
              </a:ext>
            </a:extLst>
          </p:cNvPr>
          <p:cNvSpPr/>
          <p:nvPr/>
        </p:nvSpPr>
        <p:spPr>
          <a:xfrm>
            <a:off x="5093208" y="1856964"/>
            <a:ext cx="1664335" cy="1663064"/>
          </a:xfrm>
          <a:custGeom>
            <a:avLst/>
            <a:gdLst/>
            <a:ahLst/>
            <a:cxnLst/>
            <a:rect l="l" t="t" r="r" b="b"/>
            <a:pathLst>
              <a:path w="1664334" h="1663064">
                <a:moveTo>
                  <a:pt x="832103" y="0"/>
                </a:moveTo>
                <a:lnTo>
                  <a:pt x="783206" y="1411"/>
                </a:lnTo>
                <a:lnTo>
                  <a:pt x="735052" y="5593"/>
                </a:lnTo>
                <a:lnTo>
                  <a:pt x="687722" y="12468"/>
                </a:lnTo>
                <a:lnTo>
                  <a:pt x="641292" y="21958"/>
                </a:lnTo>
                <a:lnTo>
                  <a:pt x="595842" y="33984"/>
                </a:lnTo>
                <a:lnTo>
                  <a:pt x="551447" y="48469"/>
                </a:lnTo>
                <a:lnTo>
                  <a:pt x="508188" y="65335"/>
                </a:lnTo>
                <a:lnTo>
                  <a:pt x="466141" y="84504"/>
                </a:lnTo>
                <a:lnTo>
                  <a:pt x="425385" y="105897"/>
                </a:lnTo>
                <a:lnTo>
                  <a:pt x="385998" y="129437"/>
                </a:lnTo>
                <a:lnTo>
                  <a:pt x="348058" y="155046"/>
                </a:lnTo>
                <a:lnTo>
                  <a:pt x="311642" y="182646"/>
                </a:lnTo>
                <a:lnTo>
                  <a:pt x="276829" y="212159"/>
                </a:lnTo>
                <a:lnTo>
                  <a:pt x="243697" y="243506"/>
                </a:lnTo>
                <a:lnTo>
                  <a:pt x="212323" y="276610"/>
                </a:lnTo>
                <a:lnTo>
                  <a:pt x="182786" y="311393"/>
                </a:lnTo>
                <a:lnTo>
                  <a:pt x="155164" y="347777"/>
                </a:lnTo>
                <a:lnTo>
                  <a:pt x="129535" y="385683"/>
                </a:lnTo>
                <a:lnTo>
                  <a:pt x="105976" y="425035"/>
                </a:lnTo>
                <a:lnTo>
                  <a:pt x="84566" y="465753"/>
                </a:lnTo>
                <a:lnTo>
                  <a:pt x="65383" y="507759"/>
                </a:lnTo>
                <a:lnTo>
                  <a:pt x="48504" y="550977"/>
                </a:lnTo>
                <a:lnTo>
                  <a:pt x="34008" y="595327"/>
                </a:lnTo>
                <a:lnTo>
                  <a:pt x="21973" y="640733"/>
                </a:lnTo>
                <a:lnTo>
                  <a:pt x="12477" y="687115"/>
                </a:lnTo>
                <a:lnTo>
                  <a:pt x="5597" y="734395"/>
                </a:lnTo>
                <a:lnTo>
                  <a:pt x="1412" y="782497"/>
                </a:lnTo>
                <a:lnTo>
                  <a:pt x="0" y="831341"/>
                </a:lnTo>
                <a:lnTo>
                  <a:pt x="1412" y="880186"/>
                </a:lnTo>
                <a:lnTo>
                  <a:pt x="5597" y="928288"/>
                </a:lnTo>
                <a:lnTo>
                  <a:pt x="12477" y="975568"/>
                </a:lnTo>
                <a:lnTo>
                  <a:pt x="21973" y="1021950"/>
                </a:lnTo>
                <a:lnTo>
                  <a:pt x="34008" y="1067356"/>
                </a:lnTo>
                <a:lnTo>
                  <a:pt x="48504" y="1111706"/>
                </a:lnTo>
                <a:lnTo>
                  <a:pt x="65383" y="1154924"/>
                </a:lnTo>
                <a:lnTo>
                  <a:pt x="84566" y="1196930"/>
                </a:lnTo>
                <a:lnTo>
                  <a:pt x="105976" y="1237648"/>
                </a:lnTo>
                <a:lnTo>
                  <a:pt x="129535" y="1277000"/>
                </a:lnTo>
                <a:lnTo>
                  <a:pt x="155164" y="1314906"/>
                </a:lnTo>
                <a:lnTo>
                  <a:pt x="182786" y="1351290"/>
                </a:lnTo>
                <a:lnTo>
                  <a:pt x="212323" y="1386073"/>
                </a:lnTo>
                <a:lnTo>
                  <a:pt x="243697" y="1419177"/>
                </a:lnTo>
                <a:lnTo>
                  <a:pt x="276829" y="1450524"/>
                </a:lnTo>
                <a:lnTo>
                  <a:pt x="311642" y="1480037"/>
                </a:lnTo>
                <a:lnTo>
                  <a:pt x="348058" y="1507637"/>
                </a:lnTo>
                <a:lnTo>
                  <a:pt x="385998" y="1533246"/>
                </a:lnTo>
                <a:lnTo>
                  <a:pt x="425385" y="1556786"/>
                </a:lnTo>
                <a:lnTo>
                  <a:pt x="466141" y="1578179"/>
                </a:lnTo>
                <a:lnTo>
                  <a:pt x="508188" y="1597348"/>
                </a:lnTo>
                <a:lnTo>
                  <a:pt x="551447" y="1614214"/>
                </a:lnTo>
                <a:lnTo>
                  <a:pt x="595842" y="1628699"/>
                </a:lnTo>
                <a:lnTo>
                  <a:pt x="641292" y="1640725"/>
                </a:lnTo>
                <a:lnTo>
                  <a:pt x="687722" y="1650215"/>
                </a:lnTo>
                <a:lnTo>
                  <a:pt x="735052" y="1657090"/>
                </a:lnTo>
                <a:lnTo>
                  <a:pt x="783206" y="1661272"/>
                </a:lnTo>
                <a:lnTo>
                  <a:pt x="832103" y="1662683"/>
                </a:lnTo>
                <a:lnTo>
                  <a:pt x="881001" y="1661272"/>
                </a:lnTo>
                <a:lnTo>
                  <a:pt x="929155" y="1657090"/>
                </a:lnTo>
                <a:lnTo>
                  <a:pt x="976485" y="1650215"/>
                </a:lnTo>
                <a:lnTo>
                  <a:pt x="1022915" y="1640725"/>
                </a:lnTo>
                <a:lnTo>
                  <a:pt x="1068365" y="1628699"/>
                </a:lnTo>
                <a:lnTo>
                  <a:pt x="1112760" y="1614214"/>
                </a:lnTo>
                <a:lnTo>
                  <a:pt x="1156019" y="1597348"/>
                </a:lnTo>
                <a:lnTo>
                  <a:pt x="1198066" y="1578179"/>
                </a:lnTo>
                <a:lnTo>
                  <a:pt x="1238822" y="1556786"/>
                </a:lnTo>
                <a:lnTo>
                  <a:pt x="1278209" y="1533246"/>
                </a:lnTo>
                <a:lnTo>
                  <a:pt x="1316149" y="1507637"/>
                </a:lnTo>
                <a:lnTo>
                  <a:pt x="1352565" y="1480037"/>
                </a:lnTo>
                <a:lnTo>
                  <a:pt x="1387378" y="1450524"/>
                </a:lnTo>
                <a:lnTo>
                  <a:pt x="1420510" y="1419177"/>
                </a:lnTo>
                <a:lnTo>
                  <a:pt x="1451884" y="1386073"/>
                </a:lnTo>
                <a:lnTo>
                  <a:pt x="1481421" y="1351290"/>
                </a:lnTo>
                <a:lnTo>
                  <a:pt x="1509043" y="1314906"/>
                </a:lnTo>
                <a:lnTo>
                  <a:pt x="1534672" y="1277000"/>
                </a:lnTo>
                <a:lnTo>
                  <a:pt x="1558231" y="1237648"/>
                </a:lnTo>
                <a:lnTo>
                  <a:pt x="1579641" y="1196930"/>
                </a:lnTo>
                <a:lnTo>
                  <a:pt x="1598824" y="1154924"/>
                </a:lnTo>
                <a:lnTo>
                  <a:pt x="1615703" y="1111706"/>
                </a:lnTo>
                <a:lnTo>
                  <a:pt x="1630199" y="1067356"/>
                </a:lnTo>
                <a:lnTo>
                  <a:pt x="1642234" y="1021950"/>
                </a:lnTo>
                <a:lnTo>
                  <a:pt x="1651730" y="975568"/>
                </a:lnTo>
                <a:lnTo>
                  <a:pt x="1658610" y="928288"/>
                </a:lnTo>
                <a:lnTo>
                  <a:pt x="1662795" y="880186"/>
                </a:lnTo>
                <a:lnTo>
                  <a:pt x="1664208" y="831341"/>
                </a:lnTo>
                <a:lnTo>
                  <a:pt x="1662795" y="782497"/>
                </a:lnTo>
                <a:lnTo>
                  <a:pt x="1658610" y="734395"/>
                </a:lnTo>
                <a:lnTo>
                  <a:pt x="1651730" y="687115"/>
                </a:lnTo>
                <a:lnTo>
                  <a:pt x="1642234" y="640733"/>
                </a:lnTo>
                <a:lnTo>
                  <a:pt x="1630199" y="595327"/>
                </a:lnTo>
                <a:lnTo>
                  <a:pt x="1615703" y="550977"/>
                </a:lnTo>
                <a:lnTo>
                  <a:pt x="1598824" y="507759"/>
                </a:lnTo>
                <a:lnTo>
                  <a:pt x="1579641" y="465753"/>
                </a:lnTo>
                <a:lnTo>
                  <a:pt x="1558231" y="425035"/>
                </a:lnTo>
                <a:lnTo>
                  <a:pt x="1534672" y="385683"/>
                </a:lnTo>
                <a:lnTo>
                  <a:pt x="1509043" y="347777"/>
                </a:lnTo>
                <a:lnTo>
                  <a:pt x="1481421" y="311393"/>
                </a:lnTo>
                <a:lnTo>
                  <a:pt x="1451884" y="276610"/>
                </a:lnTo>
                <a:lnTo>
                  <a:pt x="1420510" y="243506"/>
                </a:lnTo>
                <a:lnTo>
                  <a:pt x="1387378" y="212159"/>
                </a:lnTo>
                <a:lnTo>
                  <a:pt x="1352565" y="182646"/>
                </a:lnTo>
                <a:lnTo>
                  <a:pt x="1316149" y="155046"/>
                </a:lnTo>
                <a:lnTo>
                  <a:pt x="1278209" y="129437"/>
                </a:lnTo>
                <a:lnTo>
                  <a:pt x="1238822" y="105897"/>
                </a:lnTo>
                <a:lnTo>
                  <a:pt x="1198066" y="84504"/>
                </a:lnTo>
                <a:lnTo>
                  <a:pt x="1156019" y="65335"/>
                </a:lnTo>
                <a:lnTo>
                  <a:pt x="1112760" y="48469"/>
                </a:lnTo>
                <a:lnTo>
                  <a:pt x="1068365" y="33984"/>
                </a:lnTo>
                <a:lnTo>
                  <a:pt x="1022915" y="21958"/>
                </a:lnTo>
                <a:lnTo>
                  <a:pt x="976485" y="12468"/>
                </a:lnTo>
                <a:lnTo>
                  <a:pt x="929155" y="5593"/>
                </a:lnTo>
                <a:lnTo>
                  <a:pt x="881001" y="1411"/>
                </a:lnTo>
                <a:lnTo>
                  <a:pt x="8321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5">
            <a:extLst>
              <a:ext uri="{FF2B5EF4-FFF2-40B4-BE49-F238E27FC236}">
                <a16:creationId xmlns:a16="http://schemas.microsoft.com/office/drawing/2014/main" id="{EEAFF555-C941-FB5C-04E0-46A8DA205933}"/>
              </a:ext>
            </a:extLst>
          </p:cNvPr>
          <p:cNvSpPr/>
          <p:nvPr/>
        </p:nvSpPr>
        <p:spPr>
          <a:xfrm>
            <a:off x="5570220" y="3604992"/>
            <a:ext cx="710565" cy="387350"/>
          </a:xfrm>
          <a:custGeom>
            <a:avLst/>
            <a:gdLst/>
            <a:ahLst/>
            <a:cxnLst/>
            <a:rect l="l" t="t" r="r" b="b"/>
            <a:pathLst>
              <a:path w="710564" h="387350">
                <a:moveTo>
                  <a:pt x="710183" y="0"/>
                </a:moveTo>
                <a:lnTo>
                  <a:pt x="0" y="0"/>
                </a:lnTo>
                <a:lnTo>
                  <a:pt x="355091" y="387096"/>
                </a:lnTo>
                <a:lnTo>
                  <a:pt x="710183" y="0"/>
                </a:lnTo>
                <a:close/>
              </a:path>
            </a:pathLst>
          </a:custGeom>
          <a:solidFill>
            <a:srgbClr val="FCD2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43BDFA6A-B307-8B87-CAB5-2D3C2DCAB748}"/>
              </a:ext>
            </a:extLst>
          </p:cNvPr>
          <p:cNvSpPr/>
          <p:nvPr/>
        </p:nvSpPr>
        <p:spPr>
          <a:xfrm>
            <a:off x="7306056" y="1599408"/>
            <a:ext cx="2146300" cy="2147570"/>
          </a:xfrm>
          <a:custGeom>
            <a:avLst/>
            <a:gdLst/>
            <a:ahLst/>
            <a:cxnLst/>
            <a:rect l="l" t="t" r="r" b="b"/>
            <a:pathLst>
              <a:path w="2146300" h="2147570">
                <a:moveTo>
                  <a:pt x="1072896" y="0"/>
                </a:moveTo>
                <a:lnTo>
                  <a:pt x="1025102" y="1046"/>
                </a:lnTo>
                <a:lnTo>
                  <a:pt x="977843" y="4155"/>
                </a:lnTo>
                <a:lnTo>
                  <a:pt x="931164" y="9284"/>
                </a:lnTo>
                <a:lnTo>
                  <a:pt x="885108" y="16388"/>
                </a:lnTo>
                <a:lnTo>
                  <a:pt x="839718" y="25425"/>
                </a:lnTo>
                <a:lnTo>
                  <a:pt x="795039" y="36350"/>
                </a:lnTo>
                <a:lnTo>
                  <a:pt x="751112" y="49121"/>
                </a:lnTo>
                <a:lnTo>
                  <a:pt x="707984" y="63692"/>
                </a:lnTo>
                <a:lnTo>
                  <a:pt x="665696" y="80021"/>
                </a:lnTo>
                <a:lnTo>
                  <a:pt x="624292" y="98065"/>
                </a:lnTo>
                <a:lnTo>
                  <a:pt x="583816" y="117778"/>
                </a:lnTo>
                <a:lnTo>
                  <a:pt x="544312" y="139118"/>
                </a:lnTo>
                <a:lnTo>
                  <a:pt x="505823" y="162042"/>
                </a:lnTo>
                <a:lnTo>
                  <a:pt x="468393" y="186504"/>
                </a:lnTo>
                <a:lnTo>
                  <a:pt x="432065" y="212463"/>
                </a:lnTo>
                <a:lnTo>
                  <a:pt x="396884" y="239874"/>
                </a:lnTo>
                <a:lnTo>
                  <a:pt x="362892" y="268693"/>
                </a:lnTo>
                <a:lnTo>
                  <a:pt x="330133" y="298877"/>
                </a:lnTo>
                <a:lnTo>
                  <a:pt x="298650" y="330382"/>
                </a:lnTo>
                <a:lnTo>
                  <a:pt x="268489" y="363165"/>
                </a:lnTo>
                <a:lnTo>
                  <a:pt x="239691" y="397182"/>
                </a:lnTo>
                <a:lnTo>
                  <a:pt x="212301" y="432389"/>
                </a:lnTo>
                <a:lnTo>
                  <a:pt x="186361" y="468743"/>
                </a:lnTo>
                <a:lnTo>
                  <a:pt x="161917" y="506200"/>
                </a:lnTo>
                <a:lnTo>
                  <a:pt x="139011" y="544716"/>
                </a:lnTo>
                <a:lnTo>
                  <a:pt x="117687" y="584248"/>
                </a:lnTo>
                <a:lnTo>
                  <a:pt x="97989" y="624752"/>
                </a:lnTo>
                <a:lnTo>
                  <a:pt x="79959" y="666185"/>
                </a:lnTo>
                <a:lnTo>
                  <a:pt x="63643" y="708502"/>
                </a:lnTo>
                <a:lnTo>
                  <a:pt x="49082" y="751661"/>
                </a:lnTo>
                <a:lnTo>
                  <a:pt x="36322" y="795617"/>
                </a:lnTo>
                <a:lnTo>
                  <a:pt x="25405" y="840327"/>
                </a:lnTo>
                <a:lnTo>
                  <a:pt x="16375" y="885747"/>
                </a:lnTo>
                <a:lnTo>
                  <a:pt x="9276" y="931834"/>
                </a:lnTo>
                <a:lnTo>
                  <a:pt x="4152" y="978544"/>
                </a:lnTo>
                <a:lnTo>
                  <a:pt x="1045" y="1025833"/>
                </a:lnTo>
                <a:lnTo>
                  <a:pt x="0" y="1073657"/>
                </a:lnTo>
                <a:lnTo>
                  <a:pt x="1045" y="1121482"/>
                </a:lnTo>
                <a:lnTo>
                  <a:pt x="4152" y="1168771"/>
                </a:lnTo>
                <a:lnTo>
                  <a:pt x="9276" y="1215481"/>
                </a:lnTo>
                <a:lnTo>
                  <a:pt x="16375" y="1261568"/>
                </a:lnTo>
                <a:lnTo>
                  <a:pt x="25405" y="1306988"/>
                </a:lnTo>
                <a:lnTo>
                  <a:pt x="36322" y="1351698"/>
                </a:lnTo>
                <a:lnTo>
                  <a:pt x="49082" y="1395654"/>
                </a:lnTo>
                <a:lnTo>
                  <a:pt x="63643" y="1438813"/>
                </a:lnTo>
                <a:lnTo>
                  <a:pt x="79959" y="1481130"/>
                </a:lnTo>
                <a:lnTo>
                  <a:pt x="97989" y="1522563"/>
                </a:lnTo>
                <a:lnTo>
                  <a:pt x="117687" y="1563067"/>
                </a:lnTo>
                <a:lnTo>
                  <a:pt x="139011" y="1602599"/>
                </a:lnTo>
                <a:lnTo>
                  <a:pt x="161917" y="1641115"/>
                </a:lnTo>
                <a:lnTo>
                  <a:pt x="186361" y="1678572"/>
                </a:lnTo>
                <a:lnTo>
                  <a:pt x="212301" y="1714926"/>
                </a:lnTo>
                <a:lnTo>
                  <a:pt x="239691" y="1750133"/>
                </a:lnTo>
                <a:lnTo>
                  <a:pt x="268489" y="1784150"/>
                </a:lnTo>
                <a:lnTo>
                  <a:pt x="298650" y="1816933"/>
                </a:lnTo>
                <a:lnTo>
                  <a:pt x="330133" y="1848438"/>
                </a:lnTo>
                <a:lnTo>
                  <a:pt x="362892" y="1878622"/>
                </a:lnTo>
                <a:lnTo>
                  <a:pt x="396884" y="1907441"/>
                </a:lnTo>
                <a:lnTo>
                  <a:pt x="432065" y="1934852"/>
                </a:lnTo>
                <a:lnTo>
                  <a:pt x="468393" y="1960811"/>
                </a:lnTo>
                <a:lnTo>
                  <a:pt x="505823" y="1985273"/>
                </a:lnTo>
                <a:lnTo>
                  <a:pt x="544312" y="2008197"/>
                </a:lnTo>
                <a:lnTo>
                  <a:pt x="583816" y="2029537"/>
                </a:lnTo>
                <a:lnTo>
                  <a:pt x="624292" y="2049250"/>
                </a:lnTo>
                <a:lnTo>
                  <a:pt x="665696" y="2067294"/>
                </a:lnTo>
                <a:lnTo>
                  <a:pt x="707984" y="2083623"/>
                </a:lnTo>
                <a:lnTo>
                  <a:pt x="751112" y="2098194"/>
                </a:lnTo>
                <a:lnTo>
                  <a:pt x="795039" y="2110965"/>
                </a:lnTo>
                <a:lnTo>
                  <a:pt x="839718" y="2121890"/>
                </a:lnTo>
                <a:lnTo>
                  <a:pt x="885108" y="2130927"/>
                </a:lnTo>
                <a:lnTo>
                  <a:pt x="931164" y="2138031"/>
                </a:lnTo>
                <a:lnTo>
                  <a:pt x="977843" y="2143160"/>
                </a:lnTo>
                <a:lnTo>
                  <a:pt x="1025102" y="2146269"/>
                </a:lnTo>
                <a:lnTo>
                  <a:pt x="1072896" y="2147316"/>
                </a:lnTo>
                <a:lnTo>
                  <a:pt x="1120689" y="2146269"/>
                </a:lnTo>
                <a:lnTo>
                  <a:pt x="1167948" y="2143160"/>
                </a:lnTo>
                <a:lnTo>
                  <a:pt x="1214627" y="2138031"/>
                </a:lnTo>
                <a:lnTo>
                  <a:pt x="1260683" y="2130927"/>
                </a:lnTo>
                <a:lnTo>
                  <a:pt x="1306073" y="2121890"/>
                </a:lnTo>
                <a:lnTo>
                  <a:pt x="1350752" y="2110965"/>
                </a:lnTo>
                <a:lnTo>
                  <a:pt x="1394679" y="2098194"/>
                </a:lnTo>
                <a:lnTo>
                  <a:pt x="1437807" y="2083623"/>
                </a:lnTo>
                <a:lnTo>
                  <a:pt x="1480095" y="2067294"/>
                </a:lnTo>
                <a:lnTo>
                  <a:pt x="1521499" y="2049250"/>
                </a:lnTo>
                <a:lnTo>
                  <a:pt x="1561975" y="2029537"/>
                </a:lnTo>
                <a:lnTo>
                  <a:pt x="1601479" y="2008197"/>
                </a:lnTo>
                <a:lnTo>
                  <a:pt x="1639968" y="1985273"/>
                </a:lnTo>
                <a:lnTo>
                  <a:pt x="1677398" y="1960811"/>
                </a:lnTo>
                <a:lnTo>
                  <a:pt x="1713726" y="1934852"/>
                </a:lnTo>
                <a:lnTo>
                  <a:pt x="1748907" y="1907441"/>
                </a:lnTo>
                <a:lnTo>
                  <a:pt x="1782899" y="1878622"/>
                </a:lnTo>
                <a:lnTo>
                  <a:pt x="1815658" y="1848438"/>
                </a:lnTo>
                <a:lnTo>
                  <a:pt x="1847141" y="1816933"/>
                </a:lnTo>
                <a:lnTo>
                  <a:pt x="1877302" y="1784150"/>
                </a:lnTo>
                <a:lnTo>
                  <a:pt x="1906100" y="1750133"/>
                </a:lnTo>
                <a:lnTo>
                  <a:pt x="1933490" y="1714926"/>
                </a:lnTo>
                <a:lnTo>
                  <a:pt x="1959430" y="1678572"/>
                </a:lnTo>
                <a:lnTo>
                  <a:pt x="1983874" y="1641115"/>
                </a:lnTo>
                <a:lnTo>
                  <a:pt x="2006780" y="1602599"/>
                </a:lnTo>
                <a:lnTo>
                  <a:pt x="2028104" y="1563067"/>
                </a:lnTo>
                <a:lnTo>
                  <a:pt x="2047802" y="1522563"/>
                </a:lnTo>
                <a:lnTo>
                  <a:pt x="2065832" y="1481130"/>
                </a:lnTo>
                <a:lnTo>
                  <a:pt x="2082148" y="1438813"/>
                </a:lnTo>
                <a:lnTo>
                  <a:pt x="2096709" y="1395654"/>
                </a:lnTo>
                <a:lnTo>
                  <a:pt x="2109469" y="1351698"/>
                </a:lnTo>
                <a:lnTo>
                  <a:pt x="2120386" y="1306988"/>
                </a:lnTo>
                <a:lnTo>
                  <a:pt x="2129416" y="1261568"/>
                </a:lnTo>
                <a:lnTo>
                  <a:pt x="2136515" y="1215481"/>
                </a:lnTo>
                <a:lnTo>
                  <a:pt x="2141639" y="1168771"/>
                </a:lnTo>
                <a:lnTo>
                  <a:pt x="2144746" y="1121482"/>
                </a:lnTo>
                <a:lnTo>
                  <a:pt x="2145792" y="1073657"/>
                </a:lnTo>
                <a:lnTo>
                  <a:pt x="2144746" y="1025833"/>
                </a:lnTo>
                <a:lnTo>
                  <a:pt x="2141639" y="978544"/>
                </a:lnTo>
                <a:lnTo>
                  <a:pt x="2136515" y="931834"/>
                </a:lnTo>
                <a:lnTo>
                  <a:pt x="2129416" y="885747"/>
                </a:lnTo>
                <a:lnTo>
                  <a:pt x="2120386" y="840327"/>
                </a:lnTo>
                <a:lnTo>
                  <a:pt x="2109469" y="795617"/>
                </a:lnTo>
                <a:lnTo>
                  <a:pt x="2096709" y="751661"/>
                </a:lnTo>
                <a:lnTo>
                  <a:pt x="2082148" y="708502"/>
                </a:lnTo>
                <a:lnTo>
                  <a:pt x="2065832" y="666185"/>
                </a:lnTo>
                <a:lnTo>
                  <a:pt x="2047802" y="624752"/>
                </a:lnTo>
                <a:lnTo>
                  <a:pt x="2028104" y="584248"/>
                </a:lnTo>
                <a:lnTo>
                  <a:pt x="2006780" y="544716"/>
                </a:lnTo>
                <a:lnTo>
                  <a:pt x="1983874" y="506200"/>
                </a:lnTo>
                <a:lnTo>
                  <a:pt x="1959430" y="468743"/>
                </a:lnTo>
                <a:lnTo>
                  <a:pt x="1933490" y="432389"/>
                </a:lnTo>
                <a:lnTo>
                  <a:pt x="1906100" y="397182"/>
                </a:lnTo>
                <a:lnTo>
                  <a:pt x="1877302" y="363165"/>
                </a:lnTo>
                <a:lnTo>
                  <a:pt x="1847141" y="330382"/>
                </a:lnTo>
                <a:lnTo>
                  <a:pt x="1815658" y="298877"/>
                </a:lnTo>
                <a:lnTo>
                  <a:pt x="1782899" y="268693"/>
                </a:lnTo>
                <a:lnTo>
                  <a:pt x="1748907" y="239874"/>
                </a:lnTo>
                <a:lnTo>
                  <a:pt x="1713726" y="212463"/>
                </a:lnTo>
                <a:lnTo>
                  <a:pt x="1677398" y="186504"/>
                </a:lnTo>
                <a:lnTo>
                  <a:pt x="1639968" y="162042"/>
                </a:lnTo>
                <a:lnTo>
                  <a:pt x="1601479" y="139118"/>
                </a:lnTo>
                <a:lnTo>
                  <a:pt x="1561975" y="117778"/>
                </a:lnTo>
                <a:lnTo>
                  <a:pt x="1521499" y="98065"/>
                </a:lnTo>
                <a:lnTo>
                  <a:pt x="1480095" y="80021"/>
                </a:lnTo>
                <a:lnTo>
                  <a:pt x="1437807" y="63692"/>
                </a:lnTo>
                <a:lnTo>
                  <a:pt x="1394679" y="49121"/>
                </a:lnTo>
                <a:lnTo>
                  <a:pt x="1350752" y="36350"/>
                </a:lnTo>
                <a:lnTo>
                  <a:pt x="1306073" y="25425"/>
                </a:lnTo>
                <a:lnTo>
                  <a:pt x="1260683" y="16388"/>
                </a:lnTo>
                <a:lnTo>
                  <a:pt x="1214627" y="9284"/>
                </a:lnTo>
                <a:lnTo>
                  <a:pt x="1167948" y="4155"/>
                </a:lnTo>
                <a:lnTo>
                  <a:pt x="1120689" y="1046"/>
                </a:lnTo>
                <a:lnTo>
                  <a:pt x="1072896" y="0"/>
                </a:lnTo>
                <a:close/>
              </a:path>
            </a:pathLst>
          </a:custGeom>
          <a:solidFill>
            <a:srgbClr val="3DF9C5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bject 17">
            <a:extLst>
              <a:ext uri="{FF2B5EF4-FFF2-40B4-BE49-F238E27FC236}">
                <a16:creationId xmlns:a16="http://schemas.microsoft.com/office/drawing/2014/main" id="{0A0D860E-FCDD-AF5C-BB62-A2B7DBA0DB46}"/>
              </a:ext>
            </a:extLst>
          </p:cNvPr>
          <p:cNvSpPr/>
          <p:nvPr/>
        </p:nvSpPr>
        <p:spPr>
          <a:xfrm>
            <a:off x="7499604" y="1794480"/>
            <a:ext cx="1840229" cy="1838705"/>
          </a:xfrm>
          <a:prstGeom prst="rect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0C4992B5-3D8B-82D4-E73D-C426BC40F11E}"/>
              </a:ext>
            </a:extLst>
          </p:cNvPr>
          <p:cNvSpPr/>
          <p:nvPr/>
        </p:nvSpPr>
        <p:spPr>
          <a:xfrm>
            <a:off x="7546847" y="1841724"/>
            <a:ext cx="1664335" cy="1663064"/>
          </a:xfrm>
          <a:custGeom>
            <a:avLst/>
            <a:gdLst/>
            <a:ahLst/>
            <a:cxnLst/>
            <a:rect l="l" t="t" r="r" b="b"/>
            <a:pathLst>
              <a:path w="1664334" h="1663064">
                <a:moveTo>
                  <a:pt x="832103" y="0"/>
                </a:moveTo>
                <a:lnTo>
                  <a:pt x="783206" y="1411"/>
                </a:lnTo>
                <a:lnTo>
                  <a:pt x="735052" y="5593"/>
                </a:lnTo>
                <a:lnTo>
                  <a:pt x="687722" y="12468"/>
                </a:lnTo>
                <a:lnTo>
                  <a:pt x="641292" y="21958"/>
                </a:lnTo>
                <a:lnTo>
                  <a:pt x="595842" y="33984"/>
                </a:lnTo>
                <a:lnTo>
                  <a:pt x="551447" y="48469"/>
                </a:lnTo>
                <a:lnTo>
                  <a:pt x="508188" y="65335"/>
                </a:lnTo>
                <a:lnTo>
                  <a:pt x="466141" y="84504"/>
                </a:lnTo>
                <a:lnTo>
                  <a:pt x="425385" y="105897"/>
                </a:lnTo>
                <a:lnTo>
                  <a:pt x="385998" y="129437"/>
                </a:lnTo>
                <a:lnTo>
                  <a:pt x="348058" y="155046"/>
                </a:lnTo>
                <a:lnTo>
                  <a:pt x="311642" y="182646"/>
                </a:lnTo>
                <a:lnTo>
                  <a:pt x="276829" y="212159"/>
                </a:lnTo>
                <a:lnTo>
                  <a:pt x="243697" y="243506"/>
                </a:lnTo>
                <a:lnTo>
                  <a:pt x="212323" y="276610"/>
                </a:lnTo>
                <a:lnTo>
                  <a:pt x="182786" y="311393"/>
                </a:lnTo>
                <a:lnTo>
                  <a:pt x="155164" y="347777"/>
                </a:lnTo>
                <a:lnTo>
                  <a:pt x="129535" y="385683"/>
                </a:lnTo>
                <a:lnTo>
                  <a:pt x="105976" y="425035"/>
                </a:lnTo>
                <a:lnTo>
                  <a:pt x="84566" y="465753"/>
                </a:lnTo>
                <a:lnTo>
                  <a:pt x="65383" y="507759"/>
                </a:lnTo>
                <a:lnTo>
                  <a:pt x="48504" y="550977"/>
                </a:lnTo>
                <a:lnTo>
                  <a:pt x="34008" y="595327"/>
                </a:lnTo>
                <a:lnTo>
                  <a:pt x="21973" y="640733"/>
                </a:lnTo>
                <a:lnTo>
                  <a:pt x="12477" y="687115"/>
                </a:lnTo>
                <a:lnTo>
                  <a:pt x="5597" y="734395"/>
                </a:lnTo>
                <a:lnTo>
                  <a:pt x="1412" y="782497"/>
                </a:lnTo>
                <a:lnTo>
                  <a:pt x="0" y="831341"/>
                </a:lnTo>
                <a:lnTo>
                  <a:pt x="1412" y="880186"/>
                </a:lnTo>
                <a:lnTo>
                  <a:pt x="5597" y="928288"/>
                </a:lnTo>
                <a:lnTo>
                  <a:pt x="12477" y="975568"/>
                </a:lnTo>
                <a:lnTo>
                  <a:pt x="21973" y="1021950"/>
                </a:lnTo>
                <a:lnTo>
                  <a:pt x="34008" y="1067356"/>
                </a:lnTo>
                <a:lnTo>
                  <a:pt x="48504" y="1111706"/>
                </a:lnTo>
                <a:lnTo>
                  <a:pt x="65383" y="1154924"/>
                </a:lnTo>
                <a:lnTo>
                  <a:pt x="84566" y="1196930"/>
                </a:lnTo>
                <a:lnTo>
                  <a:pt x="105976" y="1237648"/>
                </a:lnTo>
                <a:lnTo>
                  <a:pt x="129535" y="1277000"/>
                </a:lnTo>
                <a:lnTo>
                  <a:pt x="155164" y="1314906"/>
                </a:lnTo>
                <a:lnTo>
                  <a:pt x="182786" y="1351290"/>
                </a:lnTo>
                <a:lnTo>
                  <a:pt x="212323" y="1386073"/>
                </a:lnTo>
                <a:lnTo>
                  <a:pt x="243697" y="1419177"/>
                </a:lnTo>
                <a:lnTo>
                  <a:pt x="276829" y="1450524"/>
                </a:lnTo>
                <a:lnTo>
                  <a:pt x="311642" y="1480037"/>
                </a:lnTo>
                <a:lnTo>
                  <a:pt x="348058" y="1507637"/>
                </a:lnTo>
                <a:lnTo>
                  <a:pt x="385998" y="1533246"/>
                </a:lnTo>
                <a:lnTo>
                  <a:pt x="425385" y="1556786"/>
                </a:lnTo>
                <a:lnTo>
                  <a:pt x="466141" y="1578179"/>
                </a:lnTo>
                <a:lnTo>
                  <a:pt x="508188" y="1597348"/>
                </a:lnTo>
                <a:lnTo>
                  <a:pt x="551447" y="1614214"/>
                </a:lnTo>
                <a:lnTo>
                  <a:pt x="595842" y="1628699"/>
                </a:lnTo>
                <a:lnTo>
                  <a:pt x="641292" y="1640725"/>
                </a:lnTo>
                <a:lnTo>
                  <a:pt x="687722" y="1650215"/>
                </a:lnTo>
                <a:lnTo>
                  <a:pt x="735052" y="1657090"/>
                </a:lnTo>
                <a:lnTo>
                  <a:pt x="783206" y="1661272"/>
                </a:lnTo>
                <a:lnTo>
                  <a:pt x="832103" y="1662683"/>
                </a:lnTo>
                <a:lnTo>
                  <a:pt x="881001" y="1661272"/>
                </a:lnTo>
                <a:lnTo>
                  <a:pt x="929155" y="1657090"/>
                </a:lnTo>
                <a:lnTo>
                  <a:pt x="976485" y="1650215"/>
                </a:lnTo>
                <a:lnTo>
                  <a:pt x="1022915" y="1640725"/>
                </a:lnTo>
                <a:lnTo>
                  <a:pt x="1068365" y="1628699"/>
                </a:lnTo>
                <a:lnTo>
                  <a:pt x="1112760" y="1614214"/>
                </a:lnTo>
                <a:lnTo>
                  <a:pt x="1156019" y="1597348"/>
                </a:lnTo>
                <a:lnTo>
                  <a:pt x="1198066" y="1578179"/>
                </a:lnTo>
                <a:lnTo>
                  <a:pt x="1238822" y="1556786"/>
                </a:lnTo>
                <a:lnTo>
                  <a:pt x="1278209" y="1533246"/>
                </a:lnTo>
                <a:lnTo>
                  <a:pt x="1316149" y="1507637"/>
                </a:lnTo>
                <a:lnTo>
                  <a:pt x="1352565" y="1480037"/>
                </a:lnTo>
                <a:lnTo>
                  <a:pt x="1387378" y="1450524"/>
                </a:lnTo>
                <a:lnTo>
                  <a:pt x="1420510" y="1419177"/>
                </a:lnTo>
                <a:lnTo>
                  <a:pt x="1451884" y="1386073"/>
                </a:lnTo>
                <a:lnTo>
                  <a:pt x="1481421" y="1351290"/>
                </a:lnTo>
                <a:lnTo>
                  <a:pt x="1509043" y="1314906"/>
                </a:lnTo>
                <a:lnTo>
                  <a:pt x="1534672" y="1277000"/>
                </a:lnTo>
                <a:lnTo>
                  <a:pt x="1558231" y="1237648"/>
                </a:lnTo>
                <a:lnTo>
                  <a:pt x="1579641" y="1196930"/>
                </a:lnTo>
                <a:lnTo>
                  <a:pt x="1598824" y="1154924"/>
                </a:lnTo>
                <a:lnTo>
                  <a:pt x="1615703" y="1111706"/>
                </a:lnTo>
                <a:lnTo>
                  <a:pt x="1630199" y="1067356"/>
                </a:lnTo>
                <a:lnTo>
                  <a:pt x="1642234" y="1021950"/>
                </a:lnTo>
                <a:lnTo>
                  <a:pt x="1651730" y="975568"/>
                </a:lnTo>
                <a:lnTo>
                  <a:pt x="1658610" y="928288"/>
                </a:lnTo>
                <a:lnTo>
                  <a:pt x="1662795" y="880186"/>
                </a:lnTo>
                <a:lnTo>
                  <a:pt x="1664207" y="831341"/>
                </a:lnTo>
                <a:lnTo>
                  <a:pt x="1662795" y="782497"/>
                </a:lnTo>
                <a:lnTo>
                  <a:pt x="1658610" y="734395"/>
                </a:lnTo>
                <a:lnTo>
                  <a:pt x="1651730" y="687115"/>
                </a:lnTo>
                <a:lnTo>
                  <a:pt x="1642234" y="640733"/>
                </a:lnTo>
                <a:lnTo>
                  <a:pt x="1630199" y="595327"/>
                </a:lnTo>
                <a:lnTo>
                  <a:pt x="1615703" y="550977"/>
                </a:lnTo>
                <a:lnTo>
                  <a:pt x="1598824" y="507759"/>
                </a:lnTo>
                <a:lnTo>
                  <a:pt x="1579641" y="465753"/>
                </a:lnTo>
                <a:lnTo>
                  <a:pt x="1558231" y="425035"/>
                </a:lnTo>
                <a:lnTo>
                  <a:pt x="1534672" y="385683"/>
                </a:lnTo>
                <a:lnTo>
                  <a:pt x="1509043" y="347777"/>
                </a:lnTo>
                <a:lnTo>
                  <a:pt x="1481421" y="311393"/>
                </a:lnTo>
                <a:lnTo>
                  <a:pt x="1451884" y="276610"/>
                </a:lnTo>
                <a:lnTo>
                  <a:pt x="1420510" y="243506"/>
                </a:lnTo>
                <a:lnTo>
                  <a:pt x="1387378" y="212159"/>
                </a:lnTo>
                <a:lnTo>
                  <a:pt x="1352565" y="182646"/>
                </a:lnTo>
                <a:lnTo>
                  <a:pt x="1316149" y="155046"/>
                </a:lnTo>
                <a:lnTo>
                  <a:pt x="1278209" y="129437"/>
                </a:lnTo>
                <a:lnTo>
                  <a:pt x="1238822" y="105897"/>
                </a:lnTo>
                <a:lnTo>
                  <a:pt x="1198066" y="84504"/>
                </a:lnTo>
                <a:lnTo>
                  <a:pt x="1156019" y="65335"/>
                </a:lnTo>
                <a:lnTo>
                  <a:pt x="1112760" y="48469"/>
                </a:lnTo>
                <a:lnTo>
                  <a:pt x="1068365" y="33984"/>
                </a:lnTo>
                <a:lnTo>
                  <a:pt x="1022915" y="21958"/>
                </a:lnTo>
                <a:lnTo>
                  <a:pt x="976485" y="12468"/>
                </a:lnTo>
                <a:lnTo>
                  <a:pt x="929155" y="5593"/>
                </a:lnTo>
                <a:lnTo>
                  <a:pt x="881001" y="1411"/>
                </a:lnTo>
                <a:lnTo>
                  <a:pt x="8321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7CB0E636-FE23-3BF8-7836-D62472B51B30}"/>
              </a:ext>
            </a:extLst>
          </p:cNvPr>
          <p:cNvSpPr/>
          <p:nvPr/>
        </p:nvSpPr>
        <p:spPr>
          <a:xfrm>
            <a:off x="8023859" y="3600419"/>
            <a:ext cx="710565" cy="387350"/>
          </a:xfrm>
          <a:custGeom>
            <a:avLst/>
            <a:gdLst/>
            <a:ahLst/>
            <a:cxnLst/>
            <a:rect l="l" t="t" r="r" b="b"/>
            <a:pathLst>
              <a:path w="710565" h="387350">
                <a:moveTo>
                  <a:pt x="710184" y="0"/>
                </a:moveTo>
                <a:lnTo>
                  <a:pt x="0" y="0"/>
                </a:lnTo>
                <a:lnTo>
                  <a:pt x="355092" y="387096"/>
                </a:lnTo>
                <a:lnTo>
                  <a:pt x="710184" y="0"/>
                </a:lnTo>
                <a:close/>
              </a:path>
            </a:pathLst>
          </a:custGeom>
          <a:solidFill>
            <a:srgbClr val="3DF9C5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bject 20">
            <a:extLst>
              <a:ext uri="{FF2B5EF4-FFF2-40B4-BE49-F238E27FC236}">
                <a16:creationId xmlns:a16="http://schemas.microsoft.com/office/drawing/2014/main" id="{3085C089-0979-5372-7B6A-E9ED3862A69E}"/>
              </a:ext>
            </a:extLst>
          </p:cNvPr>
          <p:cNvSpPr/>
          <p:nvPr/>
        </p:nvSpPr>
        <p:spPr>
          <a:xfrm>
            <a:off x="3304794" y="4094958"/>
            <a:ext cx="335280" cy="335280"/>
          </a:xfrm>
          <a:custGeom>
            <a:avLst/>
            <a:gdLst/>
            <a:ahLst/>
            <a:cxnLst/>
            <a:rect l="l" t="t" r="r" b="b"/>
            <a:pathLst>
              <a:path w="335279" h="335279">
                <a:moveTo>
                  <a:pt x="0" y="167639"/>
                </a:moveTo>
                <a:lnTo>
                  <a:pt x="5988" y="123075"/>
                </a:lnTo>
                <a:lnTo>
                  <a:pt x="22888" y="83029"/>
                </a:lnTo>
                <a:lnTo>
                  <a:pt x="49101" y="49101"/>
                </a:lnTo>
                <a:lnTo>
                  <a:pt x="83029" y="22888"/>
                </a:lnTo>
                <a:lnTo>
                  <a:pt x="123075" y="5988"/>
                </a:lnTo>
                <a:lnTo>
                  <a:pt x="167639" y="0"/>
                </a:lnTo>
                <a:lnTo>
                  <a:pt x="212204" y="5988"/>
                </a:lnTo>
                <a:lnTo>
                  <a:pt x="252250" y="22888"/>
                </a:lnTo>
                <a:lnTo>
                  <a:pt x="286178" y="49101"/>
                </a:lnTo>
                <a:lnTo>
                  <a:pt x="312391" y="83029"/>
                </a:lnTo>
                <a:lnTo>
                  <a:pt x="329291" y="123075"/>
                </a:lnTo>
                <a:lnTo>
                  <a:pt x="335279" y="167639"/>
                </a:lnTo>
                <a:lnTo>
                  <a:pt x="329291" y="212204"/>
                </a:lnTo>
                <a:lnTo>
                  <a:pt x="312391" y="252250"/>
                </a:lnTo>
                <a:lnTo>
                  <a:pt x="286178" y="286178"/>
                </a:lnTo>
                <a:lnTo>
                  <a:pt x="252250" y="312391"/>
                </a:lnTo>
                <a:lnTo>
                  <a:pt x="212204" y="329291"/>
                </a:lnTo>
                <a:lnTo>
                  <a:pt x="167639" y="335279"/>
                </a:lnTo>
                <a:lnTo>
                  <a:pt x="123075" y="329291"/>
                </a:lnTo>
                <a:lnTo>
                  <a:pt x="83029" y="312391"/>
                </a:lnTo>
                <a:lnTo>
                  <a:pt x="49101" y="286178"/>
                </a:lnTo>
                <a:lnTo>
                  <a:pt x="22888" y="252250"/>
                </a:lnTo>
                <a:lnTo>
                  <a:pt x="5988" y="212204"/>
                </a:lnTo>
                <a:lnTo>
                  <a:pt x="0" y="167639"/>
                </a:lnTo>
                <a:close/>
              </a:path>
            </a:pathLst>
          </a:custGeom>
          <a:ln w="28955">
            <a:solidFill>
              <a:srgbClr val="F9F8F8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bject 21">
            <a:extLst>
              <a:ext uri="{FF2B5EF4-FFF2-40B4-BE49-F238E27FC236}">
                <a16:creationId xmlns:a16="http://schemas.microsoft.com/office/drawing/2014/main" id="{9837C793-08E5-AC63-9827-45A631C35C9F}"/>
              </a:ext>
            </a:extLst>
          </p:cNvPr>
          <p:cNvSpPr/>
          <p:nvPr/>
        </p:nvSpPr>
        <p:spPr>
          <a:xfrm>
            <a:off x="3354323" y="4144487"/>
            <a:ext cx="237743" cy="237743"/>
          </a:xfrm>
          <a:prstGeom prst="rect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bject 22">
            <a:extLst>
              <a:ext uri="{FF2B5EF4-FFF2-40B4-BE49-F238E27FC236}">
                <a16:creationId xmlns:a16="http://schemas.microsoft.com/office/drawing/2014/main" id="{A0FF0C12-32A1-B88E-392D-81956B19AFDF}"/>
              </a:ext>
            </a:extLst>
          </p:cNvPr>
          <p:cNvSpPr/>
          <p:nvPr/>
        </p:nvSpPr>
        <p:spPr>
          <a:xfrm>
            <a:off x="8212073" y="4073622"/>
            <a:ext cx="335280" cy="335280"/>
          </a:xfrm>
          <a:custGeom>
            <a:avLst/>
            <a:gdLst/>
            <a:ahLst/>
            <a:cxnLst/>
            <a:rect l="l" t="t" r="r" b="b"/>
            <a:pathLst>
              <a:path w="335279" h="335279">
                <a:moveTo>
                  <a:pt x="0" y="167640"/>
                </a:moveTo>
                <a:lnTo>
                  <a:pt x="5988" y="123075"/>
                </a:lnTo>
                <a:lnTo>
                  <a:pt x="22888" y="83029"/>
                </a:lnTo>
                <a:lnTo>
                  <a:pt x="49101" y="49101"/>
                </a:lnTo>
                <a:lnTo>
                  <a:pt x="83029" y="22888"/>
                </a:lnTo>
                <a:lnTo>
                  <a:pt x="123075" y="5988"/>
                </a:lnTo>
                <a:lnTo>
                  <a:pt x="167640" y="0"/>
                </a:lnTo>
                <a:lnTo>
                  <a:pt x="212204" y="5988"/>
                </a:lnTo>
                <a:lnTo>
                  <a:pt x="252250" y="22888"/>
                </a:lnTo>
                <a:lnTo>
                  <a:pt x="286178" y="49101"/>
                </a:lnTo>
                <a:lnTo>
                  <a:pt x="312391" y="83029"/>
                </a:lnTo>
                <a:lnTo>
                  <a:pt x="329291" y="123075"/>
                </a:lnTo>
                <a:lnTo>
                  <a:pt x="335279" y="167640"/>
                </a:lnTo>
                <a:lnTo>
                  <a:pt x="329291" y="212204"/>
                </a:lnTo>
                <a:lnTo>
                  <a:pt x="312391" y="252250"/>
                </a:lnTo>
                <a:lnTo>
                  <a:pt x="286178" y="286178"/>
                </a:lnTo>
                <a:lnTo>
                  <a:pt x="252250" y="312391"/>
                </a:lnTo>
                <a:lnTo>
                  <a:pt x="212204" y="329291"/>
                </a:lnTo>
                <a:lnTo>
                  <a:pt x="167640" y="335280"/>
                </a:lnTo>
                <a:lnTo>
                  <a:pt x="123075" y="329291"/>
                </a:lnTo>
                <a:lnTo>
                  <a:pt x="83029" y="312391"/>
                </a:lnTo>
                <a:lnTo>
                  <a:pt x="49101" y="286178"/>
                </a:lnTo>
                <a:lnTo>
                  <a:pt x="22888" y="252250"/>
                </a:lnTo>
                <a:lnTo>
                  <a:pt x="5988" y="212204"/>
                </a:lnTo>
                <a:lnTo>
                  <a:pt x="0" y="167640"/>
                </a:lnTo>
                <a:close/>
              </a:path>
            </a:pathLst>
          </a:custGeom>
          <a:ln w="28955">
            <a:solidFill>
              <a:srgbClr val="F9F8F8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bject 23">
            <a:extLst>
              <a:ext uri="{FF2B5EF4-FFF2-40B4-BE49-F238E27FC236}">
                <a16:creationId xmlns:a16="http://schemas.microsoft.com/office/drawing/2014/main" id="{D2681878-B9C6-B7C9-995D-87046FDB17CE}"/>
              </a:ext>
            </a:extLst>
          </p:cNvPr>
          <p:cNvSpPr/>
          <p:nvPr/>
        </p:nvSpPr>
        <p:spPr>
          <a:xfrm>
            <a:off x="8261604" y="4121628"/>
            <a:ext cx="237744" cy="237743"/>
          </a:xfrm>
          <a:prstGeom prst="rect">
            <a:avLst/>
          </a:prstGeom>
          <a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bject 24">
            <a:extLst>
              <a:ext uri="{FF2B5EF4-FFF2-40B4-BE49-F238E27FC236}">
                <a16:creationId xmlns:a16="http://schemas.microsoft.com/office/drawing/2014/main" id="{B55FB3AC-10F8-3C92-786A-D8C4FD113B7A}"/>
              </a:ext>
            </a:extLst>
          </p:cNvPr>
          <p:cNvSpPr/>
          <p:nvPr/>
        </p:nvSpPr>
        <p:spPr>
          <a:xfrm>
            <a:off x="3640073" y="4241261"/>
            <a:ext cx="4572000" cy="22225"/>
          </a:xfrm>
          <a:custGeom>
            <a:avLst/>
            <a:gdLst/>
            <a:ahLst/>
            <a:cxnLst/>
            <a:rect l="l" t="t" r="r" b="b"/>
            <a:pathLst>
              <a:path w="4572000" h="22225">
                <a:moveTo>
                  <a:pt x="0" y="21843"/>
                </a:moveTo>
                <a:lnTo>
                  <a:pt x="4571492" y="0"/>
                </a:lnTo>
              </a:path>
            </a:pathLst>
          </a:custGeom>
          <a:ln w="28956">
            <a:solidFill>
              <a:srgbClr val="F9F8F8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bject 25">
            <a:extLst>
              <a:ext uri="{FF2B5EF4-FFF2-40B4-BE49-F238E27FC236}">
                <a16:creationId xmlns:a16="http://schemas.microsoft.com/office/drawing/2014/main" id="{D987DCE4-738C-BCEA-8D93-FBC02CB1FDC5}"/>
              </a:ext>
            </a:extLst>
          </p:cNvPr>
          <p:cNvSpPr/>
          <p:nvPr/>
        </p:nvSpPr>
        <p:spPr>
          <a:xfrm>
            <a:off x="5758434" y="4073622"/>
            <a:ext cx="335280" cy="335280"/>
          </a:xfrm>
          <a:custGeom>
            <a:avLst/>
            <a:gdLst/>
            <a:ahLst/>
            <a:cxnLst/>
            <a:rect l="l" t="t" r="r" b="b"/>
            <a:pathLst>
              <a:path w="335279" h="335279">
                <a:moveTo>
                  <a:pt x="167639" y="0"/>
                </a:moveTo>
                <a:lnTo>
                  <a:pt x="123075" y="5988"/>
                </a:lnTo>
                <a:lnTo>
                  <a:pt x="83029" y="22888"/>
                </a:lnTo>
                <a:lnTo>
                  <a:pt x="49101" y="49101"/>
                </a:lnTo>
                <a:lnTo>
                  <a:pt x="22888" y="83029"/>
                </a:lnTo>
                <a:lnTo>
                  <a:pt x="5988" y="123075"/>
                </a:lnTo>
                <a:lnTo>
                  <a:pt x="0" y="167640"/>
                </a:lnTo>
                <a:lnTo>
                  <a:pt x="5988" y="212204"/>
                </a:lnTo>
                <a:lnTo>
                  <a:pt x="22888" y="252250"/>
                </a:lnTo>
                <a:lnTo>
                  <a:pt x="49101" y="286178"/>
                </a:lnTo>
                <a:lnTo>
                  <a:pt x="83029" y="312391"/>
                </a:lnTo>
                <a:lnTo>
                  <a:pt x="123075" y="329291"/>
                </a:lnTo>
                <a:lnTo>
                  <a:pt x="167639" y="335280"/>
                </a:lnTo>
                <a:lnTo>
                  <a:pt x="212204" y="329291"/>
                </a:lnTo>
                <a:lnTo>
                  <a:pt x="252250" y="312391"/>
                </a:lnTo>
                <a:lnTo>
                  <a:pt x="286178" y="286178"/>
                </a:lnTo>
                <a:lnTo>
                  <a:pt x="312391" y="252250"/>
                </a:lnTo>
                <a:lnTo>
                  <a:pt x="329291" y="212204"/>
                </a:lnTo>
                <a:lnTo>
                  <a:pt x="335279" y="167640"/>
                </a:lnTo>
                <a:lnTo>
                  <a:pt x="329291" y="123075"/>
                </a:lnTo>
                <a:lnTo>
                  <a:pt x="312391" y="83029"/>
                </a:lnTo>
                <a:lnTo>
                  <a:pt x="286178" y="49101"/>
                </a:lnTo>
                <a:lnTo>
                  <a:pt x="252250" y="22888"/>
                </a:lnTo>
                <a:lnTo>
                  <a:pt x="212204" y="5988"/>
                </a:lnTo>
                <a:lnTo>
                  <a:pt x="1676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bject 26">
            <a:extLst>
              <a:ext uri="{FF2B5EF4-FFF2-40B4-BE49-F238E27FC236}">
                <a16:creationId xmlns:a16="http://schemas.microsoft.com/office/drawing/2014/main" id="{441919BF-345C-FDD0-817B-DD4FFF2CAFCA}"/>
              </a:ext>
            </a:extLst>
          </p:cNvPr>
          <p:cNvSpPr/>
          <p:nvPr/>
        </p:nvSpPr>
        <p:spPr>
          <a:xfrm>
            <a:off x="5758434" y="4073622"/>
            <a:ext cx="335280" cy="335280"/>
          </a:xfrm>
          <a:custGeom>
            <a:avLst/>
            <a:gdLst/>
            <a:ahLst/>
            <a:cxnLst/>
            <a:rect l="l" t="t" r="r" b="b"/>
            <a:pathLst>
              <a:path w="335279" h="335279">
                <a:moveTo>
                  <a:pt x="0" y="167640"/>
                </a:moveTo>
                <a:lnTo>
                  <a:pt x="5988" y="123075"/>
                </a:lnTo>
                <a:lnTo>
                  <a:pt x="22888" y="83029"/>
                </a:lnTo>
                <a:lnTo>
                  <a:pt x="49101" y="49101"/>
                </a:lnTo>
                <a:lnTo>
                  <a:pt x="83029" y="22888"/>
                </a:lnTo>
                <a:lnTo>
                  <a:pt x="123075" y="5988"/>
                </a:lnTo>
                <a:lnTo>
                  <a:pt x="167639" y="0"/>
                </a:lnTo>
                <a:lnTo>
                  <a:pt x="212204" y="5988"/>
                </a:lnTo>
                <a:lnTo>
                  <a:pt x="252250" y="22888"/>
                </a:lnTo>
                <a:lnTo>
                  <a:pt x="286178" y="49101"/>
                </a:lnTo>
                <a:lnTo>
                  <a:pt x="312391" y="83029"/>
                </a:lnTo>
                <a:lnTo>
                  <a:pt x="329291" y="123075"/>
                </a:lnTo>
                <a:lnTo>
                  <a:pt x="335279" y="167640"/>
                </a:lnTo>
                <a:lnTo>
                  <a:pt x="329291" y="212204"/>
                </a:lnTo>
                <a:lnTo>
                  <a:pt x="312391" y="252250"/>
                </a:lnTo>
                <a:lnTo>
                  <a:pt x="286178" y="286178"/>
                </a:lnTo>
                <a:lnTo>
                  <a:pt x="252250" y="312391"/>
                </a:lnTo>
                <a:lnTo>
                  <a:pt x="212204" y="329291"/>
                </a:lnTo>
                <a:lnTo>
                  <a:pt x="167639" y="335280"/>
                </a:lnTo>
                <a:lnTo>
                  <a:pt x="123075" y="329291"/>
                </a:lnTo>
                <a:lnTo>
                  <a:pt x="83029" y="312391"/>
                </a:lnTo>
                <a:lnTo>
                  <a:pt x="49101" y="286178"/>
                </a:lnTo>
                <a:lnTo>
                  <a:pt x="22888" y="252250"/>
                </a:lnTo>
                <a:lnTo>
                  <a:pt x="5988" y="212204"/>
                </a:lnTo>
                <a:lnTo>
                  <a:pt x="0" y="167640"/>
                </a:lnTo>
                <a:close/>
              </a:path>
            </a:pathLst>
          </a:custGeom>
          <a:ln w="28955">
            <a:solidFill>
              <a:srgbClr val="F9F8F8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77E8E0D6-B20F-0C3F-B719-23ED82CA1AFD}"/>
              </a:ext>
            </a:extLst>
          </p:cNvPr>
          <p:cNvSpPr/>
          <p:nvPr/>
        </p:nvSpPr>
        <p:spPr>
          <a:xfrm>
            <a:off x="5807964" y="4121628"/>
            <a:ext cx="237743" cy="237743"/>
          </a:xfrm>
          <a:prstGeom prst="rect">
            <a:avLst/>
          </a:prstGeom>
          <a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E434917-F635-2BCB-896B-CAFD0A772311}"/>
              </a:ext>
            </a:extLst>
          </p:cNvPr>
          <p:cNvGrpSpPr/>
          <p:nvPr/>
        </p:nvGrpSpPr>
        <p:grpSpPr>
          <a:xfrm>
            <a:off x="7940759" y="2165300"/>
            <a:ext cx="882650" cy="1007744"/>
            <a:chOff x="3031866" y="2165300"/>
            <a:chExt cx="882650" cy="1007744"/>
          </a:xfrm>
          <a:solidFill>
            <a:schemeClr val="accent6"/>
          </a:solidFill>
        </p:grpSpPr>
        <p:sp>
          <p:nvSpPr>
            <p:cNvPr id="27" name="object 28">
              <a:extLst>
                <a:ext uri="{FF2B5EF4-FFF2-40B4-BE49-F238E27FC236}">
                  <a16:creationId xmlns:a16="http://schemas.microsoft.com/office/drawing/2014/main" id="{D19B47A3-9D1D-58C0-2754-A83314CBA31E}"/>
                </a:ext>
              </a:extLst>
            </p:cNvPr>
            <p:cNvSpPr/>
            <p:nvPr/>
          </p:nvSpPr>
          <p:spPr>
            <a:xfrm>
              <a:off x="3446278" y="2449688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70" h="52069">
                  <a:moveTo>
                    <a:pt x="25930" y="0"/>
                  </a:moveTo>
                  <a:lnTo>
                    <a:pt x="15839" y="2030"/>
                  </a:lnTo>
                  <a:lnTo>
                    <a:pt x="7596" y="7569"/>
                  </a:lnTo>
                  <a:lnTo>
                    <a:pt x="2038" y="15785"/>
                  </a:lnTo>
                  <a:lnTo>
                    <a:pt x="0" y="25849"/>
                  </a:lnTo>
                  <a:lnTo>
                    <a:pt x="2038" y="35909"/>
                  </a:lnTo>
                  <a:lnTo>
                    <a:pt x="7596" y="44125"/>
                  </a:lnTo>
                  <a:lnTo>
                    <a:pt x="15839" y="49666"/>
                  </a:lnTo>
                  <a:lnTo>
                    <a:pt x="25930" y="51699"/>
                  </a:lnTo>
                  <a:lnTo>
                    <a:pt x="36021" y="49666"/>
                  </a:lnTo>
                  <a:lnTo>
                    <a:pt x="44263" y="44125"/>
                  </a:lnTo>
                  <a:lnTo>
                    <a:pt x="49822" y="35909"/>
                  </a:lnTo>
                  <a:lnTo>
                    <a:pt x="51860" y="25849"/>
                  </a:lnTo>
                  <a:lnTo>
                    <a:pt x="49822" y="15785"/>
                  </a:lnTo>
                  <a:lnTo>
                    <a:pt x="44263" y="7569"/>
                  </a:lnTo>
                  <a:lnTo>
                    <a:pt x="36021" y="2030"/>
                  </a:lnTo>
                  <a:lnTo>
                    <a:pt x="2593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object 29">
              <a:extLst>
                <a:ext uri="{FF2B5EF4-FFF2-40B4-BE49-F238E27FC236}">
                  <a16:creationId xmlns:a16="http://schemas.microsoft.com/office/drawing/2014/main" id="{0A14A12D-988A-D76A-66B7-F8E7CE68233A}"/>
                </a:ext>
              </a:extLst>
            </p:cNvPr>
            <p:cNvSpPr/>
            <p:nvPr/>
          </p:nvSpPr>
          <p:spPr>
            <a:xfrm>
              <a:off x="3446278" y="2966679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70" h="52070">
                  <a:moveTo>
                    <a:pt x="25930" y="0"/>
                  </a:moveTo>
                  <a:lnTo>
                    <a:pt x="15839" y="2030"/>
                  </a:lnTo>
                  <a:lnTo>
                    <a:pt x="7596" y="7569"/>
                  </a:lnTo>
                  <a:lnTo>
                    <a:pt x="2038" y="15785"/>
                  </a:lnTo>
                  <a:lnTo>
                    <a:pt x="0" y="25849"/>
                  </a:lnTo>
                  <a:lnTo>
                    <a:pt x="2038" y="35909"/>
                  </a:lnTo>
                  <a:lnTo>
                    <a:pt x="7596" y="44125"/>
                  </a:lnTo>
                  <a:lnTo>
                    <a:pt x="15839" y="49666"/>
                  </a:lnTo>
                  <a:lnTo>
                    <a:pt x="25930" y="51699"/>
                  </a:lnTo>
                  <a:lnTo>
                    <a:pt x="36021" y="49666"/>
                  </a:lnTo>
                  <a:lnTo>
                    <a:pt x="44263" y="44125"/>
                  </a:lnTo>
                  <a:lnTo>
                    <a:pt x="49822" y="35909"/>
                  </a:lnTo>
                  <a:lnTo>
                    <a:pt x="51860" y="25849"/>
                  </a:lnTo>
                  <a:lnTo>
                    <a:pt x="49822" y="15785"/>
                  </a:lnTo>
                  <a:lnTo>
                    <a:pt x="44263" y="7569"/>
                  </a:lnTo>
                  <a:lnTo>
                    <a:pt x="36021" y="2030"/>
                  </a:lnTo>
                  <a:lnTo>
                    <a:pt x="2593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30">
              <a:extLst>
                <a:ext uri="{FF2B5EF4-FFF2-40B4-BE49-F238E27FC236}">
                  <a16:creationId xmlns:a16="http://schemas.microsoft.com/office/drawing/2014/main" id="{8404C33A-7004-10B2-CF51-5339CE9F7C92}"/>
                </a:ext>
              </a:extLst>
            </p:cNvPr>
            <p:cNvSpPr/>
            <p:nvPr/>
          </p:nvSpPr>
          <p:spPr>
            <a:xfrm>
              <a:off x="3705582" y="2695259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70" h="52069">
                  <a:moveTo>
                    <a:pt x="25930" y="0"/>
                  </a:moveTo>
                  <a:lnTo>
                    <a:pt x="15839" y="2030"/>
                  </a:lnTo>
                  <a:lnTo>
                    <a:pt x="7596" y="7569"/>
                  </a:lnTo>
                  <a:lnTo>
                    <a:pt x="2038" y="15785"/>
                  </a:lnTo>
                  <a:lnTo>
                    <a:pt x="0" y="25849"/>
                  </a:lnTo>
                  <a:lnTo>
                    <a:pt x="2038" y="35909"/>
                  </a:lnTo>
                  <a:lnTo>
                    <a:pt x="7596" y="44125"/>
                  </a:lnTo>
                  <a:lnTo>
                    <a:pt x="15839" y="49666"/>
                  </a:lnTo>
                  <a:lnTo>
                    <a:pt x="25930" y="51699"/>
                  </a:lnTo>
                  <a:lnTo>
                    <a:pt x="36021" y="49666"/>
                  </a:lnTo>
                  <a:lnTo>
                    <a:pt x="44263" y="44125"/>
                  </a:lnTo>
                  <a:lnTo>
                    <a:pt x="49822" y="35909"/>
                  </a:lnTo>
                  <a:lnTo>
                    <a:pt x="51860" y="25849"/>
                  </a:lnTo>
                  <a:lnTo>
                    <a:pt x="49822" y="15785"/>
                  </a:lnTo>
                  <a:lnTo>
                    <a:pt x="44263" y="7569"/>
                  </a:lnTo>
                  <a:lnTo>
                    <a:pt x="36021" y="2030"/>
                  </a:lnTo>
                  <a:lnTo>
                    <a:pt x="2593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bject 31">
              <a:extLst>
                <a:ext uri="{FF2B5EF4-FFF2-40B4-BE49-F238E27FC236}">
                  <a16:creationId xmlns:a16="http://schemas.microsoft.com/office/drawing/2014/main" id="{56F035B0-4067-2CB8-4685-3A5A07720B5E}"/>
                </a:ext>
              </a:extLst>
            </p:cNvPr>
            <p:cNvSpPr/>
            <p:nvPr/>
          </p:nvSpPr>
          <p:spPr>
            <a:xfrm>
              <a:off x="3186975" y="2695259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25930" y="0"/>
                  </a:moveTo>
                  <a:lnTo>
                    <a:pt x="15839" y="2030"/>
                  </a:lnTo>
                  <a:lnTo>
                    <a:pt x="7596" y="7569"/>
                  </a:lnTo>
                  <a:lnTo>
                    <a:pt x="2038" y="15785"/>
                  </a:lnTo>
                  <a:lnTo>
                    <a:pt x="0" y="25849"/>
                  </a:lnTo>
                  <a:lnTo>
                    <a:pt x="2038" y="35909"/>
                  </a:lnTo>
                  <a:lnTo>
                    <a:pt x="7596" y="44125"/>
                  </a:lnTo>
                  <a:lnTo>
                    <a:pt x="15839" y="49666"/>
                  </a:lnTo>
                  <a:lnTo>
                    <a:pt x="25930" y="51699"/>
                  </a:lnTo>
                  <a:lnTo>
                    <a:pt x="36021" y="49666"/>
                  </a:lnTo>
                  <a:lnTo>
                    <a:pt x="44263" y="44125"/>
                  </a:lnTo>
                  <a:lnTo>
                    <a:pt x="49822" y="35909"/>
                  </a:lnTo>
                  <a:lnTo>
                    <a:pt x="51860" y="25849"/>
                  </a:lnTo>
                  <a:lnTo>
                    <a:pt x="49822" y="15785"/>
                  </a:lnTo>
                  <a:lnTo>
                    <a:pt x="44263" y="7569"/>
                  </a:lnTo>
                  <a:lnTo>
                    <a:pt x="36021" y="2030"/>
                  </a:lnTo>
                  <a:lnTo>
                    <a:pt x="2593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bject 32">
              <a:extLst>
                <a:ext uri="{FF2B5EF4-FFF2-40B4-BE49-F238E27FC236}">
                  <a16:creationId xmlns:a16="http://schemas.microsoft.com/office/drawing/2014/main" id="{7C8AF70A-0A96-A91E-31F6-17CA8DFAA8EA}"/>
                </a:ext>
              </a:extLst>
            </p:cNvPr>
            <p:cNvSpPr/>
            <p:nvPr/>
          </p:nvSpPr>
          <p:spPr>
            <a:xfrm>
              <a:off x="3446278" y="2540162"/>
              <a:ext cx="172720" cy="327025"/>
            </a:xfrm>
            <a:custGeom>
              <a:avLst/>
              <a:gdLst/>
              <a:ahLst/>
              <a:cxnLst/>
              <a:rect l="l" t="t" r="r" b="b"/>
              <a:pathLst>
                <a:path w="172720" h="327025">
                  <a:moveTo>
                    <a:pt x="51860" y="0"/>
                  </a:moveTo>
                  <a:lnTo>
                    <a:pt x="0" y="0"/>
                  </a:lnTo>
                  <a:lnTo>
                    <a:pt x="0" y="187409"/>
                  </a:lnTo>
                  <a:lnTo>
                    <a:pt x="2593" y="193871"/>
                  </a:lnTo>
                  <a:lnTo>
                    <a:pt x="136134" y="326996"/>
                  </a:lnTo>
                  <a:lnTo>
                    <a:pt x="172437" y="290807"/>
                  </a:lnTo>
                  <a:lnTo>
                    <a:pt x="51860" y="170606"/>
                  </a:lnTo>
                  <a:lnTo>
                    <a:pt x="5186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object 33">
              <a:extLst>
                <a:ext uri="{FF2B5EF4-FFF2-40B4-BE49-F238E27FC236}">
                  <a16:creationId xmlns:a16="http://schemas.microsoft.com/office/drawing/2014/main" id="{6EE35DF8-E512-9AF9-D65C-618F13E6D753}"/>
                </a:ext>
              </a:extLst>
            </p:cNvPr>
            <p:cNvSpPr/>
            <p:nvPr/>
          </p:nvSpPr>
          <p:spPr>
            <a:xfrm>
              <a:off x="3031866" y="2165300"/>
              <a:ext cx="882650" cy="1007744"/>
            </a:xfrm>
            <a:custGeom>
              <a:avLst/>
              <a:gdLst/>
              <a:ahLst/>
              <a:cxnLst/>
              <a:rect l="l" t="t" r="r" b="b"/>
              <a:pathLst>
                <a:path w="882650" h="1007745">
                  <a:moveTo>
                    <a:pt x="479238" y="77591"/>
                  </a:moveTo>
                  <a:lnTo>
                    <a:pt x="401447" y="77591"/>
                  </a:lnTo>
                  <a:lnTo>
                    <a:pt x="401447" y="130583"/>
                  </a:lnTo>
                  <a:lnTo>
                    <a:pt x="354633" y="137216"/>
                  </a:lnTo>
                  <a:lnTo>
                    <a:pt x="309519" y="148594"/>
                  </a:lnTo>
                  <a:lnTo>
                    <a:pt x="266378" y="164458"/>
                  </a:lnTo>
                  <a:lnTo>
                    <a:pt x="225481" y="184550"/>
                  </a:lnTo>
                  <a:lnTo>
                    <a:pt x="187102" y="208614"/>
                  </a:lnTo>
                  <a:lnTo>
                    <a:pt x="151513" y="236390"/>
                  </a:lnTo>
                  <a:lnTo>
                    <a:pt x="118987" y="267623"/>
                  </a:lnTo>
                  <a:lnTo>
                    <a:pt x="89796" y="302053"/>
                  </a:lnTo>
                  <a:lnTo>
                    <a:pt x="64213" y="339424"/>
                  </a:lnTo>
                  <a:lnTo>
                    <a:pt x="42511" y="379477"/>
                  </a:lnTo>
                  <a:lnTo>
                    <a:pt x="24962" y="421955"/>
                  </a:lnTo>
                  <a:lnTo>
                    <a:pt x="11839" y="466601"/>
                  </a:lnTo>
                  <a:lnTo>
                    <a:pt x="3415" y="513156"/>
                  </a:lnTo>
                  <a:lnTo>
                    <a:pt x="0" y="560343"/>
                  </a:lnTo>
                  <a:lnTo>
                    <a:pt x="1590" y="606846"/>
                  </a:lnTo>
                  <a:lnTo>
                    <a:pt x="7993" y="652346"/>
                  </a:lnTo>
                  <a:lnTo>
                    <a:pt x="19014" y="696526"/>
                  </a:lnTo>
                  <a:lnTo>
                    <a:pt x="34456" y="739069"/>
                  </a:lnTo>
                  <a:lnTo>
                    <a:pt x="54126" y="779655"/>
                  </a:lnTo>
                  <a:lnTo>
                    <a:pt x="77830" y="817969"/>
                  </a:lnTo>
                  <a:lnTo>
                    <a:pt x="105371" y="853692"/>
                  </a:lnTo>
                  <a:lnTo>
                    <a:pt x="136556" y="886506"/>
                  </a:lnTo>
                  <a:lnTo>
                    <a:pt x="171190" y="916094"/>
                  </a:lnTo>
                  <a:lnTo>
                    <a:pt x="209077" y="942139"/>
                  </a:lnTo>
                  <a:lnTo>
                    <a:pt x="250024" y="964321"/>
                  </a:lnTo>
                  <a:lnTo>
                    <a:pt x="293835" y="982325"/>
                  </a:lnTo>
                  <a:lnTo>
                    <a:pt x="339325" y="995605"/>
                  </a:lnTo>
                  <a:lnTo>
                    <a:pt x="385203" y="1003909"/>
                  </a:lnTo>
                  <a:lnTo>
                    <a:pt x="431124" y="1007352"/>
                  </a:lnTo>
                  <a:lnTo>
                    <a:pt x="476741" y="1006051"/>
                  </a:lnTo>
                  <a:lnTo>
                    <a:pt x="521706" y="1000123"/>
                  </a:lnTo>
                  <a:lnTo>
                    <a:pt x="565673" y="989684"/>
                  </a:lnTo>
                  <a:lnTo>
                    <a:pt x="608294" y="974850"/>
                  </a:lnTo>
                  <a:lnTo>
                    <a:pt x="649222" y="955738"/>
                  </a:lnTo>
                  <a:lnTo>
                    <a:pt x="688111" y="932465"/>
                  </a:lnTo>
                  <a:lnTo>
                    <a:pt x="690569" y="930626"/>
                  </a:lnTo>
                  <a:lnTo>
                    <a:pt x="440342" y="930626"/>
                  </a:lnTo>
                  <a:lnTo>
                    <a:pt x="390984" y="927331"/>
                  </a:lnTo>
                  <a:lnTo>
                    <a:pt x="343673" y="917731"/>
                  </a:lnTo>
                  <a:lnTo>
                    <a:pt x="298839" y="902252"/>
                  </a:lnTo>
                  <a:lnTo>
                    <a:pt x="256909" y="881320"/>
                  </a:lnTo>
                  <a:lnTo>
                    <a:pt x="218309" y="855362"/>
                  </a:lnTo>
                  <a:lnTo>
                    <a:pt x="183469" y="824804"/>
                  </a:lnTo>
                  <a:lnTo>
                    <a:pt x="152816" y="790073"/>
                  </a:lnTo>
                  <a:lnTo>
                    <a:pt x="126777" y="751594"/>
                  </a:lnTo>
                  <a:lnTo>
                    <a:pt x="105779" y="709794"/>
                  </a:lnTo>
                  <a:lnTo>
                    <a:pt x="90252" y="665100"/>
                  </a:lnTo>
                  <a:lnTo>
                    <a:pt x="80622" y="617937"/>
                  </a:lnTo>
                  <a:lnTo>
                    <a:pt x="77317" y="568732"/>
                  </a:lnTo>
                  <a:lnTo>
                    <a:pt x="80622" y="519528"/>
                  </a:lnTo>
                  <a:lnTo>
                    <a:pt x="90252" y="472365"/>
                  </a:lnTo>
                  <a:lnTo>
                    <a:pt x="105779" y="427671"/>
                  </a:lnTo>
                  <a:lnTo>
                    <a:pt x="126777" y="385871"/>
                  </a:lnTo>
                  <a:lnTo>
                    <a:pt x="152816" y="347392"/>
                  </a:lnTo>
                  <a:lnTo>
                    <a:pt x="183469" y="312660"/>
                  </a:lnTo>
                  <a:lnTo>
                    <a:pt x="218309" y="282102"/>
                  </a:lnTo>
                  <a:lnTo>
                    <a:pt x="256909" y="256144"/>
                  </a:lnTo>
                  <a:lnTo>
                    <a:pt x="298839" y="235213"/>
                  </a:lnTo>
                  <a:lnTo>
                    <a:pt x="343673" y="219734"/>
                  </a:lnTo>
                  <a:lnTo>
                    <a:pt x="390984" y="210134"/>
                  </a:lnTo>
                  <a:lnTo>
                    <a:pt x="440342" y="206839"/>
                  </a:lnTo>
                  <a:lnTo>
                    <a:pt x="791344" y="206839"/>
                  </a:lnTo>
                  <a:lnTo>
                    <a:pt x="792955" y="204254"/>
                  </a:lnTo>
                  <a:lnTo>
                    <a:pt x="686681" y="204254"/>
                  </a:lnTo>
                  <a:lnTo>
                    <a:pt x="638406" y="176223"/>
                  </a:lnTo>
                  <a:lnTo>
                    <a:pt x="587335" y="154494"/>
                  </a:lnTo>
                  <a:lnTo>
                    <a:pt x="534076" y="139549"/>
                  </a:lnTo>
                  <a:lnTo>
                    <a:pt x="479238" y="131875"/>
                  </a:lnTo>
                  <a:lnTo>
                    <a:pt x="479238" y="77591"/>
                  </a:lnTo>
                  <a:close/>
                </a:path>
                <a:path w="882650" h="1007745">
                  <a:moveTo>
                    <a:pt x="791344" y="206839"/>
                  </a:moveTo>
                  <a:lnTo>
                    <a:pt x="440342" y="206839"/>
                  </a:lnTo>
                  <a:lnTo>
                    <a:pt x="489701" y="210134"/>
                  </a:lnTo>
                  <a:lnTo>
                    <a:pt x="537011" y="219734"/>
                  </a:lnTo>
                  <a:lnTo>
                    <a:pt x="581845" y="235213"/>
                  </a:lnTo>
                  <a:lnTo>
                    <a:pt x="623776" y="256144"/>
                  </a:lnTo>
                  <a:lnTo>
                    <a:pt x="662375" y="282102"/>
                  </a:lnTo>
                  <a:lnTo>
                    <a:pt x="697215" y="312660"/>
                  </a:lnTo>
                  <a:lnTo>
                    <a:pt x="727869" y="347392"/>
                  </a:lnTo>
                  <a:lnTo>
                    <a:pt x="753908" y="385871"/>
                  </a:lnTo>
                  <a:lnTo>
                    <a:pt x="774905" y="427671"/>
                  </a:lnTo>
                  <a:lnTo>
                    <a:pt x="790432" y="472365"/>
                  </a:lnTo>
                  <a:lnTo>
                    <a:pt x="800062" y="519528"/>
                  </a:lnTo>
                  <a:lnTo>
                    <a:pt x="803368" y="568732"/>
                  </a:lnTo>
                  <a:lnTo>
                    <a:pt x="800062" y="617937"/>
                  </a:lnTo>
                  <a:lnTo>
                    <a:pt x="790432" y="665100"/>
                  </a:lnTo>
                  <a:lnTo>
                    <a:pt x="774905" y="709794"/>
                  </a:lnTo>
                  <a:lnTo>
                    <a:pt x="753908" y="751594"/>
                  </a:lnTo>
                  <a:lnTo>
                    <a:pt x="727869" y="790073"/>
                  </a:lnTo>
                  <a:lnTo>
                    <a:pt x="697215" y="824804"/>
                  </a:lnTo>
                  <a:lnTo>
                    <a:pt x="662375" y="855362"/>
                  </a:lnTo>
                  <a:lnTo>
                    <a:pt x="623776" y="881320"/>
                  </a:lnTo>
                  <a:lnTo>
                    <a:pt x="581845" y="902252"/>
                  </a:lnTo>
                  <a:lnTo>
                    <a:pt x="537011" y="917731"/>
                  </a:lnTo>
                  <a:lnTo>
                    <a:pt x="489701" y="927331"/>
                  </a:lnTo>
                  <a:lnTo>
                    <a:pt x="440342" y="930626"/>
                  </a:lnTo>
                  <a:lnTo>
                    <a:pt x="690569" y="930626"/>
                  </a:lnTo>
                  <a:lnTo>
                    <a:pt x="724614" y="905147"/>
                  </a:lnTo>
                  <a:lnTo>
                    <a:pt x="758383" y="873900"/>
                  </a:lnTo>
                  <a:lnTo>
                    <a:pt x="789072" y="838840"/>
                  </a:lnTo>
                  <a:lnTo>
                    <a:pt x="816333" y="800086"/>
                  </a:lnTo>
                  <a:lnTo>
                    <a:pt x="839267" y="758666"/>
                  </a:lnTo>
                  <a:lnTo>
                    <a:pt x="857251" y="715781"/>
                  </a:lnTo>
                  <a:lnTo>
                    <a:pt x="870353" y="671802"/>
                  </a:lnTo>
                  <a:lnTo>
                    <a:pt x="878639" y="627100"/>
                  </a:lnTo>
                  <a:lnTo>
                    <a:pt x="882177" y="582044"/>
                  </a:lnTo>
                  <a:lnTo>
                    <a:pt x="881034" y="537006"/>
                  </a:lnTo>
                  <a:lnTo>
                    <a:pt x="875277" y="492357"/>
                  </a:lnTo>
                  <a:lnTo>
                    <a:pt x="864974" y="448466"/>
                  </a:lnTo>
                  <a:lnTo>
                    <a:pt x="850192" y="405705"/>
                  </a:lnTo>
                  <a:lnTo>
                    <a:pt x="830998" y="364444"/>
                  </a:lnTo>
                  <a:lnTo>
                    <a:pt x="807459" y="325054"/>
                  </a:lnTo>
                  <a:lnTo>
                    <a:pt x="779643" y="287905"/>
                  </a:lnTo>
                  <a:lnTo>
                    <a:pt x="747617" y="253368"/>
                  </a:lnTo>
                  <a:lnTo>
                    <a:pt x="786513" y="214594"/>
                  </a:lnTo>
                  <a:lnTo>
                    <a:pt x="791344" y="206839"/>
                  </a:lnTo>
                  <a:close/>
                </a:path>
                <a:path w="882650" h="1007745">
                  <a:moveTo>
                    <a:pt x="758476" y="149001"/>
                  </a:moveTo>
                  <a:lnTo>
                    <a:pt x="743829" y="151222"/>
                  </a:lnTo>
                  <a:lnTo>
                    <a:pt x="730762" y="159017"/>
                  </a:lnTo>
                  <a:lnTo>
                    <a:pt x="686681" y="204254"/>
                  </a:lnTo>
                  <a:lnTo>
                    <a:pt x="792955" y="204254"/>
                  </a:lnTo>
                  <a:lnTo>
                    <a:pt x="794515" y="201750"/>
                  </a:lnTo>
                  <a:lnTo>
                    <a:pt x="797047" y="187452"/>
                  </a:lnTo>
                  <a:lnTo>
                    <a:pt x="793988" y="173154"/>
                  </a:lnTo>
                  <a:lnTo>
                    <a:pt x="785216" y="160310"/>
                  </a:lnTo>
                  <a:lnTo>
                    <a:pt x="772879" y="152111"/>
                  </a:lnTo>
                  <a:lnTo>
                    <a:pt x="758476" y="149001"/>
                  </a:lnTo>
                  <a:close/>
                </a:path>
                <a:path w="882650" h="1007745">
                  <a:moveTo>
                    <a:pt x="595924" y="0"/>
                  </a:moveTo>
                  <a:lnTo>
                    <a:pt x="284760" y="0"/>
                  </a:lnTo>
                  <a:lnTo>
                    <a:pt x="284760" y="77591"/>
                  </a:lnTo>
                  <a:lnTo>
                    <a:pt x="595924" y="77591"/>
                  </a:lnTo>
                  <a:lnTo>
                    <a:pt x="59592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ED45CD0-141E-5EAA-2362-8E468B555CDB}"/>
              </a:ext>
            </a:extLst>
          </p:cNvPr>
          <p:cNvGrpSpPr/>
          <p:nvPr/>
        </p:nvGrpSpPr>
        <p:grpSpPr>
          <a:xfrm>
            <a:off x="5605518" y="2126526"/>
            <a:ext cx="674370" cy="1085722"/>
            <a:chOff x="5605518" y="2126526"/>
            <a:chExt cx="674370" cy="1085722"/>
          </a:xfrm>
          <a:solidFill>
            <a:schemeClr val="accent6"/>
          </a:solidFill>
        </p:grpSpPr>
        <p:sp>
          <p:nvSpPr>
            <p:cNvPr id="33" name="object 34">
              <a:extLst>
                <a:ext uri="{FF2B5EF4-FFF2-40B4-BE49-F238E27FC236}">
                  <a16:creationId xmlns:a16="http://schemas.microsoft.com/office/drawing/2014/main" id="{A19DDB72-F817-75D9-8ACF-7CE78BECCC8B}"/>
                </a:ext>
              </a:extLst>
            </p:cNvPr>
            <p:cNvSpPr/>
            <p:nvPr/>
          </p:nvSpPr>
          <p:spPr>
            <a:xfrm>
              <a:off x="5774065" y="2876206"/>
              <a:ext cx="337185" cy="78105"/>
            </a:xfrm>
            <a:custGeom>
              <a:avLst/>
              <a:gdLst/>
              <a:ahLst/>
              <a:cxnLst/>
              <a:rect l="l" t="t" r="r" b="b"/>
              <a:pathLst>
                <a:path w="337185" h="78104">
                  <a:moveTo>
                    <a:pt x="298199" y="0"/>
                  </a:moveTo>
                  <a:lnTo>
                    <a:pt x="38895" y="0"/>
                  </a:lnTo>
                  <a:lnTo>
                    <a:pt x="23519" y="2968"/>
                  </a:lnTo>
                  <a:lnTo>
                    <a:pt x="11182" y="11147"/>
                  </a:lnTo>
                  <a:lnTo>
                    <a:pt x="2977" y="23446"/>
                  </a:lnTo>
                  <a:lnTo>
                    <a:pt x="0" y="38774"/>
                  </a:lnTo>
                  <a:lnTo>
                    <a:pt x="2977" y="54102"/>
                  </a:lnTo>
                  <a:lnTo>
                    <a:pt x="11182" y="66400"/>
                  </a:lnTo>
                  <a:lnTo>
                    <a:pt x="23519" y="74579"/>
                  </a:lnTo>
                  <a:lnTo>
                    <a:pt x="38895" y="77548"/>
                  </a:lnTo>
                  <a:lnTo>
                    <a:pt x="298199" y="77548"/>
                  </a:lnTo>
                  <a:lnTo>
                    <a:pt x="313575" y="74579"/>
                  </a:lnTo>
                  <a:lnTo>
                    <a:pt x="325912" y="66400"/>
                  </a:lnTo>
                  <a:lnTo>
                    <a:pt x="334117" y="54102"/>
                  </a:lnTo>
                  <a:lnTo>
                    <a:pt x="337094" y="38774"/>
                  </a:lnTo>
                  <a:lnTo>
                    <a:pt x="334117" y="23446"/>
                  </a:lnTo>
                  <a:lnTo>
                    <a:pt x="325912" y="11147"/>
                  </a:lnTo>
                  <a:lnTo>
                    <a:pt x="313575" y="2968"/>
                  </a:lnTo>
                  <a:lnTo>
                    <a:pt x="29819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object 35">
              <a:extLst>
                <a:ext uri="{FF2B5EF4-FFF2-40B4-BE49-F238E27FC236}">
                  <a16:creationId xmlns:a16="http://schemas.microsoft.com/office/drawing/2014/main" id="{5C256427-C1FB-9AC1-658D-81904F56591A}"/>
                </a:ext>
              </a:extLst>
            </p:cNvPr>
            <p:cNvSpPr/>
            <p:nvPr/>
          </p:nvSpPr>
          <p:spPr>
            <a:xfrm>
              <a:off x="5774065" y="3005453"/>
              <a:ext cx="337185" cy="78105"/>
            </a:xfrm>
            <a:custGeom>
              <a:avLst/>
              <a:gdLst/>
              <a:ahLst/>
              <a:cxnLst/>
              <a:rect l="l" t="t" r="r" b="b"/>
              <a:pathLst>
                <a:path w="337185" h="78104">
                  <a:moveTo>
                    <a:pt x="298199" y="0"/>
                  </a:moveTo>
                  <a:lnTo>
                    <a:pt x="38895" y="0"/>
                  </a:lnTo>
                  <a:lnTo>
                    <a:pt x="23519" y="2968"/>
                  </a:lnTo>
                  <a:lnTo>
                    <a:pt x="11182" y="11147"/>
                  </a:lnTo>
                  <a:lnTo>
                    <a:pt x="2977" y="23446"/>
                  </a:lnTo>
                  <a:lnTo>
                    <a:pt x="0" y="38774"/>
                  </a:lnTo>
                  <a:lnTo>
                    <a:pt x="2977" y="54102"/>
                  </a:lnTo>
                  <a:lnTo>
                    <a:pt x="11182" y="66400"/>
                  </a:lnTo>
                  <a:lnTo>
                    <a:pt x="23519" y="74579"/>
                  </a:lnTo>
                  <a:lnTo>
                    <a:pt x="38895" y="77548"/>
                  </a:lnTo>
                  <a:lnTo>
                    <a:pt x="298199" y="77548"/>
                  </a:lnTo>
                  <a:lnTo>
                    <a:pt x="313575" y="74579"/>
                  </a:lnTo>
                  <a:lnTo>
                    <a:pt x="325912" y="66400"/>
                  </a:lnTo>
                  <a:lnTo>
                    <a:pt x="334117" y="54102"/>
                  </a:lnTo>
                  <a:lnTo>
                    <a:pt x="337094" y="38774"/>
                  </a:lnTo>
                  <a:lnTo>
                    <a:pt x="334117" y="23446"/>
                  </a:lnTo>
                  <a:lnTo>
                    <a:pt x="325912" y="11147"/>
                  </a:lnTo>
                  <a:lnTo>
                    <a:pt x="313575" y="2968"/>
                  </a:lnTo>
                  <a:lnTo>
                    <a:pt x="29819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object 36">
              <a:extLst>
                <a:ext uri="{FF2B5EF4-FFF2-40B4-BE49-F238E27FC236}">
                  <a16:creationId xmlns:a16="http://schemas.microsoft.com/office/drawing/2014/main" id="{32C8E917-CF0E-3B35-323E-7003276E7AB1}"/>
                </a:ext>
              </a:extLst>
            </p:cNvPr>
            <p:cNvSpPr/>
            <p:nvPr/>
          </p:nvSpPr>
          <p:spPr>
            <a:xfrm>
              <a:off x="5858339" y="3134701"/>
              <a:ext cx="168547" cy="77547"/>
            </a:xfrm>
            <a:prstGeom prst="rect">
              <a:avLst/>
            </a:prstGeom>
            <a:grpFill/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object 37">
              <a:extLst>
                <a:ext uri="{FF2B5EF4-FFF2-40B4-BE49-F238E27FC236}">
                  <a16:creationId xmlns:a16="http://schemas.microsoft.com/office/drawing/2014/main" id="{8AF19D57-C1FC-3870-2A8A-4248DA4F42EA}"/>
                </a:ext>
              </a:extLst>
            </p:cNvPr>
            <p:cNvSpPr/>
            <p:nvPr/>
          </p:nvSpPr>
          <p:spPr>
            <a:xfrm>
              <a:off x="5605518" y="2126526"/>
              <a:ext cx="674370" cy="698500"/>
            </a:xfrm>
            <a:custGeom>
              <a:avLst/>
              <a:gdLst/>
              <a:ahLst/>
              <a:cxnLst/>
              <a:rect l="l" t="t" r="r" b="b"/>
              <a:pathLst>
                <a:path w="674370" h="698500">
                  <a:moveTo>
                    <a:pt x="337094" y="0"/>
                  </a:moveTo>
                  <a:lnTo>
                    <a:pt x="287835" y="3892"/>
                  </a:lnTo>
                  <a:lnTo>
                    <a:pt x="240807" y="14532"/>
                  </a:lnTo>
                  <a:lnTo>
                    <a:pt x="196509" y="31426"/>
                  </a:lnTo>
                  <a:lnTo>
                    <a:pt x="155438" y="54077"/>
                  </a:lnTo>
                  <a:lnTo>
                    <a:pt x="118089" y="81990"/>
                  </a:lnTo>
                  <a:lnTo>
                    <a:pt x="84960" y="114669"/>
                  </a:lnTo>
                  <a:lnTo>
                    <a:pt x="56548" y="151618"/>
                  </a:lnTo>
                  <a:lnTo>
                    <a:pt x="33349" y="192343"/>
                  </a:lnTo>
                  <a:lnTo>
                    <a:pt x="15860" y="236346"/>
                  </a:lnTo>
                  <a:lnTo>
                    <a:pt x="4578" y="283134"/>
                  </a:lnTo>
                  <a:lnTo>
                    <a:pt x="0" y="332209"/>
                  </a:lnTo>
                  <a:lnTo>
                    <a:pt x="0" y="343841"/>
                  </a:lnTo>
                  <a:lnTo>
                    <a:pt x="6806" y="402972"/>
                  </a:lnTo>
                  <a:lnTo>
                    <a:pt x="23337" y="460164"/>
                  </a:lnTo>
                  <a:lnTo>
                    <a:pt x="48619" y="510409"/>
                  </a:lnTo>
                  <a:lnTo>
                    <a:pt x="81680" y="555808"/>
                  </a:lnTo>
                  <a:lnTo>
                    <a:pt x="105159" y="585979"/>
                  </a:lnTo>
                  <a:lnTo>
                    <a:pt x="127545" y="621724"/>
                  </a:lnTo>
                  <a:lnTo>
                    <a:pt x="146770" y="656500"/>
                  </a:lnTo>
                  <a:lnTo>
                    <a:pt x="160768" y="683763"/>
                  </a:lnTo>
                  <a:lnTo>
                    <a:pt x="164597" y="689801"/>
                  </a:lnTo>
                  <a:lnTo>
                    <a:pt x="170006" y="694264"/>
                  </a:lnTo>
                  <a:lnTo>
                    <a:pt x="176630" y="697031"/>
                  </a:lnTo>
                  <a:lnTo>
                    <a:pt x="184105" y="697980"/>
                  </a:lnTo>
                  <a:lnTo>
                    <a:pt x="490084" y="697980"/>
                  </a:lnTo>
                  <a:lnTo>
                    <a:pt x="527419" y="656500"/>
                  </a:lnTo>
                  <a:lnTo>
                    <a:pt x="546644" y="621724"/>
                  </a:lnTo>
                  <a:lnTo>
                    <a:pt x="547454" y="620431"/>
                  </a:lnTo>
                  <a:lnTo>
                    <a:pt x="216518" y="620431"/>
                  </a:lnTo>
                  <a:lnTo>
                    <a:pt x="200028" y="589897"/>
                  </a:lnTo>
                  <a:lnTo>
                    <a:pt x="181836" y="560331"/>
                  </a:lnTo>
                  <a:lnTo>
                    <a:pt x="162186" y="531735"/>
                  </a:lnTo>
                  <a:lnTo>
                    <a:pt x="141320" y="504108"/>
                  </a:lnTo>
                  <a:lnTo>
                    <a:pt x="128233" y="487912"/>
                  </a:lnTo>
                  <a:lnTo>
                    <a:pt x="116362" y="470504"/>
                  </a:lnTo>
                  <a:lnTo>
                    <a:pt x="97238" y="433022"/>
                  </a:lnTo>
                  <a:lnTo>
                    <a:pt x="84273" y="388755"/>
                  </a:lnTo>
                  <a:lnTo>
                    <a:pt x="79184" y="343841"/>
                  </a:lnTo>
                  <a:lnTo>
                    <a:pt x="79087" y="332209"/>
                  </a:lnTo>
                  <a:lnTo>
                    <a:pt x="84010" y="286370"/>
                  </a:lnTo>
                  <a:lnTo>
                    <a:pt x="96573" y="243241"/>
                  </a:lnTo>
                  <a:lnTo>
                    <a:pt x="116062" y="203525"/>
                  </a:lnTo>
                  <a:lnTo>
                    <a:pt x="141761" y="167924"/>
                  </a:lnTo>
                  <a:lnTo>
                    <a:pt x="172956" y="137142"/>
                  </a:lnTo>
                  <a:lnTo>
                    <a:pt x="208931" y="111882"/>
                  </a:lnTo>
                  <a:lnTo>
                    <a:pt x="248972" y="92845"/>
                  </a:lnTo>
                  <a:lnTo>
                    <a:pt x="292364" y="80736"/>
                  </a:lnTo>
                  <a:lnTo>
                    <a:pt x="338391" y="76256"/>
                  </a:lnTo>
                  <a:lnTo>
                    <a:pt x="548427" y="76256"/>
                  </a:lnTo>
                  <a:lnTo>
                    <a:pt x="518751" y="54077"/>
                  </a:lnTo>
                  <a:lnTo>
                    <a:pt x="477680" y="31426"/>
                  </a:lnTo>
                  <a:lnTo>
                    <a:pt x="433382" y="14532"/>
                  </a:lnTo>
                  <a:lnTo>
                    <a:pt x="386354" y="3892"/>
                  </a:lnTo>
                  <a:lnTo>
                    <a:pt x="337094" y="0"/>
                  </a:lnTo>
                  <a:close/>
                </a:path>
                <a:path w="674370" h="698500">
                  <a:moveTo>
                    <a:pt x="548427" y="76256"/>
                  </a:moveTo>
                  <a:lnTo>
                    <a:pt x="338391" y="76256"/>
                  </a:lnTo>
                  <a:lnTo>
                    <a:pt x="384418" y="80693"/>
                  </a:lnTo>
                  <a:lnTo>
                    <a:pt x="427810" y="92696"/>
                  </a:lnTo>
                  <a:lnTo>
                    <a:pt x="467851" y="111594"/>
                  </a:lnTo>
                  <a:lnTo>
                    <a:pt x="503826" y="136717"/>
                  </a:lnTo>
                  <a:lnTo>
                    <a:pt x="535021" y="167392"/>
                  </a:lnTo>
                  <a:lnTo>
                    <a:pt x="560720" y="202950"/>
                  </a:lnTo>
                  <a:lnTo>
                    <a:pt x="580209" y="242720"/>
                  </a:lnTo>
                  <a:lnTo>
                    <a:pt x="592772" y="286029"/>
                  </a:lnTo>
                  <a:lnTo>
                    <a:pt x="597695" y="332209"/>
                  </a:lnTo>
                  <a:lnTo>
                    <a:pt x="597695" y="342549"/>
                  </a:lnTo>
                  <a:lnTo>
                    <a:pt x="596398" y="342549"/>
                  </a:lnTo>
                  <a:lnTo>
                    <a:pt x="594474" y="365773"/>
                  </a:lnTo>
                  <a:lnTo>
                    <a:pt x="585277" y="411252"/>
                  </a:lnTo>
                  <a:lnTo>
                    <a:pt x="569718" y="452127"/>
                  </a:lnTo>
                  <a:lnTo>
                    <a:pt x="547799" y="487912"/>
                  </a:lnTo>
                  <a:lnTo>
                    <a:pt x="534165" y="504108"/>
                  </a:lnTo>
                  <a:lnTo>
                    <a:pt x="512570" y="531735"/>
                  </a:lnTo>
                  <a:lnTo>
                    <a:pt x="492677" y="560331"/>
                  </a:lnTo>
                  <a:lnTo>
                    <a:pt x="474728" y="589897"/>
                  </a:lnTo>
                  <a:lnTo>
                    <a:pt x="458967" y="620431"/>
                  </a:lnTo>
                  <a:lnTo>
                    <a:pt x="547454" y="620431"/>
                  </a:lnTo>
                  <a:lnTo>
                    <a:pt x="569030" y="585979"/>
                  </a:lnTo>
                  <a:lnTo>
                    <a:pt x="592509" y="555808"/>
                  </a:lnTo>
                  <a:lnTo>
                    <a:pt x="626056" y="510409"/>
                  </a:lnTo>
                  <a:lnTo>
                    <a:pt x="650852" y="460164"/>
                  </a:lnTo>
                  <a:lnTo>
                    <a:pt x="667383" y="402972"/>
                  </a:lnTo>
                  <a:lnTo>
                    <a:pt x="674189" y="343841"/>
                  </a:lnTo>
                  <a:lnTo>
                    <a:pt x="674189" y="332209"/>
                  </a:lnTo>
                  <a:lnTo>
                    <a:pt x="669611" y="283134"/>
                  </a:lnTo>
                  <a:lnTo>
                    <a:pt x="658329" y="236346"/>
                  </a:lnTo>
                  <a:lnTo>
                    <a:pt x="640840" y="192343"/>
                  </a:lnTo>
                  <a:lnTo>
                    <a:pt x="617641" y="151618"/>
                  </a:lnTo>
                  <a:lnTo>
                    <a:pt x="589229" y="114669"/>
                  </a:lnTo>
                  <a:lnTo>
                    <a:pt x="556100" y="81990"/>
                  </a:lnTo>
                  <a:lnTo>
                    <a:pt x="548427" y="7625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2A18ABB-E954-5542-BF98-430DB8234BD6}"/>
              </a:ext>
            </a:extLst>
          </p:cNvPr>
          <p:cNvGrpSpPr/>
          <p:nvPr/>
        </p:nvGrpSpPr>
        <p:grpSpPr>
          <a:xfrm>
            <a:off x="3017746" y="2229717"/>
            <a:ext cx="882100" cy="840062"/>
            <a:chOff x="7938672" y="2229717"/>
            <a:chExt cx="882100" cy="840062"/>
          </a:xfrm>
          <a:solidFill>
            <a:schemeClr val="accent6"/>
          </a:solidFill>
        </p:grpSpPr>
        <p:sp>
          <p:nvSpPr>
            <p:cNvPr id="37" name="object 38">
              <a:extLst>
                <a:ext uri="{FF2B5EF4-FFF2-40B4-BE49-F238E27FC236}">
                  <a16:creationId xmlns:a16="http://schemas.microsoft.com/office/drawing/2014/main" id="{78D5D93D-D1F2-E9FD-4D3A-47B393FF60E0}"/>
                </a:ext>
              </a:extLst>
            </p:cNvPr>
            <p:cNvSpPr/>
            <p:nvPr/>
          </p:nvSpPr>
          <p:spPr>
            <a:xfrm>
              <a:off x="7938672" y="3069779"/>
              <a:ext cx="882015" cy="0"/>
            </a:xfrm>
            <a:custGeom>
              <a:avLst/>
              <a:gdLst/>
              <a:ahLst/>
              <a:cxnLst/>
              <a:rect l="l" t="t" r="r" b="b"/>
              <a:pathLst>
                <a:path w="882015">
                  <a:moveTo>
                    <a:pt x="0" y="0"/>
                  </a:moveTo>
                  <a:lnTo>
                    <a:pt x="881633" y="0"/>
                  </a:lnTo>
                </a:path>
              </a:pathLst>
            </a:custGeom>
            <a:grpFill/>
            <a:ln w="77349">
              <a:solidFill>
                <a:schemeClr val="accent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object 39">
              <a:extLst>
                <a:ext uri="{FF2B5EF4-FFF2-40B4-BE49-F238E27FC236}">
                  <a16:creationId xmlns:a16="http://schemas.microsoft.com/office/drawing/2014/main" id="{B557B189-89B9-8A82-798E-CAFED7A5B385}"/>
                </a:ext>
              </a:extLst>
            </p:cNvPr>
            <p:cNvSpPr/>
            <p:nvPr/>
          </p:nvSpPr>
          <p:spPr>
            <a:xfrm>
              <a:off x="7977568" y="2229717"/>
              <a:ext cx="0" cy="802005"/>
            </a:xfrm>
            <a:custGeom>
              <a:avLst/>
              <a:gdLst/>
              <a:ahLst/>
              <a:cxnLst/>
              <a:rect l="l" t="t" r="r" b="b"/>
              <a:pathLst>
                <a:path h="802004">
                  <a:moveTo>
                    <a:pt x="0" y="0"/>
                  </a:moveTo>
                  <a:lnTo>
                    <a:pt x="0" y="801386"/>
                  </a:lnTo>
                </a:path>
              </a:pathLst>
            </a:custGeom>
            <a:grpFill/>
            <a:ln w="77791">
              <a:solidFill>
                <a:schemeClr val="accent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object 40">
              <a:extLst>
                <a:ext uri="{FF2B5EF4-FFF2-40B4-BE49-F238E27FC236}">
                  <a16:creationId xmlns:a16="http://schemas.microsoft.com/office/drawing/2014/main" id="{13C778D1-3B68-E0B1-4ED6-E2511BA7D7DC}"/>
                </a:ext>
              </a:extLst>
            </p:cNvPr>
            <p:cNvSpPr/>
            <p:nvPr/>
          </p:nvSpPr>
          <p:spPr>
            <a:xfrm>
              <a:off x="8067027" y="2449688"/>
              <a:ext cx="753745" cy="441325"/>
            </a:xfrm>
            <a:custGeom>
              <a:avLst/>
              <a:gdLst/>
              <a:ahLst/>
              <a:cxnLst/>
              <a:rect l="l" t="t" r="r" b="b"/>
              <a:pathLst>
                <a:path w="753745" h="441325">
                  <a:moveTo>
                    <a:pt x="234669" y="152512"/>
                  </a:moveTo>
                  <a:lnTo>
                    <a:pt x="0" y="386450"/>
                  </a:lnTo>
                  <a:lnTo>
                    <a:pt x="54453" y="440734"/>
                  </a:lnTo>
                  <a:lnTo>
                    <a:pt x="234669" y="261080"/>
                  </a:lnTo>
                  <a:lnTo>
                    <a:pt x="390252" y="261080"/>
                  </a:lnTo>
                  <a:lnTo>
                    <a:pt x="421368" y="230060"/>
                  </a:lnTo>
                  <a:lnTo>
                    <a:pt x="312461" y="230060"/>
                  </a:lnTo>
                  <a:lnTo>
                    <a:pt x="234669" y="152512"/>
                  </a:lnTo>
                  <a:close/>
                </a:path>
                <a:path w="753745" h="441325">
                  <a:moveTo>
                    <a:pt x="390252" y="261080"/>
                  </a:moveTo>
                  <a:lnTo>
                    <a:pt x="234669" y="261080"/>
                  </a:lnTo>
                  <a:lnTo>
                    <a:pt x="312461" y="338628"/>
                  </a:lnTo>
                  <a:lnTo>
                    <a:pt x="390252" y="261080"/>
                  </a:lnTo>
                  <a:close/>
                </a:path>
                <a:path w="753745" h="441325">
                  <a:moveTo>
                    <a:pt x="597695" y="209381"/>
                  </a:moveTo>
                  <a:lnTo>
                    <a:pt x="442113" y="209381"/>
                  </a:lnTo>
                  <a:lnTo>
                    <a:pt x="519904" y="286929"/>
                  </a:lnTo>
                  <a:lnTo>
                    <a:pt x="597695" y="209381"/>
                  </a:lnTo>
                  <a:close/>
                </a:path>
                <a:path w="753745" h="441325">
                  <a:moveTo>
                    <a:pt x="442113" y="100813"/>
                  </a:moveTo>
                  <a:lnTo>
                    <a:pt x="312461" y="230060"/>
                  </a:lnTo>
                  <a:lnTo>
                    <a:pt x="421368" y="230060"/>
                  </a:lnTo>
                  <a:lnTo>
                    <a:pt x="442113" y="209381"/>
                  </a:lnTo>
                  <a:lnTo>
                    <a:pt x="597695" y="209381"/>
                  </a:lnTo>
                  <a:lnTo>
                    <a:pt x="628811" y="178361"/>
                  </a:lnTo>
                  <a:lnTo>
                    <a:pt x="519904" y="178361"/>
                  </a:lnTo>
                  <a:lnTo>
                    <a:pt x="442113" y="100813"/>
                  </a:lnTo>
                  <a:close/>
                </a:path>
                <a:path w="753745" h="441325">
                  <a:moveTo>
                    <a:pt x="753277" y="130540"/>
                  </a:moveTo>
                  <a:lnTo>
                    <a:pt x="676783" y="130540"/>
                  </a:lnTo>
                  <a:lnTo>
                    <a:pt x="753277" y="206796"/>
                  </a:lnTo>
                  <a:lnTo>
                    <a:pt x="753277" y="130540"/>
                  </a:lnTo>
                  <a:close/>
                </a:path>
                <a:path w="753745" h="441325">
                  <a:moveTo>
                    <a:pt x="753277" y="0"/>
                  </a:moveTo>
                  <a:lnTo>
                    <a:pt x="545834" y="0"/>
                  </a:lnTo>
                  <a:lnTo>
                    <a:pt x="622329" y="76256"/>
                  </a:lnTo>
                  <a:lnTo>
                    <a:pt x="519904" y="178361"/>
                  </a:lnTo>
                  <a:lnTo>
                    <a:pt x="628811" y="178361"/>
                  </a:lnTo>
                  <a:lnTo>
                    <a:pt x="676783" y="130540"/>
                  </a:lnTo>
                  <a:lnTo>
                    <a:pt x="753277" y="130540"/>
                  </a:lnTo>
                  <a:lnTo>
                    <a:pt x="75327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0" name="Title 40">
            <a:extLst>
              <a:ext uri="{FF2B5EF4-FFF2-40B4-BE49-F238E27FC236}">
                <a16:creationId xmlns:a16="http://schemas.microsoft.com/office/drawing/2014/main" id="{FD70BCB5-1CD2-F15A-ABA1-C3E4432EC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91" y="203200"/>
            <a:ext cx="11482074" cy="874644"/>
          </a:xfrm>
        </p:spPr>
        <p:txBody>
          <a:bodyPr>
            <a:noAutofit/>
          </a:bodyPr>
          <a:lstStyle/>
          <a:p>
            <a:br>
              <a:rPr lang="en-US" sz="4800" spc="-65" dirty="0"/>
            </a:br>
            <a:r>
              <a:rPr lang="en-US" sz="4800" spc="-65" dirty="0"/>
              <a:t>The Future Is Here — and It’s Smart</a:t>
            </a:r>
            <a:br>
              <a:rPr lang="en-US" sz="4800" spc="-65" dirty="0"/>
            </a:br>
            <a:r>
              <a:rPr lang="en-US" sz="2400" spc="-65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spc="-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perfect</a:t>
            </a:r>
            <a:r>
              <a:rPr lang="en-US" sz="2400" spc="-245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2400" spc="-9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pairing</a:t>
            </a:r>
            <a:r>
              <a:rPr lang="en-US" sz="2400" spc="-229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spc="-5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of</a:t>
            </a:r>
            <a:r>
              <a:rPr lang="en-US" sz="2400" spc="-21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spc="-65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man</a:t>
            </a:r>
            <a:r>
              <a:rPr lang="en-US" sz="2400" spc="-225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spc="-65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and</a:t>
            </a:r>
            <a:r>
              <a:rPr lang="en-US" sz="2400" spc="-225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spc="-85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machine to make an impact that matters</a:t>
            </a: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349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3E500-E26F-F5CC-56ED-F8E908B71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FE44CB0F-7D13-5857-D710-69D92667B69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13913" t="20471" r="11739" b="21483"/>
          <a:stretch>
            <a:fillRect/>
          </a:stretch>
        </p:blipFill>
        <p:spPr>
          <a:xfrm>
            <a:off x="685800" y="1878262"/>
            <a:ext cx="2514600" cy="2617537"/>
          </a:xfrm>
          <a:noFill/>
        </p:spPr>
      </p:pic>
      <p:sp>
        <p:nvSpPr>
          <p:cNvPr id="57" name="Title 56">
            <a:extLst>
              <a:ext uri="{FF2B5EF4-FFF2-40B4-BE49-F238E27FC236}">
                <a16:creationId xmlns:a16="http://schemas.microsoft.com/office/drawing/2014/main" id="{BF2FFFD3-B8EF-60DF-83B5-F0AA28790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632" y="1444752"/>
            <a:ext cx="7781544" cy="3392424"/>
          </a:xfrm>
        </p:spPr>
        <p:txBody>
          <a:bodyPr anchor="b">
            <a:normAutofit/>
          </a:bodyPr>
          <a:lstStyle/>
          <a:p>
            <a:r>
              <a:rPr lang="en-US" dirty="0"/>
              <a:t>Thank you!</a:t>
            </a:r>
            <a:br>
              <a:rPr lang="en-US" dirty="0"/>
            </a:br>
            <a:r>
              <a:rPr lang="en-US" sz="2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questions?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4069FA9-21DA-6ADB-2C40-A894320396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13632" y="5358384"/>
            <a:ext cx="7781544" cy="374904"/>
          </a:xfrm>
        </p:spPr>
        <p:txBody>
          <a:bodyPr anchor="ctr">
            <a:normAutofit/>
          </a:bodyPr>
          <a:lstStyle/>
          <a:p>
            <a:pPr>
              <a:lnSpc>
                <a:spcPct val="91000"/>
              </a:lnSpc>
            </a:pPr>
            <a:r>
              <a:rPr lang="en-US" sz="2000" dirty="0"/>
              <a:t>Chloe Barker 	chloebarker@smu.edu</a:t>
            </a:r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9D6A560D-39E4-D887-9CA6-4E953E9038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101" y="6542082"/>
            <a:ext cx="2202024" cy="19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4601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AQTiBwQnKTLhIA_4a6W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AQTiBwQnKTLhIA_4a6WA"/>
</p:tagLst>
</file>

<file path=ppt/theme/theme1.xml><?xml version="1.0" encoding="utf-8"?>
<a:theme xmlns:a="http://schemas.openxmlformats.org/drawingml/2006/main" name="JuxtaposeVTI">
  <a:themeElements>
    <a:clrScheme name="Custom 18">
      <a:dk1>
        <a:srgbClr val="000000"/>
      </a:dk1>
      <a:lt1>
        <a:srgbClr val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1F23DC"/>
      </a:accent5>
      <a:accent6>
        <a:srgbClr val="737373"/>
      </a:accent6>
      <a:hlink>
        <a:srgbClr val="0099FF"/>
      </a:hlink>
      <a:folHlink>
        <a:srgbClr val="868686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201103_win32_CP_v3" id="{25EBCE8A-6A42-434B-A3B3-187E1DD25CFC}" vid="{39E32D66-C006-4DAC-BD55-FAF16500590B}"/>
    </a:ext>
  </a:extLst>
</a:theme>
</file>

<file path=ppt/theme/theme2.xml><?xml version="1.0" encoding="utf-8"?>
<a:theme xmlns:a="http://schemas.openxmlformats.org/drawingml/2006/main" name="Office Theme">
  <a:themeElements>
    <a:clrScheme name="Custom 19">
      <a:dk1>
        <a:srgbClr val="000000"/>
      </a:dk1>
      <a:lt1>
        <a:srgbClr val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1F23DC"/>
      </a:accent5>
      <a:accent6>
        <a:srgbClr val="51E800"/>
      </a:accent6>
      <a:hlink>
        <a:srgbClr val="0099FF"/>
      </a:hlink>
      <a:folHlink>
        <a:srgbClr val="868686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Props1.xml><?xml version="1.0" encoding="utf-8"?>
<ds:datastoreItem xmlns:ds="http://schemas.openxmlformats.org/officeDocument/2006/customXml" ds:itemID="{D6DA60BD-0042-4722-B671-D551884D1E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D4C1A2-2B2B-48A1-9ECA-17D85E2078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069F72-2015-4FB6-9588-A49CB14BDC12}">
  <ds:schemaRefs>
    <ds:schemaRef ds:uri="16c05727-aa75-4e4a-9b5f-8a80a1165891"/>
    <ds:schemaRef ds:uri="http://schemas.microsoft.com/office/2006/metadata/properties"/>
    <ds:schemaRef ds:uri="http://purl.org/dc/dcmitype/"/>
    <ds:schemaRef ds:uri="230e9df3-be65-4c73-a93b-d1236ebd677e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71af3243-3dd4-4a8d-8c0d-dd76da1f02a5"/>
    <ds:schemaRef ds:uri="http://schemas.microsoft.com/sharepoint/v3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6309</TotalTime>
  <Words>696</Words>
  <Application>Microsoft Macintosh PowerPoint</Application>
  <PresentationFormat>Widescreen</PresentationFormat>
  <Paragraphs>97</Paragraphs>
  <Slides>10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Chronicle Display Black</vt:lpstr>
      <vt:lpstr>Franklin Gothic Demi Cond</vt:lpstr>
      <vt:lpstr>Franklin Gothic Medium</vt:lpstr>
      <vt:lpstr>Nexa Black</vt:lpstr>
      <vt:lpstr>Open Sans</vt:lpstr>
      <vt:lpstr>Open Sans ExtraBold</vt:lpstr>
      <vt:lpstr>Segoe Print</vt:lpstr>
      <vt:lpstr>JuxtaposeVTI</vt:lpstr>
      <vt:lpstr>Office Theme</vt:lpstr>
      <vt:lpstr>think-cell Slide</vt:lpstr>
      <vt:lpstr>How Data science REVOLUTIONIZES the Future of healthcare</vt:lpstr>
      <vt:lpstr>Common healthcare challenges</vt:lpstr>
      <vt:lpstr>Meet Butterfly  IQ/iQ+/IQ3</vt:lpstr>
      <vt:lpstr>AI Behind the Butterfly iQ+</vt:lpstr>
      <vt:lpstr>Inside the Technology:  Data Science’s role in Butterfly iQ+</vt:lpstr>
      <vt:lpstr>Real-World Case: Hennepin EMS Case Study</vt:lpstr>
      <vt:lpstr>Clinical Use Examples</vt:lpstr>
      <vt:lpstr>Butterfly iq bridges the gap</vt:lpstr>
      <vt:lpstr> The Future Is Here — and It’s Smart The perfect  pairing of man and machine to make an impact that matters</vt:lpstr>
      <vt:lpstr>Thank you!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Barker, Chloe</cp:lastModifiedBy>
  <cp:revision>11</cp:revision>
  <dcterms:created xsi:type="dcterms:W3CDTF">2025-05-20T04:07:24Z</dcterms:created>
  <dcterms:modified xsi:type="dcterms:W3CDTF">2025-12-17T21:56:58Z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