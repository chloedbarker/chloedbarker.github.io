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
  </p:notesMasterIdLst>
  <p:sldIdLst>
    <p:sldId id="256" r:id="rId2"/>
  </p:sldIdLst>
  <p:sldSz cx="7620000" cy="19050000"/>
  <p:notesSz cx="6858000" cy="9144000"/>
  <p:embeddedFontLst>
    <p:embeddedFont>
      <p:font typeface="Canva Sans" panose="020B0503030501040103" pitchFamily="34" charset="0"/>
      <p:regular r:id="rId4"/>
    </p:embeddedFont>
    <p:embeddedFont>
      <p:font typeface="Canva Sans Bold" panose="020B0803030501040103" pitchFamily="34" charset="0"/>
      <p:regular r:id="rId5"/>
      <p:bold r:id="rId6"/>
    </p:embeddedFont>
    <p:embeddedFont>
      <p:font typeface="Garet" pitchFamily="2" charset="77"/>
      <p:regular r:id="rId7"/>
    </p:embeddedFont>
    <p:embeddedFont>
      <p:font typeface="Garet Bold" pitchFamily="2" charset="77"/>
      <p:regular r:id="rId8"/>
      <p:bold r:id="rId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2" autoAdjust="0"/>
    <p:restoredTop sz="94653" autoAdjust="0"/>
  </p:normalViewPr>
  <p:slideViewPr>
    <p:cSldViewPr>
      <p:cViewPr>
        <p:scale>
          <a:sx n="226" d="100"/>
          <a:sy n="226" d="100"/>
        </p:scale>
        <p:origin x="-472" y="-198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viewProps" Target="viewProps.xml"/><Relationship Id="rId5" Type="http://schemas.openxmlformats.org/officeDocument/2006/relationships/font" Target="fonts/font2.fntdata"/><Relationship Id="rId10" Type="http://schemas.openxmlformats.org/officeDocument/2006/relationships/presProps" Target="presProps.xml"/><Relationship Id="rId4" Type="http://schemas.openxmlformats.org/officeDocument/2006/relationships/font" Target="fonts/font1.fntdata"/><Relationship Id="rId9"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19.06.2025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4059238" y="512763"/>
            <a:ext cx="102552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6/19/25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6/19/25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6/19/25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11.png"/><Relationship Id="rId18" Type="http://schemas.openxmlformats.org/officeDocument/2006/relationships/image" Target="../media/image16.svg"/><Relationship Id="rId26" Type="http://schemas.openxmlformats.org/officeDocument/2006/relationships/image" Target="../media/image23.svg"/><Relationship Id="rId39" Type="http://schemas.openxmlformats.org/officeDocument/2006/relationships/image" Target="../media/image36.png"/><Relationship Id="rId21" Type="http://schemas.openxmlformats.org/officeDocument/2006/relationships/image" Target="../media/image19.png"/><Relationship Id="rId34" Type="http://schemas.openxmlformats.org/officeDocument/2006/relationships/image" Target="../media/image31.png"/><Relationship Id="rId42" Type="http://schemas.openxmlformats.org/officeDocument/2006/relationships/image" Target="../media/image39.svg"/><Relationship Id="rId7" Type="http://schemas.openxmlformats.org/officeDocument/2006/relationships/image" Target="../media/image5.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svg"/><Relationship Id="rId29" Type="http://schemas.openxmlformats.org/officeDocument/2006/relationships/image" Target="../media/image26.png"/><Relationship Id="rId41" Type="http://schemas.openxmlformats.org/officeDocument/2006/relationships/image" Target="../media/image38.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1.png"/><Relationship Id="rId32" Type="http://schemas.openxmlformats.org/officeDocument/2006/relationships/image" Target="../media/image29.svg"/><Relationship Id="rId37" Type="http://schemas.openxmlformats.org/officeDocument/2006/relationships/image" Target="../media/image34.png"/><Relationship Id="rId40" Type="http://schemas.openxmlformats.org/officeDocument/2006/relationships/image" Target="../media/image37.sv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oleObject" Target="../embeddings/oleObject1.bin"/><Relationship Id="rId28" Type="http://schemas.openxmlformats.org/officeDocument/2006/relationships/image" Target="../media/image25.svg"/><Relationship Id="rId36" Type="http://schemas.openxmlformats.org/officeDocument/2006/relationships/image" Target="../media/image33.svg"/><Relationship Id="rId10" Type="http://schemas.openxmlformats.org/officeDocument/2006/relationships/image" Target="../media/image8.svg"/><Relationship Id="rId19" Type="http://schemas.openxmlformats.org/officeDocument/2006/relationships/image" Target="../media/image17.png"/><Relationship Id="rId31" Type="http://schemas.openxmlformats.org/officeDocument/2006/relationships/image" Target="../media/image2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svg"/><Relationship Id="rId22" Type="http://schemas.openxmlformats.org/officeDocument/2006/relationships/image" Target="../media/image20.svg"/><Relationship Id="rId27" Type="http://schemas.openxmlformats.org/officeDocument/2006/relationships/image" Target="../media/image24.png"/><Relationship Id="rId30" Type="http://schemas.openxmlformats.org/officeDocument/2006/relationships/image" Target="../media/image27.svg"/><Relationship Id="rId35" Type="http://schemas.openxmlformats.org/officeDocument/2006/relationships/image" Target="../media/image32.png"/><Relationship Id="rId8" Type="http://schemas.openxmlformats.org/officeDocument/2006/relationships/image" Target="../media/image6.png"/><Relationship Id="rId3" Type="http://schemas.openxmlformats.org/officeDocument/2006/relationships/image" Target="../media/image1.png"/><Relationship Id="rId12" Type="http://schemas.openxmlformats.org/officeDocument/2006/relationships/image" Target="../media/image10.svg"/><Relationship Id="rId17" Type="http://schemas.openxmlformats.org/officeDocument/2006/relationships/image" Target="../media/image15.png"/><Relationship Id="rId25" Type="http://schemas.openxmlformats.org/officeDocument/2006/relationships/image" Target="../media/image22.png"/><Relationship Id="rId33" Type="http://schemas.openxmlformats.org/officeDocument/2006/relationships/image" Target="../media/image30.png"/><Relationship Id="rId38" Type="http://schemas.openxmlformats.org/officeDocument/2006/relationships/image" Target="../media/image35.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sp>
        <p:nvSpPr>
          <p:cNvPr id="2" name="AutoShape 2"/>
          <p:cNvSpPr/>
          <p:nvPr/>
        </p:nvSpPr>
        <p:spPr>
          <a:xfrm>
            <a:off x="5422893" y="235975"/>
            <a:ext cx="1924050" cy="1552185"/>
          </a:xfrm>
          <a:prstGeom prst="rect">
            <a:avLst/>
          </a:prstGeom>
          <a:solidFill>
            <a:srgbClr val="AACF4F"/>
          </a:solidFill>
        </p:spPr>
        <p:txBody>
          <a:bodyPr/>
          <a:lstStyle/>
          <a:p>
            <a:endParaRPr lang="en-US"/>
          </a:p>
        </p:txBody>
      </p:sp>
      <p:sp>
        <p:nvSpPr>
          <p:cNvPr id="3" name="AutoShape 3"/>
          <p:cNvSpPr/>
          <p:nvPr/>
        </p:nvSpPr>
        <p:spPr>
          <a:xfrm>
            <a:off x="157913" y="4917352"/>
            <a:ext cx="3539478" cy="2217602"/>
          </a:xfrm>
          <a:prstGeom prst="rect">
            <a:avLst/>
          </a:prstGeom>
          <a:solidFill>
            <a:srgbClr val="AACF4F"/>
          </a:solidFill>
        </p:spPr>
        <p:txBody>
          <a:bodyPr/>
          <a:lstStyle/>
          <a:p>
            <a:endParaRPr lang="en-US"/>
          </a:p>
        </p:txBody>
      </p:sp>
      <p:sp>
        <p:nvSpPr>
          <p:cNvPr id="4" name="AutoShape 4"/>
          <p:cNvSpPr/>
          <p:nvPr/>
        </p:nvSpPr>
        <p:spPr>
          <a:xfrm>
            <a:off x="3781680" y="4917352"/>
            <a:ext cx="3497381" cy="2217602"/>
          </a:xfrm>
          <a:prstGeom prst="rect">
            <a:avLst/>
          </a:prstGeom>
          <a:solidFill>
            <a:srgbClr val="AACF4F"/>
          </a:solidFill>
        </p:spPr>
        <p:txBody>
          <a:bodyPr/>
          <a:lstStyle/>
          <a:p>
            <a:endParaRPr lang="en-US"/>
          </a:p>
        </p:txBody>
      </p:sp>
      <p:sp>
        <p:nvSpPr>
          <p:cNvPr id="5" name="Freeform 5"/>
          <p:cNvSpPr/>
          <p:nvPr/>
        </p:nvSpPr>
        <p:spPr>
          <a:xfrm>
            <a:off x="3926223" y="5344257"/>
            <a:ext cx="3209565" cy="1661826"/>
          </a:xfrm>
          <a:custGeom>
            <a:avLst/>
            <a:gdLst/>
            <a:ahLst/>
            <a:cxnLst/>
            <a:rect l="l" t="t" r="r" b="b"/>
            <a:pathLst>
              <a:path w="3209565" h="1661826">
                <a:moveTo>
                  <a:pt x="0" y="0"/>
                </a:moveTo>
                <a:lnTo>
                  <a:pt x="3209565" y="0"/>
                </a:lnTo>
                <a:lnTo>
                  <a:pt x="3209565" y="1661826"/>
                </a:lnTo>
                <a:lnTo>
                  <a:pt x="0" y="1661826"/>
                </a:lnTo>
                <a:lnTo>
                  <a:pt x="0" y="0"/>
                </a:lnTo>
                <a:close/>
              </a:path>
            </a:pathLst>
          </a:custGeom>
          <a:blipFill>
            <a:blip r:embed="rId3"/>
            <a:stretch>
              <a:fillRect l="-4987" t="-18489" r="-702" b="-129374"/>
            </a:stretch>
          </a:blipFill>
        </p:spPr>
        <p:txBody>
          <a:bodyPr/>
          <a:lstStyle/>
          <a:p>
            <a:endParaRPr lang="en-US"/>
          </a:p>
        </p:txBody>
      </p:sp>
      <p:sp>
        <p:nvSpPr>
          <p:cNvPr id="6" name="AutoShape 6"/>
          <p:cNvSpPr/>
          <p:nvPr/>
        </p:nvSpPr>
        <p:spPr>
          <a:xfrm>
            <a:off x="194849" y="1866342"/>
            <a:ext cx="7152093" cy="0"/>
          </a:xfrm>
          <a:prstGeom prst="line">
            <a:avLst/>
          </a:prstGeom>
          <a:ln w="19050" cap="flat">
            <a:solidFill>
              <a:srgbClr val="65AB4C"/>
            </a:solidFill>
            <a:prstDash val="solid"/>
            <a:headEnd type="none" w="sm" len="sm"/>
            <a:tailEnd type="none" w="sm" len="sm"/>
          </a:ln>
        </p:spPr>
        <p:txBody>
          <a:bodyPr/>
          <a:lstStyle/>
          <a:p>
            <a:endParaRPr lang="en-US"/>
          </a:p>
        </p:txBody>
      </p:sp>
      <p:sp>
        <p:nvSpPr>
          <p:cNvPr id="7" name="AutoShape 7"/>
          <p:cNvSpPr/>
          <p:nvPr/>
        </p:nvSpPr>
        <p:spPr>
          <a:xfrm>
            <a:off x="242269" y="4511587"/>
            <a:ext cx="311954" cy="320040"/>
          </a:xfrm>
          <a:prstGeom prst="rect">
            <a:avLst/>
          </a:prstGeom>
          <a:solidFill>
            <a:srgbClr val="AACF4F"/>
          </a:solidFill>
        </p:spPr>
        <p:txBody>
          <a:bodyPr/>
          <a:lstStyle/>
          <a:p>
            <a:endParaRPr lang="en-US"/>
          </a:p>
        </p:txBody>
      </p:sp>
      <p:sp>
        <p:nvSpPr>
          <p:cNvPr id="8" name="AutoShape 8"/>
          <p:cNvSpPr/>
          <p:nvPr/>
        </p:nvSpPr>
        <p:spPr>
          <a:xfrm>
            <a:off x="267173" y="2005330"/>
            <a:ext cx="311954" cy="320040"/>
          </a:xfrm>
          <a:prstGeom prst="rect">
            <a:avLst/>
          </a:prstGeom>
          <a:solidFill>
            <a:srgbClr val="AACF4F"/>
          </a:solidFill>
        </p:spPr>
        <p:txBody>
          <a:bodyPr/>
          <a:lstStyle/>
          <a:p>
            <a:endParaRPr lang="en-US"/>
          </a:p>
        </p:txBody>
      </p:sp>
      <p:sp>
        <p:nvSpPr>
          <p:cNvPr id="9" name="Freeform 9"/>
          <p:cNvSpPr/>
          <p:nvPr/>
        </p:nvSpPr>
        <p:spPr>
          <a:xfrm>
            <a:off x="6622412" y="6323036"/>
            <a:ext cx="360616" cy="199568"/>
          </a:xfrm>
          <a:custGeom>
            <a:avLst/>
            <a:gdLst/>
            <a:ahLst/>
            <a:cxnLst/>
            <a:rect l="l" t="t" r="r" b="b"/>
            <a:pathLst>
              <a:path w="360616" h="199568">
                <a:moveTo>
                  <a:pt x="0" y="0"/>
                </a:moveTo>
                <a:lnTo>
                  <a:pt x="360616" y="0"/>
                </a:lnTo>
                <a:lnTo>
                  <a:pt x="360616" y="199567"/>
                </a:lnTo>
                <a:lnTo>
                  <a:pt x="0" y="199567"/>
                </a:lnTo>
                <a:lnTo>
                  <a:pt x="0" y="0"/>
                </a:lnTo>
                <a:close/>
              </a:path>
            </a:pathLst>
          </a:custGeom>
          <a:blipFill>
            <a:blip r:embed="rId4"/>
            <a:stretch>
              <a:fillRect l="-4489" r="-4489"/>
            </a:stretch>
          </a:blipFill>
        </p:spPr>
        <p:txBody>
          <a:bodyPr/>
          <a:lstStyle/>
          <a:p>
            <a:endParaRPr lang="en-US"/>
          </a:p>
        </p:txBody>
      </p:sp>
      <p:sp>
        <p:nvSpPr>
          <p:cNvPr id="10" name="Freeform 10"/>
          <p:cNvSpPr/>
          <p:nvPr/>
        </p:nvSpPr>
        <p:spPr>
          <a:xfrm>
            <a:off x="6622412" y="6041010"/>
            <a:ext cx="360455" cy="199479"/>
          </a:xfrm>
          <a:custGeom>
            <a:avLst/>
            <a:gdLst/>
            <a:ahLst/>
            <a:cxnLst/>
            <a:rect l="l" t="t" r="r" b="b"/>
            <a:pathLst>
              <a:path w="360455" h="199479">
                <a:moveTo>
                  <a:pt x="0" y="0"/>
                </a:moveTo>
                <a:lnTo>
                  <a:pt x="360455" y="0"/>
                </a:lnTo>
                <a:lnTo>
                  <a:pt x="360455" y="199479"/>
                </a:lnTo>
                <a:lnTo>
                  <a:pt x="0" y="199479"/>
                </a:lnTo>
                <a:lnTo>
                  <a:pt x="0" y="0"/>
                </a:lnTo>
                <a:close/>
              </a:path>
            </a:pathLst>
          </a:custGeom>
          <a:blipFill>
            <a:blip r:embed="rId4"/>
            <a:stretch>
              <a:fillRect l="-4489" r="-4489"/>
            </a:stretch>
          </a:blipFill>
        </p:spPr>
        <p:txBody>
          <a:bodyPr/>
          <a:lstStyle/>
          <a:p>
            <a:endParaRPr lang="en-US"/>
          </a:p>
        </p:txBody>
      </p:sp>
      <p:sp>
        <p:nvSpPr>
          <p:cNvPr id="11" name="Freeform 11"/>
          <p:cNvSpPr/>
          <p:nvPr/>
        </p:nvSpPr>
        <p:spPr>
          <a:xfrm>
            <a:off x="6622412" y="5762261"/>
            <a:ext cx="360455" cy="199479"/>
          </a:xfrm>
          <a:custGeom>
            <a:avLst/>
            <a:gdLst/>
            <a:ahLst/>
            <a:cxnLst/>
            <a:rect l="l" t="t" r="r" b="b"/>
            <a:pathLst>
              <a:path w="360455" h="199479">
                <a:moveTo>
                  <a:pt x="0" y="0"/>
                </a:moveTo>
                <a:lnTo>
                  <a:pt x="360455" y="0"/>
                </a:lnTo>
                <a:lnTo>
                  <a:pt x="360455" y="199479"/>
                </a:lnTo>
                <a:lnTo>
                  <a:pt x="0" y="199479"/>
                </a:lnTo>
                <a:lnTo>
                  <a:pt x="0" y="0"/>
                </a:lnTo>
                <a:close/>
              </a:path>
            </a:pathLst>
          </a:custGeom>
          <a:blipFill>
            <a:blip r:embed="rId4"/>
            <a:stretch>
              <a:fillRect l="-4489" r="-4489"/>
            </a:stretch>
          </a:blipFill>
        </p:spPr>
        <p:txBody>
          <a:bodyPr/>
          <a:lstStyle/>
          <a:p>
            <a:endParaRPr lang="en-US"/>
          </a:p>
        </p:txBody>
      </p:sp>
      <p:sp>
        <p:nvSpPr>
          <p:cNvPr id="12" name="Freeform 12"/>
          <p:cNvSpPr/>
          <p:nvPr/>
        </p:nvSpPr>
        <p:spPr>
          <a:xfrm>
            <a:off x="6622412" y="5493095"/>
            <a:ext cx="360455" cy="199479"/>
          </a:xfrm>
          <a:custGeom>
            <a:avLst/>
            <a:gdLst/>
            <a:ahLst/>
            <a:cxnLst/>
            <a:rect l="l" t="t" r="r" b="b"/>
            <a:pathLst>
              <a:path w="360455" h="199479">
                <a:moveTo>
                  <a:pt x="0" y="0"/>
                </a:moveTo>
                <a:lnTo>
                  <a:pt x="360455" y="0"/>
                </a:lnTo>
                <a:lnTo>
                  <a:pt x="360455" y="199479"/>
                </a:lnTo>
                <a:lnTo>
                  <a:pt x="0" y="199479"/>
                </a:lnTo>
                <a:lnTo>
                  <a:pt x="0" y="0"/>
                </a:lnTo>
                <a:close/>
              </a:path>
            </a:pathLst>
          </a:custGeom>
          <a:blipFill>
            <a:blip r:embed="rId4"/>
            <a:stretch>
              <a:fillRect l="-4489" r="-4489"/>
            </a:stretch>
          </a:blipFill>
        </p:spPr>
        <p:txBody>
          <a:bodyPr/>
          <a:lstStyle/>
          <a:p>
            <a:endParaRPr lang="en-US"/>
          </a:p>
        </p:txBody>
      </p:sp>
      <p:sp>
        <p:nvSpPr>
          <p:cNvPr id="13" name="Freeform 13"/>
          <p:cNvSpPr/>
          <p:nvPr/>
        </p:nvSpPr>
        <p:spPr>
          <a:xfrm>
            <a:off x="6064152" y="6323036"/>
            <a:ext cx="360616" cy="199568"/>
          </a:xfrm>
          <a:custGeom>
            <a:avLst/>
            <a:gdLst/>
            <a:ahLst/>
            <a:cxnLst/>
            <a:rect l="l" t="t" r="r" b="b"/>
            <a:pathLst>
              <a:path w="360616" h="199568">
                <a:moveTo>
                  <a:pt x="0" y="0"/>
                </a:moveTo>
                <a:lnTo>
                  <a:pt x="360615" y="0"/>
                </a:lnTo>
                <a:lnTo>
                  <a:pt x="360615" y="199567"/>
                </a:lnTo>
                <a:lnTo>
                  <a:pt x="0" y="199567"/>
                </a:lnTo>
                <a:lnTo>
                  <a:pt x="0" y="0"/>
                </a:lnTo>
                <a:close/>
              </a:path>
            </a:pathLst>
          </a:custGeom>
          <a:blipFill>
            <a:blip r:embed="rId4"/>
            <a:stretch>
              <a:fillRect l="-4489" r="-4489"/>
            </a:stretch>
          </a:blipFill>
        </p:spPr>
        <p:txBody>
          <a:bodyPr/>
          <a:lstStyle/>
          <a:p>
            <a:endParaRPr lang="en-US"/>
          </a:p>
        </p:txBody>
      </p:sp>
      <p:sp>
        <p:nvSpPr>
          <p:cNvPr id="14" name="Freeform 14"/>
          <p:cNvSpPr/>
          <p:nvPr/>
        </p:nvSpPr>
        <p:spPr>
          <a:xfrm>
            <a:off x="6064152" y="6041010"/>
            <a:ext cx="360616" cy="199568"/>
          </a:xfrm>
          <a:custGeom>
            <a:avLst/>
            <a:gdLst/>
            <a:ahLst/>
            <a:cxnLst/>
            <a:rect l="l" t="t" r="r" b="b"/>
            <a:pathLst>
              <a:path w="360616" h="199568">
                <a:moveTo>
                  <a:pt x="0" y="0"/>
                </a:moveTo>
                <a:lnTo>
                  <a:pt x="360615" y="0"/>
                </a:lnTo>
                <a:lnTo>
                  <a:pt x="360615" y="199568"/>
                </a:lnTo>
                <a:lnTo>
                  <a:pt x="0" y="199568"/>
                </a:lnTo>
                <a:lnTo>
                  <a:pt x="0" y="0"/>
                </a:lnTo>
                <a:close/>
              </a:path>
            </a:pathLst>
          </a:custGeom>
          <a:blipFill>
            <a:blip r:embed="rId4"/>
            <a:stretch>
              <a:fillRect l="-4489" r="-4489"/>
            </a:stretch>
          </a:blipFill>
        </p:spPr>
        <p:txBody>
          <a:bodyPr/>
          <a:lstStyle/>
          <a:p>
            <a:endParaRPr lang="en-US"/>
          </a:p>
        </p:txBody>
      </p:sp>
      <p:sp>
        <p:nvSpPr>
          <p:cNvPr id="15" name="Freeform 15"/>
          <p:cNvSpPr/>
          <p:nvPr/>
        </p:nvSpPr>
        <p:spPr>
          <a:xfrm>
            <a:off x="6064152" y="5762261"/>
            <a:ext cx="360616" cy="199568"/>
          </a:xfrm>
          <a:custGeom>
            <a:avLst/>
            <a:gdLst/>
            <a:ahLst/>
            <a:cxnLst/>
            <a:rect l="l" t="t" r="r" b="b"/>
            <a:pathLst>
              <a:path w="360616" h="199568">
                <a:moveTo>
                  <a:pt x="0" y="0"/>
                </a:moveTo>
                <a:lnTo>
                  <a:pt x="360615" y="0"/>
                </a:lnTo>
                <a:lnTo>
                  <a:pt x="360615" y="199567"/>
                </a:lnTo>
                <a:lnTo>
                  <a:pt x="0" y="199567"/>
                </a:lnTo>
                <a:lnTo>
                  <a:pt x="0" y="0"/>
                </a:lnTo>
                <a:close/>
              </a:path>
            </a:pathLst>
          </a:custGeom>
          <a:blipFill>
            <a:blip r:embed="rId4"/>
            <a:stretch>
              <a:fillRect l="-4489" r="-4489"/>
            </a:stretch>
          </a:blipFill>
        </p:spPr>
        <p:txBody>
          <a:bodyPr/>
          <a:lstStyle/>
          <a:p>
            <a:endParaRPr lang="en-US"/>
          </a:p>
        </p:txBody>
      </p:sp>
      <p:sp>
        <p:nvSpPr>
          <p:cNvPr id="16" name="Freeform 16"/>
          <p:cNvSpPr/>
          <p:nvPr/>
        </p:nvSpPr>
        <p:spPr>
          <a:xfrm>
            <a:off x="5388840" y="6041010"/>
            <a:ext cx="360616" cy="199568"/>
          </a:xfrm>
          <a:custGeom>
            <a:avLst/>
            <a:gdLst/>
            <a:ahLst/>
            <a:cxnLst/>
            <a:rect l="l" t="t" r="r" b="b"/>
            <a:pathLst>
              <a:path w="360616" h="199568">
                <a:moveTo>
                  <a:pt x="0" y="0"/>
                </a:moveTo>
                <a:lnTo>
                  <a:pt x="360616" y="0"/>
                </a:lnTo>
                <a:lnTo>
                  <a:pt x="360616" y="199568"/>
                </a:lnTo>
                <a:lnTo>
                  <a:pt x="0" y="199568"/>
                </a:lnTo>
                <a:lnTo>
                  <a:pt x="0" y="0"/>
                </a:lnTo>
                <a:close/>
              </a:path>
            </a:pathLst>
          </a:custGeom>
          <a:blipFill>
            <a:blip r:embed="rId4"/>
            <a:stretch>
              <a:fillRect l="-4489" r="-4489"/>
            </a:stretch>
          </a:blipFill>
        </p:spPr>
        <p:txBody>
          <a:bodyPr/>
          <a:lstStyle/>
          <a:p>
            <a:endParaRPr lang="en-US"/>
          </a:p>
        </p:txBody>
      </p:sp>
      <p:sp>
        <p:nvSpPr>
          <p:cNvPr id="17" name="Freeform 17"/>
          <p:cNvSpPr/>
          <p:nvPr/>
        </p:nvSpPr>
        <p:spPr>
          <a:xfrm>
            <a:off x="5388840" y="6323036"/>
            <a:ext cx="360616" cy="199568"/>
          </a:xfrm>
          <a:custGeom>
            <a:avLst/>
            <a:gdLst/>
            <a:ahLst/>
            <a:cxnLst/>
            <a:rect l="l" t="t" r="r" b="b"/>
            <a:pathLst>
              <a:path w="360616" h="199568">
                <a:moveTo>
                  <a:pt x="0" y="0"/>
                </a:moveTo>
                <a:lnTo>
                  <a:pt x="360616" y="0"/>
                </a:lnTo>
                <a:lnTo>
                  <a:pt x="360616" y="199567"/>
                </a:lnTo>
                <a:lnTo>
                  <a:pt x="0" y="199567"/>
                </a:lnTo>
                <a:lnTo>
                  <a:pt x="0" y="0"/>
                </a:lnTo>
                <a:close/>
              </a:path>
            </a:pathLst>
          </a:custGeom>
          <a:blipFill>
            <a:blip r:embed="rId4"/>
            <a:stretch>
              <a:fillRect l="-4489" r="-4489"/>
            </a:stretch>
          </a:blipFill>
        </p:spPr>
        <p:txBody>
          <a:bodyPr/>
          <a:lstStyle/>
          <a:p>
            <a:endParaRPr lang="en-US"/>
          </a:p>
        </p:txBody>
      </p:sp>
      <p:sp>
        <p:nvSpPr>
          <p:cNvPr id="18" name="Freeform 18"/>
          <p:cNvSpPr/>
          <p:nvPr/>
        </p:nvSpPr>
        <p:spPr>
          <a:xfrm>
            <a:off x="4827799" y="6323036"/>
            <a:ext cx="360616" cy="199568"/>
          </a:xfrm>
          <a:custGeom>
            <a:avLst/>
            <a:gdLst/>
            <a:ahLst/>
            <a:cxnLst/>
            <a:rect l="l" t="t" r="r" b="b"/>
            <a:pathLst>
              <a:path w="360616" h="199568">
                <a:moveTo>
                  <a:pt x="0" y="0"/>
                </a:moveTo>
                <a:lnTo>
                  <a:pt x="360616" y="0"/>
                </a:lnTo>
                <a:lnTo>
                  <a:pt x="360616" y="199567"/>
                </a:lnTo>
                <a:lnTo>
                  <a:pt x="0" y="199567"/>
                </a:lnTo>
                <a:lnTo>
                  <a:pt x="0" y="0"/>
                </a:lnTo>
                <a:close/>
              </a:path>
            </a:pathLst>
          </a:custGeom>
          <a:blipFill>
            <a:blip r:embed="rId4"/>
            <a:stretch>
              <a:fillRect l="-4489" r="-4489"/>
            </a:stretch>
          </a:blipFill>
        </p:spPr>
        <p:txBody>
          <a:bodyPr/>
          <a:lstStyle/>
          <a:p>
            <a:endParaRPr lang="en-US"/>
          </a:p>
        </p:txBody>
      </p:sp>
      <p:pic>
        <p:nvPicPr>
          <p:cNvPr id="19" name="Picture 19"/>
          <p:cNvPicPr>
            <a:picLocks noChangeAspect="1"/>
          </p:cNvPicPr>
          <p:nvPr/>
        </p:nvPicPr>
        <p:blipFill>
          <a:blip r:embed="rId5"/>
          <a:stretch>
            <a:fillRect/>
          </a:stretch>
        </p:blipFill>
        <p:spPr>
          <a:xfrm>
            <a:off x="4529812" y="2796722"/>
            <a:ext cx="974270" cy="974270"/>
          </a:xfrm>
          <a:prstGeom prst="rect">
            <a:avLst/>
          </a:prstGeom>
        </p:spPr>
      </p:pic>
      <p:pic>
        <p:nvPicPr>
          <p:cNvPr id="20" name="Picture 20"/>
          <p:cNvPicPr>
            <a:picLocks noChangeAspect="1"/>
          </p:cNvPicPr>
          <p:nvPr/>
        </p:nvPicPr>
        <p:blipFill>
          <a:blip r:embed="rId6"/>
          <a:stretch>
            <a:fillRect/>
          </a:stretch>
        </p:blipFill>
        <p:spPr>
          <a:xfrm>
            <a:off x="5483516" y="2796802"/>
            <a:ext cx="973310" cy="973310"/>
          </a:xfrm>
          <a:prstGeom prst="rect">
            <a:avLst/>
          </a:prstGeom>
        </p:spPr>
      </p:pic>
      <p:pic>
        <p:nvPicPr>
          <p:cNvPr id="21" name="Picture 21"/>
          <p:cNvPicPr>
            <a:picLocks noChangeAspect="1"/>
          </p:cNvPicPr>
          <p:nvPr/>
        </p:nvPicPr>
        <p:blipFill>
          <a:blip r:embed="rId7"/>
          <a:stretch>
            <a:fillRect/>
          </a:stretch>
        </p:blipFill>
        <p:spPr>
          <a:xfrm>
            <a:off x="6411887" y="2796802"/>
            <a:ext cx="973310" cy="973310"/>
          </a:xfrm>
          <a:prstGeom prst="rect">
            <a:avLst/>
          </a:prstGeom>
        </p:spPr>
      </p:pic>
      <p:sp>
        <p:nvSpPr>
          <p:cNvPr id="22" name="AutoShape 22"/>
          <p:cNvSpPr/>
          <p:nvPr/>
        </p:nvSpPr>
        <p:spPr>
          <a:xfrm>
            <a:off x="177146" y="4416748"/>
            <a:ext cx="7182404" cy="0"/>
          </a:xfrm>
          <a:prstGeom prst="line">
            <a:avLst/>
          </a:prstGeom>
          <a:ln w="19050" cap="flat">
            <a:solidFill>
              <a:srgbClr val="65AB4C"/>
            </a:solidFill>
            <a:prstDash val="solid"/>
            <a:headEnd type="none" w="sm" len="sm"/>
            <a:tailEnd type="none" w="sm" len="sm"/>
          </a:ln>
        </p:spPr>
        <p:txBody>
          <a:bodyPr/>
          <a:lstStyle/>
          <a:p>
            <a:endParaRPr lang="en-US"/>
          </a:p>
        </p:txBody>
      </p:sp>
      <p:sp>
        <p:nvSpPr>
          <p:cNvPr id="23" name="AutoShape 23"/>
          <p:cNvSpPr/>
          <p:nvPr/>
        </p:nvSpPr>
        <p:spPr>
          <a:xfrm>
            <a:off x="4035028" y="13274234"/>
            <a:ext cx="3215444" cy="1961203"/>
          </a:xfrm>
          <a:prstGeom prst="rect">
            <a:avLst/>
          </a:prstGeom>
          <a:solidFill>
            <a:srgbClr val="AACF4F"/>
          </a:solidFill>
        </p:spPr>
        <p:txBody>
          <a:bodyPr/>
          <a:lstStyle/>
          <a:p>
            <a:endParaRPr lang="en-US"/>
          </a:p>
        </p:txBody>
      </p:sp>
      <p:sp>
        <p:nvSpPr>
          <p:cNvPr id="24" name="AutoShape 24"/>
          <p:cNvSpPr/>
          <p:nvPr/>
        </p:nvSpPr>
        <p:spPr>
          <a:xfrm>
            <a:off x="243554" y="15886947"/>
            <a:ext cx="311954" cy="320040"/>
          </a:xfrm>
          <a:prstGeom prst="rect">
            <a:avLst/>
          </a:prstGeom>
          <a:solidFill>
            <a:srgbClr val="AACF4F"/>
          </a:solidFill>
        </p:spPr>
        <p:txBody>
          <a:bodyPr/>
          <a:lstStyle/>
          <a:p>
            <a:endParaRPr lang="en-US"/>
          </a:p>
        </p:txBody>
      </p:sp>
      <p:sp>
        <p:nvSpPr>
          <p:cNvPr id="25" name="AutoShape 25"/>
          <p:cNvSpPr/>
          <p:nvPr/>
        </p:nvSpPr>
        <p:spPr>
          <a:xfrm>
            <a:off x="180810" y="18244264"/>
            <a:ext cx="7198432" cy="0"/>
          </a:xfrm>
          <a:prstGeom prst="line">
            <a:avLst/>
          </a:prstGeom>
          <a:ln w="19050" cap="flat">
            <a:solidFill>
              <a:srgbClr val="65AB4C"/>
            </a:solidFill>
            <a:prstDash val="solid"/>
            <a:headEnd type="none" w="sm" len="sm"/>
            <a:tailEnd type="none" w="sm" len="sm"/>
          </a:ln>
        </p:spPr>
        <p:txBody>
          <a:bodyPr/>
          <a:lstStyle/>
          <a:p>
            <a:endParaRPr lang="en-US"/>
          </a:p>
        </p:txBody>
      </p:sp>
      <p:sp>
        <p:nvSpPr>
          <p:cNvPr id="26" name="AutoShape 26"/>
          <p:cNvSpPr/>
          <p:nvPr/>
        </p:nvSpPr>
        <p:spPr>
          <a:xfrm>
            <a:off x="188692" y="15782172"/>
            <a:ext cx="7129001" cy="0"/>
          </a:xfrm>
          <a:prstGeom prst="line">
            <a:avLst/>
          </a:prstGeom>
          <a:ln w="19050" cap="flat">
            <a:solidFill>
              <a:srgbClr val="65AB4C"/>
            </a:solidFill>
            <a:prstDash val="solid"/>
            <a:headEnd type="none" w="sm" len="sm"/>
            <a:tailEnd type="none" w="sm" len="sm"/>
          </a:ln>
        </p:spPr>
        <p:txBody>
          <a:bodyPr/>
          <a:lstStyle/>
          <a:p>
            <a:endParaRPr lang="en-US"/>
          </a:p>
        </p:txBody>
      </p:sp>
      <p:sp>
        <p:nvSpPr>
          <p:cNvPr id="27" name="AutoShape 27"/>
          <p:cNvSpPr/>
          <p:nvPr/>
        </p:nvSpPr>
        <p:spPr>
          <a:xfrm>
            <a:off x="172220" y="16352414"/>
            <a:ext cx="3650660" cy="1825175"/>
          </a:xfrm>
          <a:prstGeom prst="rect">
            <a:avLst/>
          </a:prstGeom>
          <a:solidFill>
            <a:srgbClr val="AACF4F"/>
          </a:solidFill>
        </p:spPr>
        <p:txBody>
          <a:bodyPr/>
          <a:lstStyle/>
          <a:p>
            <a:endParaRPr lang="en-US"/>
          </a:p>
        </p:txBody>
      </p:sp>
      <p:sp>
        <p:nvSpPr>
          <p:cNvPr id="28" name="AutoShape 28"/>
          <p:cNvSpPr/>
          <p:nvPr/>
        </p:nvSpPr>
        <p:spPr>
          <a:xfrm>
            <a:off x="3847336" y="16352414"/>
            <a:ext cx="3565283" cy="1825175"/>
          </a:xfrm>
          <a:prstGeom prst="rect">
            <a:avLst/>
          </a:prstGeom>
          <a:solidFill>
            <a:srgbClr val="E9AD95"/>
          </a:solidFill>
        </p:spPr>
        <p:txBody>
          <a:bodyPr/>
          <a:lstStyle/>
          <a:p>
            <a:endParaRPr lang="en-US"/>
          </a:p>
        </p:txBody>
      </p:sp>
      <p:sp>
        <p:nvSpPr>
          <p:cNvPr id="29" name="AutoShape 29"/>
          <p:cNvSpPr/>
          <p:nvPr/>
        </p:nvSpPr>
        <p:spPr>
          <a:xfrm>
            <a:off x="4011201" y="12829968"/>
            <a:ext cx="311954" cy="320040"/>
          </a:xfrm>
          <a:prstGeom prst="rect">
            <a:avLst/>
          </a:prstGeom>
          <a:solidFill>
            <a:srgbClr val="AACF4F"/>
          </a:solidFill>
        </p:spPr>
        <p:txBody>
          <a:bodyPr/>
          <a:lstStyle/>
          <a:p>
            <a:endParaRPr lang="en-US"/>
          </a:p>
        </p:txBody>
      </p:sp>
      <p:sp>
        <p:nvSpPr>
          <p:cNvPr id="30" name="Freeform 30"/>
          <p:cNvSpPr/>
          <p:nvPr/>
        </p:nvSpPr>
        <p:spPr>
          <a:xfrm>
            <a:off x="2069923" y="1168900"/>
            <a:ext cx="775565" cy="584582"/>
          </a:xfrm>
          <a:custGeom>
            <a:avLst/>
            <a:gdLst/>
            <a:ahLst/>
            <a:cxnLst/>
            <a:rect l="l" t="t" r="r" b="b"/>
            <a:pathLst>
              <a:path w="775565" h="584582">
                <a:moveTo>
                  <a:pt x="0" y="0"/>
                </a:moveTo>
                <a:lnTo>
                  <a:pt x="775565" y="0"/>
                </a:lnTo>
                <a:lnTo>
                  <a:pt x="775565" y="584582"/>
                </a:lnTo>
                <a:lnTo>
                  <a:pt x="0" y="584582"/>
                </a:lnTo>
                <a:lnTo>
                  <a:pt x="0" y="0"/>
                </a:lnTo>
                <a:close/>
              </a:path>
            </a:pathLst>
          </a:custGeom>
          <a:blipFill>
            <a:blip r:embed="rId8"/>
            <a:stretch>
              <a:fillRect/>
            </a:stretch>
          </a:blipFill>
        </p:spPr>
        <p:txBody>
          <a:bodyPr/>
          <a:lstStyle/>
          <a:p>
            <a:endParaRPr lang="en-US"/>
          </a:p>
        </p:txBody>
      </p:sp>
      <p:sp>
        <p:nvSpPr>
          <p:cNvPr id="31" name="Freeform 31"/>
          <p:cNvSpPr/>
          <p:nvPr/>
        </p:nvSpPr>
        <p:spPr>
          <a:xfrm>
            <a:off x="3009273" y="1134222"/>
            <a:ext cx="540985" cy="653938"/>
          </a:xfrm>
          <a:custGeom>
            <a:avLst/>
            <a:gdLst/>
            <a:ahLst/>
            <a:cxnLst/>
            <a:rect l="l" t="t" r="r" b="b"/>
            <a:pathLst>
              <a:path w="540985" h="653938">
                <a:moveTo>
                  <a:pt x="0" y="0"/>
                </a:moveTo>
                <a:lnTo>
                  <a:pt x="540985" y="0"/>
                </a:lnTo>
                <a:lnTo>
                  <a:pt x="540985" y="653938"/>
                </a:lnTo>
                <a:lnTo>
                  <a:pt x="0" y="65393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32" name="Freeform 32"/>
          <p:cNvSpPr/>
          <p:nvPr/>
        </p:nvSpPr>
        <p:spPr>
          <a:xfrm>
            <a:off x="3736110" y="1185115"/>
            <a:ext cx="691207" cy="603045"/>
          </a:xfrm>
          <a:custGeom>
            <a:avLst/>
            <a:gdLst/>
            <a:ahLst/>
            <a:cxnLst/>
            <a:rect l="l" t="t" r="r" b="b"/>
            <a:pathLst>
              <a:path w="691207" h="603045">
                <a:moveTo>
                  <a:pt x="0" y="0"/>
                </a:moveTo>
                <a:lnTo>
                  <a:pt x="691207" y="0"/>
                </a:lnTo>
                <a:lnTo>
                  <a:pt x="691207" y="603045"/>
                </a:lnTo>
                <a:lnTo>
                  <a:pt x="0" y="603045"/>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33" name="Freeform 33"/>
          <p:cNvSpPr/>
          <p:nvPr/>
        </p:nvSpPr>
        <p:spPr>
          <a:xfrm>
            <a:off x="4593852" y="1131943"/>
            <a:ext cx="671605" cy="621540"/>
          </a:xfrm>
          <a:custGeom>
            <a:avLst/>
            <a:gdLst/>
            <a:ahLst/>
            <a:cxnLst/>
            <a:rect l="l" t="t" r="r" b="b"/>
            <a:pathLst>
              <a:path w="671605" h="621540">
                <a:moveTo>
                  <a:pt x="0" y="0"/>
                </a:moveTo>
                <a:lnTo>
                  <a:pt x="671605" y="0"/>
                </a:lnTo>
                <a:lnTo>
                  <a:pt x="671605" y="621539"/>
                </a:lnTo>
                <a:lnTo>
                  <a:pt x="0" y="621539"/>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US"/>
          </a:p>
        </p:txBody>
      </p:sp>
      <p:sp>
        <p:nvSpPr>
          <p:cNvPr id="34" name="Freeform 34"/>
          <p:cNvSpPr/>
          <p:nvPr/>
        </p:nvSpPr>
        <p:spPr>
          <a:xfrm>
            <a:off x="2681098" y="2442210"/>
            <a:ext cx="1603730" cy="1738461"/>
          </a:xfrm>
          <a:custGeom>
            <a:avLst/>
            <a:gdLst/>
            <a:ahLst/>
            <a:cxnLst/>
            <a:rect l="l" t="t" r="r" b="b"/>
            <a:pathLst>
              <a:path w="1603730" h="1738461">
                <a:moveTo>
                  <a:pt x="0" y="0"/>
                </a:moveTo>
                <a:lnTo>
                  <a:pt x="1603730" y="0"/>
                </a:lnTo>
                <a:lnTo>
                  <a:pt x="1603730" y="1738461"/>
                </a:lnTo>
                <a:lnTo>
                  <a:pt x="0" y="1738461"/>
                </a:lnTo>
                <a:lnTo>
                  <a:pt x="0" y="0"/>
                </a:lnTo>
                <a:close/>
              </a:path>
            </a:pathLst>
          </a:custGeom>
          <a:blipFill>
            <a:blip r:embed="rId15"/>
            <a:stretch>
              <a:fillRect/>
            </a:stretch>
          </a:blipFill>
        </p:spPr>
        <p:txBody>
          <a:bodyPr/>
          <a:lstStyle/>
          <a:p>
            <a:endParaRPr lang="en-US"/>
          </a:p>
        </p:txBody>
      </p:sp>
      <p:sp>
        <p:nvSpPr>
          <p:cNvPr id="35" name="AutoShape 35"/>
          <p:cNvSpPr/>
          <p:nvPr/>
        </p:nvSpPr>
        <p:spPr>
          <a:xfrm>
            <a:off x="213579" y="12734718"/>
            <a:ext cx="7133364" cy="0"/>
          </a:xfrm>
          <a:prstGeom prst="line">
            <a:avLst/>
          </a:prstGeom>
          <a:ln w="19050" cap="flat">
            <a:solidFill>
              <a:srgbClr val="65AB4C"/>
            </a:solidFill>
            <a:prstDash val="solid"/>
            <a:headEnd type="none" w="sm" len="sm"/>
            <a:tailEnd type="none" w="sm" len="sm"/>
          </a:ln>
        </p:spPr>
        <p:txBody>
          <a:bodyPr/>
          <a:lstStyle/>
          <a:p>
            <a:endParaRPr lang="en-US"/>
          </a:p>
        </p:txBody>
      </p:sp>
      <p:sp>
        <p:nvSpPr>
          <p:cNvPr id="36" name="AutoShape 36"/>
          <p:cNvSpPr/>
          <p:nvPr/>
        </p:nvSpPr>
        <p:spPr>
          <a:xfrm>
            <a:off x="172220" y="8497061"/>
            <a:ext cx="7182404" cy="0"/>
          </a:xfrm>
          <a:prstGeom prst="line">
            <a:avLst/>
          </a:prstGeom>
          <a:ln w="19050" cap="flat">
            <a:solidFill>
              <a:srgbClr val="65AB4C"/>
            </a:solidFill>
            <a:prstDash val="solid"/>
            <a:headEnd type="none" w="sm" len="sm"/>
            <a:tailEnd type="none" w="sm" len="sm"/>
          </a:ln>
        </p:spPr>
        <p:txBody>
          <a:bodyPr/>
          <a:lstStyle/>
          <a:p>
            <a:endParaRPr lang="en-US"/>
          </a:p>
        </p:txBody>
      </p:sp>
      <p:sp>
        <p:nvSpPr>
          <p:cNvPr id="37" name="Freeform 37"/>
          <p:cNvSpPr/>
          <p:nvPr/>
        </p:nvSpPr>
        <p:spPr>
          <a:xfrm>
            <a:off x="421071" y="5374955"/>
            <a:ext cx="3245997" cy="1637888"/>
          </a:xfrm>
          <a:custGeom>
            <a:avLst/>
            <a:gdLst/>
            <a:ahLst/>
            <a:cxnLst/>
            <a:rect l="l" t="t" r="r" b="b"/>
            <a:pathLst>
              <a:path w="3245997" h="1637888">
                <a:moveTo>
                  <a:pt x="0" y="0"/>
                </a:moveTo>
                <a:lnTo>
                  <a:pt x="3245997" y="0"/>
                </a:lnTo>
                <a:lnTo>
                  <a:pt x="3245997" y="1637889"/>
                </a:lnTo>
                <a:lnTo>
                  <a:pt x="0" y="1637889"/>
                </a:lnTo>
                <a:lnTo>
                  <a:pt x="0" y="0"/>
                </a:lnTo>
                <a:close/>
              </a:path>
            </a:pathLst>
          </a:custGeom>
          <a:blipFill>
            <a:blip r:embed="rId3"/>
            <a:stretch>
              <a:fillRect l="-4530" t="-150165" r="-2613" b="-7675"/>
            </a:stretch>
          </a:blipFill>
        </p:spPr>
        <p:txBody>
          <a:bodyPr/>
          <a:lstStyle/>
          <a:p>
            <a:endParaRPr lang="en-US"/>
          </a:p>
        </p:txBody>
      </p:sp>
      <p:sp>
        <p:nvSpPr>
          <p:cNvPr id="38" name="Freeform 38"/>
          <p:cNvSpPr/>
          <p:nvPr/>
        </p:nvSpPr>
        <p:spPr>
          <a:xfrm>
            <a:off x="3892891" y="15858372"/>
            <a:ext cx="3319478" cy="423233"/>
          </a:xfrm>
          <a:custGeom>
            <a:avLst/>
            <a:gdLst/>
            <a:ahLst/>
            <a:cxnLst/>
            <a:rect l="l" t="t" r="r" b="b"/>
            <a:pathLst>
              <a:path w="3319478" h="423233">
                <a:moveTo>
                  <a:pt x="0" y="0"/>
                </a:moveTo>
                <a:lnTo>
                  <a:pt x="3319478" y="0"/>
                </a:lnTo>
                <a:lnTo>
                  <a:pt x="3319478" y="423234"/>
                </a:lnTo>
                <a:lnTo>
                  <a:pt x="0" y="423234"/>
                </a:lnTo>
                <a:lnTo>
                  <a:pt x="0" y="0"/>
                </a:lnTo>
                <a:close/>
              </a:path>
            </a:pathLst>
          </a:custGeom>
          <a:blipFill>
            <a:blip r:embed="rId16"/>
            <a:stretch>
              <a:fillRect/>
            </a:stretch>
          </a:blipFill>
        </p:spPr>
        <p:txBody>
          <a:bodyPr/>
          <a:lstStyle/>
          <a:p>
            <a:endParaRPr lang="en-US"/>
          </a:p>
        </p:txBody>
      </p:sp>
      <p:sp>
        <p:nvSpPr>
          <p:cNvPr id="39" name="Freeform 39"/>
          <p:cNvSpPr/>
          <p:nvPr/>
        </p:nvSpPr>
        <p:spPr>
          <a:xfrm>
            <a:off x="1942456" y="3721663"/>
            <a:ext cx="514988" cy="418428"/>
          </a:xfrm>
          <a:custGeom>
            <a:avLst/>
            <a:gdLst/>
            <a:ahLst/>
            <a:cxnLst/>
            <a:rect l="l" t="t" r="r" b="b"/>
            <a:pathLst>
              <a:path w="514988" h="418428">
                <a:moveTo>
                  <a:pt x="0" y="0"/>
                </a:moveTo>
                <a:lnTo>
                  <a:pt x="514988" y="0"/>
                </a:lnTo>
                <a:lnTo>
                  <a:pt x="514988" y="418428"/>
                </a:lnTo>
                <a:lnTo>
                  <a:pt x="0" y="418428"/>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US"/>
          </a:p>
        </p:txBody>
      </p:sp>
      <p:sp>
        <p:nvSpPr>
          <p:cNvPr id="40" name="AutoShape 40"/>
          <p:cNvSpPr/>
          <p:nvPr/>
        </p:nvSpPr>
        <p:spPr>
          <a:xfrm>
            <a:off x="4068487" y="8592311"/>
            <a:ext cx="311954" cy="320040"/>
          </a:xfrm>
          <a:prstGeom prst="rect">
            <a:avLst/>
          </a:prstGeom>
          <a:solidFill>
            <a:srgbClr val="AACF4F"/>
          </a:solidFill>
        </p:spPr>
        <p:txBody>
          <a:bodyPr/>
          <a:lstStyle/>
          <a:p>
            <a:endParaRPr lang="en-US"/>
          </a:p>
        </p:txBody>
      </p:sp>
      <p:sp>
        <p:nvSpPr>
          <p:cNvPr id="41" name="Freeform 41"/>
          <p:cNvSpPr/>
          <p:nvPr/>
        </p:nvSpPr>
        <p:spPr>
          <a:xfrm>
            <a:off x="3238696" y="6413488"/>
            <a:ext cx="360616" cy="199568"/>
          </a:xfrm>
          <a:custGeom>
            <a:avLst/>
            <a:gdLst/>
            <a:ahLst/>
            <a:cxnLst/>
            <a:rect l="l" t="t" r="r" b="b"/>
            <a:pathLst>
              <a:path w="360616" h="199568">
                <a:moveTo>
                  <a:pt x="0" y="0"/>
                </a:moveTo>
                <a:lnTo>
                  <a:pt x="360615" y="0"/>
                </a:lnTo>
                <a:lnTo>
                  <a:pt x="360615" y="199568"/>
                </a:lnTo>
                <a:lnTo>
                  <a:pt x="0" y="199568"/>
                </a:lnTo>
                <a:lnTo>
                  <a:pt x="0" y="0"/>
                </a:lnTo>
                <a:close/>
              </a:path>
            </a:pathLst>
          </a:custGeom>
          <a:blipFill>
            <a:blip r:embed="rId4"/>
            <a:stretch>
              <a:fillRect l="-4489" r="-4489"/>
            </a:stretch>
          </a:blipFill>
        </p:spPr>
        <p:txBody>
          <a:bodyPr/>
          <a:lstStyle/>
          <a:p>
            <a:endParaRPr lang="en-US"/>
          </a:p>
        </p:txBody>
      </p:sp>
      <p:sp>
        <p:nvSpPr>
          <p:cNvPr id="42" name="Freeform 42"/>
          <p:cNvSpPr/>
          <p:nvPr/>
        </p:nvSpPr>
        <p:spPr>
          <a:xfrm>
            <a:off x="3238856" y="6175721"/>
            <a:ext cx="360455" cy="199479"/>
          </a:xfrm>
          <a:custGeom>
            <a:avLst/>
            <a:gdLst/>
            <a:ahLst/>
            <a:cxnLst/>
            <a:rect l="l" t="t" r="r" b="b"/>
            <a:pathLst>
              <a:path w="360455" h="199479">
                <a:moveTo>
                  <a:pt x="0" y="0"/>
                </a:moveTo>
                <a:lnTo>
                  <a:pt x="360455" y="0"/>
                </a:lnTo>
                <a:lnTo>
                  <a:pt x="360455" y="199479"/>
                </a:lnTo>
                <a:lnTo>
                  <a:pt x="0" y="199479"/>
                </a:lnTo>
                <a:lnTo>
                  <a:pt x="0" y="0"/>
                </a:lnTo>
                <a:close/>
              </a:path>
            </a:pathLst>
          </a:custGeom>
          <a:blipFill>
            <a:blip r:embed="rId4"/>
            <a:stretch>
              <a:fillRect l="-4489" r="-4489"/>
            </a:stretch>
          </a:blipFill>
        </p:spPr>
        <p:txBody>
          <a:bodyPr/>
          <a:lstStyle/>
          <a:p>
            <a:endParaRPr lang="en-US"/>
          </a:p>
        </p:txBody>
      </p:sp>
      <p:sp>
        <p:nvSpPr>
          <p:cNvPr id="43" name="Freeform 43"/>
          <p:cNvSpPr/>
          <p:nvPr/>
        </p:nvSpPr>
        <p:spPr>
          <a:xfrm>
            <a:off x="3238856" y="5961828"/>
            <a:ext cx="360455" cy="199479"/>
          </a:xfrm>
          <a:custGeom>
            <a:avLst/>
            <a:gdLst/>
            <a:ahLst/>
            <a:cxnLst/>
            <a:rect l="l" t="t" r="r" b="b"/>
            <a:pathLst>
              <a:path w="360455" h="199479">
                <a:moveTo>
                  <a:pt x="0" y="0"/>
                </a:moveTo>
                <a:lnTo>
                  <a:pt x="360455" y="0"/>
                </a:lnTo>
                <a:lnTo>
                  <a:pt x="360455" y="199479"/>
                </a:lnTo>
                <a:lnTo>
                  <a:pt x="0" y="199479"/>
                </a:lnTo>
                <a:lnTo>
                  <a:pt x="0" y="0"/>
                </a:lnTo>
                <a:close/>
              </a:path>
            </a:pathLst>
          </a:custGeom>
          <a:blipFill>
            <a:blip r:embed="rId4"/>
            <a:stretch>
              <a:fillRect l="-4489" r="-4489"/>
            </a:stretch>
          </a:blipFill>
        </p:spPr>
        <p:txBody>
          <a:bodyPr/>
          <a:lstStyle/>
          <a:p>
            <a:endParaRPr lang="en-US"/>
          </a:p>
        </p:txBody>
      </p:sp>
      <p:sp>
        <p:nvSpPr>
          <p:cNvPr id="44" name="Freeform 44"/>
          <p:cNvSpPr/>
          <p:nvPr/>
        </p:nvSpPr>
        <p:spPr>
          <a:xfrm>
            <a:off x="3238856" y="5724061"/>
            <a:ext cx="360455" cy="199479"/>
          </a:xfrm>
          <a:custGeom>
            <a:avLst/>
            <a:gdLst/>
            <a:ahLst/>
            <a:cxnLst/>
            <a:rect l="l" t="t" r="r" b="b"/>
            <a:pathLst>
              <a:path w="360455" h="199479">
                <a:moveTo>
                  <a:pt x="0" y="0"/>
                </a:moveTo>
                <a:lnTo>
                  <a:pt x="360455" y="0"/>
                </a:lnTo>
                <a:lnTo>
                  <a:pt x="360455" y="199479"/>
                </a:lnTo>
                <a:lnTo>
                  <a:pt x="0" y="199479"/>
                </a:lnTo>
                <a:lnTo>
                  <a:pt x="0" y="0"/>
                </a:lnTo>
                <a:close/>
              </a:path>
            </a:pathLst>
          </a:custGeom>
          <a:blipFill>
            <a:blip r:embed="rId4"/>
            <a:stretch>
              <a:fillRect l="-4489" r="-4489"/>
            </a:stretch>
          </a:blipFill>
        </p:spPr>
        <p:txBody>
          <a:bodyPr/>
          <a:lstStyle/>
          <a:p>
            <a:endParaRPr lang="en-US"/>
          </a:p>
        </p:txBody>
      </p:sp>
      <p:sp>
        <p:nvSpPr>
          <p:cNvPr id="45" name="Freeform 45"/>
          <p:cNvSpPr/>
          <p:nvPr/>
        </p:nvSpPr>
        <p:spPr>
          <a:xfrm>
            <a:off x="2627444" y="6403916"/>
            <a:ext cx="360616" cy="199568"/>
          </a:xfrm>
          <a:custGeom>
            <a:avLst/>
            <a:gdLst/>
            <a:ahLst/>
            <a:cxnLst/>
            <a:rect l="l" t="t" r="r" b="b"/>
            <a:pathLst>
              <a:path w="360616" h="199568">
                <a:moveTo>
                  <a:pt x="0" y="0"/>
                </a:moveTo>
                <a:lnTo>
                  <a:pt x="360615" y="0"/>
                </a:lnTo>
                <a:lnTo>
                  <a:pt x="360615" y="199568"/>
                </a:lnTo>
                <a:lnTo>
                  <a:pt x="0" y="199568"/>
                </a:lnTo>
                <a:lnTo>
                  <a:pt x="0" y="0"/>
                </a:lnTo>
                <a:close/>
              </a:path>
            </a:pathLst>
          </a:custGeom>
          <a:blipFill>
            <a:blip r:embed="rId4"/>
            <a:stretch>
              <a:fillRect l="-4489" r="-4489"/>
            </a:stretch>
          </a:blipFill>
        </p:spPr>
        <p:txBody>
          <a:bodyPr/>
          <a:lstStyle/>
          <a:p>
            <a:endParaRPr lang="en-US"/>
          </a:p>
        </p:txBody>
      </p:sp>
      <p:sp>
        <p:nvSpPr>
          <p:cNvPr id="46" name="Freeform 46"/>
          <p:cNvSpPr/>
          <p:nvPr/>
        </p:nvSpPr>
        <p:spPr>
          <a:xfrm>
            <a:off x="2627444" y="6161307"/>
            <a:ext cx="360616" cy="199568"/>
          </a:xfrm>
          <a:custGeom>
            <a:avLst/>
            <a:gdLst/>
            <a:ahLst/>
            <a:cxnLst/>
            <a:rect l="l" t="t" r="r" b="b"/>
            <a:pathLst>
              <a:path w="360616" h="199568">
                <a:moveTo>
                  <a:pt x="0" y="0"/>
                </a:moveTo>
                <a:lnTo>
                  <a:pt x="360615" y="0"/>
                </a:lnTo>
                <a:lnTo>
                  <a:pt x="360615" y="199568"/>
                </a:lnTo>
                <a:lnTo>
                  <a:pt x="0" y="199568"/>
                </a:lnTo>
                <a:lnTo>
                  <a:pt x="0" y="0"/>
                </a:lnTo>
                <a:close/>
              </a:path>
            </a:pathLst>
          </a:custGeom>
          <a:blipFill>
            <a:blip r:embed="rId4"/>
            <a:stretch>
              <a:fillRect l="-4489" r="-4489"/>
            </a:stretch>
          </a:blipFill>
        </p:spPr>
        <p:txBody>
          <a:bodyPr/>
          <a:lstStyle/>
          <a:p>
            <a:endParaRPr lang="en-US"/>
          </a:p>
        </p:txBody>
      </p:sp>
      <p:sp>
        <p:nvSpPr>
          <p:cNvPr id="47" name="Freeform 47"/>
          <p:cNvSpPr/>
          <p:nvPr/>
        </p:nvSpPr>
        <p:spPr>
          <a:xfrm>
            <a:off x="2643157" y="5905178"/>
            <a:ext cx="360616" cy="199568"/>
          </a:xfrm>
          <a:custGeom>
            <a:avLst/>
            <a:gdLst/>
            <a:ahLst/>
            <a:cxnLst/>
            <a:rect l="l" t="t" r="r" b="b"/>
            <a:pathLst>
              <a:path w="360616" h="199568">
                <a:moveTo>
                  <a:pt x="0" y="0"/>
                </a:moveTo>
                <a:lnTo>
                  <a:pt x="360616" y="0"/>
                </a:lnTo>
                <a:lnTo>
                  <a:pt x="360616" y="199568"/>
                </a:lnTo>
                <a:lnTo>
                  <a:pt x="0" y="199568"/>
                </a:lnTo>
                <a:lnTo>
                  <a:pt x="0" y="0"/>
                </a:lnTo>
                <a:close/>
              </a:path>
            </a:pathLst>
          </a:custGeom>
          <a:blipFill>
            <a:blip r:embed="rId4"/>
            <a:stretch>
              <a:fillRect l="-4489" r="-4489"/>
            </a:stretch>
          </a:blipFill>
        </p:spPr>
        <p:txBody>
          <a:bodyPr/>
          <a:lstStyle/>
          <a:p>
            <a:endParaRPr lang="en-US"/>
          </a:p>
        </p:txBody>
      </p:sp>
      <p:sp>
        <p:nvSpPr>
          <p:cNvPr id="48" name="Freeform 48"/>
          <p:cNvSpPr/>
          <p:nvPr/>
        </p:nvSpPr>
        <p:spPr>
          <a:xfrm>
            <a:off x="1916398" y="6175632"/>
            <a:ext cx="360616" cy="199568"/>
          </a:xfrm>
          <a:custGeom>
            <a:avLst/>
            <a:gdLst/>
            <a:ahLst/>
            <a:cxnLst/>
            <a:rect l="l" t="t" r="r" b="b"/>
            <a:pathLst>
              <a:path w="360616" h="199568">
                <a:moveTo>
                  <a:pt x="0" y="0"/>
                </a:moveTo>
                <a:lnTo>
                  <a:pt x="360615" y="0"/>
                </a:lnTo>
                <a:lnTo>
                  <a:pt x="360615" y="199568"/>
                </a:lnTo>
                <a:lnTo>
                  <a:pt x="0" y="199568"/>
                </a:lnTo>
                <a:lnTo>
                  <a:pt x="0" y="0"/>
                </a:lnTo>
                <a:close/>
              </a:path>
            </a:pathLst>
          </a:custGeom>
          <a:blipFill>
            <a:blip r:embed="rId4"/>
            <a:stretch>
              <a:fillRect l="-4489" r="-4489"/>
            </a:stretch>
          </a:blipFill>
        </p:spPr>
        <p:txBody>
          <a:bodyPr/>
          <a:lstStyle/>
          <a:p>
            <a:endParaRPr lang="en-US"/>
          </a:p>
        </p:txBody>
      </p:sp>
      <p:sp>
        <p:nvSpPr>
          <p:cNvPr id="49" name="Freeform 49"/>
          <p:cNvSpPr/>
          <p:nvPr/>
        </p:nvSpPr>
        <p:spPr>
          <a:xfrm>
            <a:off x="1927651" y="6403916"/>
            <a:ext cx="360616" cy="199568"/>
          </a:xfrm>
          <a:custGeom>
            <a:avLst/>
            <a:gdLst/>
            <a:ahLst/>
            <a:cxnLst/>
            <a:rect l="l" t="t" r="r" b="b"/>
            <a:pathLst>
              <a:path w="360616" h="199568">
                <a:moveTo>
                  <a:pt x="0" y="0"/>
                </a:moveTo>
                <a:lnTo>
                  <a:pt x="360616" y="0"/>
                </a:lnTo>
                <a:lnTo>
                  <a:pt x="360616" y="199568"/>
                </a:lnTo>
                <a:lnTo>
                  <a:pt x="0" y="199568"/>
                </a:lnTo>
                <a:lnTo>
                  <a:pt x="0" y="0"/>
                </a:lnTo>
                <a:close/>
              </a:path>
            </a:pathLst>
          </a:custGeom>
          <a:blipFill>
            <a:blip r:embed="rId4"/>
            <a:stretch>
              <a:fillRect l="-4489" r="-4489"/>
            </a:stretch>
          </a:blipFill>
        </p:spPr>
        <p:txBody>
          <a:bodyPr/>
          <a:lstStyle/>
          <a:p>
            <a:endParaRPr lang="en-US"/>
          </a:p>
        </p:txBody>
      </p:sp>
      <p:sp>
        <p:nvSpPr>
          <p:cNvPr id="50" name="Freeform 50"/>
          <p:cNvSpPr/>
          <p:nvPr/>
        </p:nvSpPr>
        <p:spPr>
          <a:xfrm>
            <a:off x="1288729" y="6397492"/>
            <a:ext cx="360616" cy="199568"/>
          </a:xfrm>
          <a:custGeom>
            <a:avLst/>
            <a:gdLst/>
            <a:ahLst/>
            <a:cxnLst/>
            <a:rect l="l" t="t" r="r" b="b"/>
            <a:pathLst>
              <a:path w="360616" h="199568">
                <a:moveTo>
                  <a:pt x="0" y="0"/>
                </a:moveTo>
                <a:lnTo>
                  <a:pt x="360616" y="0"/>
                </a:lnTo>
                <a:lnTo>
                  <a:pt x="360616" y="199568"/>
                </a:lnTo>
                <a:lnTo>
                  <a:pt x="0" y="199568"/>
                </a:lnTo>
                <a:lnTo>
                  <a:pt x="0" y="0"/>
                </a:lnTo>
                <a:close/>
              </a:path>
            </a:pathLst>
          </a:custGeom>
          <a:blipFill>
            <a:blip r:embed="rId4"/>
            <a:stretch>
              <a:fillRect l="-4489" r="-4489"/>
            </a:stretch>
          </a:blipFill>
        </p:spPr>
        <p:txBody>
          <a:bodyPr/>
          <a:lstStyle/>
          <a:p>
            <a:endParaRPr lang="en-US"/>
          </a:p>
        </p:txBody>
      </p:sp>
      <p:sp>
        <p:nvSpPr>
          <p:cNvPr id="51" name="Freeform 51"/>
          <p:cNvSpPr/>
          <p:nvPr/>
        </p:nvSpPr>
        <p:spPr>
          <a:xfrm>
            <a:off x="2740616" y="7258779"/>
            <a:ext cx="879791" cy="497482"/>
          </a:xfrm>
          <a:custGeom>
            <a:avLst/>
            <a:gdLst/>
            <a:ahLst/>
            <a:cxnLst/>
            <a:rect l="l" t="t" r="r" b="b"/>
            <a:pathLst>
              <a:path w="879791" h="497482">
                <a:moveTo>
                  <a:pt x="0" y="0"/>
                </a:moveTo>
                <a:lnTo>
                  <a:pt x="879791" y="0"/>
                </a:lnTo>
                <a:lnTo>
                  <a:pt x="879791" y="497481"/>
                </a:lnTo>
                <a:lnTo>
                  <a:pt x="0" y="497481"/>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txBody>
          <a:bodyPr/>
          <a:lstStyle/>
          <a:p>
            <a:endParaRPr lang="en-US"/>
          </a:p>
        </p:txBody>
      </p:sp>
      <p:sp>
        <p:nvSpPr>
          <p:cNvPr id="52" name="Freeform 52"/>
          <p:cNvSpPr/>
          <p:nvPr/>
        </p:nvSpPr>
        <p:spPr>
          <a:xfrm>
            <a:off x="2750598" y="7880085"/>
            <a:ext cx="916470" cy="534885"/>
          </a:xfrm>
          <a:custGeom>
            <a:avLst/>
            <a:gdLst/>
            <a:ahLst/>
            <a:cxnLst/>
            <a:rect l="l" t="t" r="r" b="b"/>
            <a:pathLst>
              <a:path w="916470" h="534885">
                <a:moveTo>
                  <a:pt x="0" y="0"/>
                </a:moveTo>
                <a:lnTo>
                  <a:pt x="916470" y="0"/>
                </a:lnTo>
                <a:lnTo>
                  <a:pt x="916470" y="534885"/>
                </a:lnTo>
                <a:lnTo>
                  <a:pt x="0" y="534885"/>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US"/>
          </a:p>
        </p:txBody>
      </p:sp>
      <p:grpSp>
        <p:nvGrpSpPr>
          <p:cNvPr id="53" name="Group 53"/>
          <p:cNvGrpSpPr/>
          <p:nvPr/>
        </p:nvGrpSpPr>
        <p:grpSpPr>
          <a:xfrm>
            <a:off x="3754619" y="4402547"/>
            <a:ext cx="3524441" cy="474254"/>
            <a:chOff x="0" y="-19050"/>
            <a:chExt cx="1253135" cy="169495"/>
          </a:xfrm>
        </p:grpSpPr>
        <p:sp>
          <p:nvSpPr>
            <p:cNvPr id="54" name="Freeform 54"/>
            <p:cNvSpPr/>
            <p:nvPr/>
          </p:nvSpPr>
          <p:spPr>
            <a:xfrm>
              <a:off x="0" y="0"/>
              <a:ext cx="1253135" cy="150445"/>
            </a:xfrm>
            <a:custGeom>
              <a:avLst/>
              <a:gdLst/>
              <a:ahLst/>
              <a:cxnLst/>
              <a:rect l="l" t="t" r="r" b="b"/>
              <a:pathLst>
                <a:path w="1253135" h="150445">
                  <a:moveTo>
                    <a:pt x="28556" y="0"/>
                  </a:moveTo>
                  <a:lnTo>
                    <a:pt x="1224578" y="0"/>
                  </a:lnTo>
                  <a:cubicBezTo>
                    <a:pt x="1232152" y="0"/>
                    <a:pt x="1239415" y="3009"/>
                    <a:pt x="1244771" y="8364"/>
                  </a:cubicBezTo>
                  <a:cubicBezTo>
                    <a:pt x="1250126" y="13719"/>
                    <a:pt x="1253135" y="20983"/>
                    <a:pt x="1253135" y="28556"/>
                  </a:cubicBezTo>
                  <a:lnTo>
                    <a:pt x="1253135" y="121889"/>
                  </a:lnTo>
                  <a:cubicBezTo>
                    <a:pt x="1253135" y="137660"/>
                    <a:pt x="1240350" y="150445"/>
                    <a:pt x="1224578" y="150445"/>
                  </a:cubicBezTo>
                  <a:lnTo>
                    <a:pt x="28556" y="150445"/>
                  </a:lnTo>
                  <a:cubicBezTo>
                    <a:pt x="20983" y="150445"/>
                    <a:pt x="13719" y="147437"/>
                    <a:pt x="8364" y="142081"/>
                  </a:cubicBezTo>
                  <a:cubicBezTo>
                    <a:pt x="3009" y="136726"/>
                    <a:pt x="0" y="129463"/>
                    <a:pt x="0" y="121889"/>
                  </a:cubicBezTo>
                  <a:lnTo>
                    <a:pt x="0" y="28556"/>
                  </a:lnTo>
                  <a:cubicBezTo>
                    <a:pt x="0" y="12785"/>
                    <a:pt x="12785" y="0"/>
                    <a:pt x="28556" y="0"/>
                  </a:cubicBezTo>
                  <a:close/>
                </a:path>
              </a:pathLst>
            </a:custGeom>
            <a:solidFill>
              <a:srgbClr val="B33B49"/>
            </a:solidFill>
            <a:ln w="38100" cap="sq">
              <a:solidFill>
                <a:srgbClr val="F07D59"/>
              </a:solidFill>
              <a:prstDash val="solid"/>
              <a:miter/>
            </a:ln>
          </p:spPr>
          <p:txBody>
            <a:bodyPr/>
            <a:lstStyle/>
            <a:p>
              <a:endParaRPr lang="en-US"/>
            </a:p>
          </p:txBody>
        </p:sp>
        <p:sp>
          <p:nvSpPr>
            <p:cNvPr id="55" name="TextBox 55"/>
            <p:cNvSpPr txBox="1"/>
            <p:nvPr/>
          </p:nvSpPr>
          <p:spPr>
            <a:xfrm>
              <a:off x="0" y="-19050"/>
              <a:ext cx="1253135" cy="169495"/>
            </a:xfrm>
            <a:prstGeom prst="rect">
              <a:avLst/>
            </a:prstGeom>
          </p:spPr>
          <p:txBody>
            <a:bodyPr lIns="50800" tIns="50800" rIns="50800" bIns="50800" rtlCol="0" anchor="ctr"/>
            <a:lstStyle/>
            <a:p>
              <a:pPr algn="ctr">
                <a:lnSpc>
                  <a:spcPts val="1857"/>
                </a:lnSpc>
              </a:pPr>
              <a:r>
                <a:rPr lang="en-US" sz="1326" b="1" dirty="0">
                  <a:solidFill>
                    <a:srgbClr val="EEE3CF"/>
                  </a:solidFill>
                  <a:latin typeface="Garet Bold"/>
                  <a:ea typeface="Garet Bold"/>
                  <a:cs typeface="Garet Bold"/>
                  <a:sym typeface="Garet Bold"/>
                </a:rPr>
                <a:t>More red meat = Higher mortality risk</a:t>
              </a:r>
            </a:p>
          </p:txBody>
        </p:sp>
      </p:grpSp>
      <p:graphicFrame>
        <p:nvGraphicFramePr>
          <p:cNvPr id="56" name="Object 56"/>
          <p:cNvGraphicFramePr/>
          <p:nvPr>
            <p:extLst>
              <p:ext uri="{D42A27DB-BD31-4B8C-83A1-F6EECF244321}">
                <p14:modId xmlns:p14="http://schemas.microsoft.com/office/powerpoint/2010/main" val="80159076"/>
              </p:ext>
            </p:extLst>
          </p:nvPr>
        </p:nvGraphicFramePr>
        <p:xfrm>
          <a:off x="3293879" y="6629400"/>
          <a:ext cx="8652241" cy="6277990"/>
        </p:xfrm>
        <a:graphic>
          <a:graphicData uri="http://schemas.openxmlformats.org/presentationml/2006/ole">
            <mc:AlternateContent xmlns:mc="http://schemas.openxmlformats.org/markup-compatibility/2006">
              <mc:Choice xmlns:v="urn:schemas-microsoft-com:vml" Requires="v">
                <p:oleObj name="Worksheet" r:id="rId23" imgW="10375900" imgH="8001000" progId="Excel.Sheet.12">
                  <p:embed/>
                </p:oleObj>
              </mc:Choice>
              <mc:Fallback>
                <p:oleObj name="Worksheet" r:id="rId23" imgW="10375900" imgH="8001000" progId="Excel.Sheet.12">
                  <p:embed/>
                  <p:pic>
                    <p:nvPicPr>
                      <p:cNvPr id="0" name=""/>
                      <p:cNvPicPr/>
                      <p:nvPr/>
                    </p:nvPicPr>
                    <p:blipFill>
                      <a:blip r:embed="rId24"/>
                      <a:stretch>
                        <a:fillRect/>
                      </a:stretch>
                    </p:blipFill>
                    <p:spPr>
                      <a:xfrm>
                        <a:off x="3293879" y="6629400"/>
                        <a:ext cx="8652241" cy="6277990"/>
                      </a:xfrm>
                      <a:prstGeom prst="rect">
                        <a:avLst/>
                      </a:prstGeom>
                    </p:spPr>
                  </p:pic>
                </p:oleObj>
              </mc:Fallback>
            </mc:AlternateContent>
          </a:graphicData>
        </a:graphic>
      </p:graphicFrame>
      <p:sp>
        <p:nvSpPr>
          <p:cNvPr id="57" name="Freeform 57"/>
          <p:cNvSpPr/>
          <p:nvPr/>
        </p:nvSpPr>
        <p:spPr>
          <a:xfrm>
            <a:off x="3204727" y="16600169"/>
            <a:ext cx="543068" cy="349600"/>
          </a:xfrm>
          <a:custGeom>
            <a:avLst/>
            <a:gdLst/>
            <a:ahLst/>
            <a:cxnLst/>
            <a:rect l="l" t="t" r="r" b="b"/>
            <a:pathLst>
              <a:path w="543068" h="349600">
                <a:moveTo>
                  <a:pt x="0" y="0"/>
                </a:moveTo>
                <a:lnTo>
                  <a:pt x="543068" y="0"/>
                </a:lnTo>
                <a:lnTo>
                  <a:pt x="543068" y="349600"/>
                </a:lnTo>
                <a:lnTo>
                  <a:pt x="0" y="349600"/>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txBody>
          <a:bodyPr/>
          <a:lstStyle/>
          <a:p>
            <a:endParaRPr lang="en-US"/>
          </a:p>
        </p:txBody>
      </p:sp>
      <p:sp>
        <p:nvSpPr>
          <p:cNvPr id="58" name="Freeform 58"/>
          <p:cNvSpPr/>
          <p:nvPr/>
        </p:nvSpPr>
        <p:spPr>
          <a:xfrm>
            <a:off x="3466129" y="17341202"/>
            <a:ext cx="131174" cy="301550"/>
          </a:xfrm>
          <a:custGeom>
            <a:avLst/>
            <a:gdLst/>
            <a:ahLst/>
            <a:cxnLst/>
            <a:rect l="l" t="t" r="r" b="b"/>
            <a:pathLst>
              <a:path w="131174" h="301550">
                <a:moveTo>
                  <a:pt x="0" y="0"/>
                </a:moveTo>
                <a:lnTo>
                  <a:pt x="131175" y="0"/>
                </a:lnTo>
                <a:lnTo>
                  <a:pt x="131175" y="301550"/>
                </a:lnTo>
                <a:lnTo>
                  <a:pt x="0" y="301550"/>
                </a:lnTo>
                <a:lnTo>
                  <a:pt x="0" y="0"/>
                </a:lnTo>
                <a:close/>
              </a:path>
            </a:pathLst>
          </a:custGeom>
          <a:blipFill>
            <a:blip r:embed="rId27">
              <a:extLst>
                <a:ext uri="{96DAC541-7B7A-43D3-8B79-37D633B846F1}">
                  <asvg:svgBlip xmlns:asvg="http://schemas.microsoft.com/office/drawing/2016/SVG/main" r:embed="rId28"/>
                </a:ext>
              </a:extLst>
            </a:blip>
            <a:stretch>
              <a:fillRect/>
            </a:stretch>
          </a:blipFill>
        </p:spPr>
        <p:txBody>
          <a:bodyPr/>
          <a:lstStyle/>
          <a:p>
            <a:endParaRPr lang="en-US"/>
          </a:p>
        </p:txBody>
      </p:sp>
      <p:sp>
        <p:nvSpPr>
          <p:cNvPr id="59" name="Freeform 59"/>
          <p:cNvSpPr/>
          <p:nvPr/>
        </p:nvSpPr>
        <p:spPr>
          <a:xfrm>
            <a:off x="3277936" y="16997394"/>
            <a:ext cx="469859" cy="315233"/>
          </a:xfrm>
          <a:custGeom>
            <a:avLst/>
            <a:gdLst/>
            <a:ahLst/>
            <a:cxnLst/>
            <a:rect l="l" t="t" r="r" b="b"/>
            <a:pathLst>
              <a:path w="469859" h="315233">
                <a:moveTo>
                  <a:pt x="0" y="0"/>
                </a:moveTo>
                <a:lnTo>
                  <a:pt x="469859" y="0"/>
                </a:lnTo>
                <a:lnTo>
                  <a:pt x="469859" y="315233"/>
                </a:lnTo>
                <a:lnTo>
                  <a:pt x="0" y="315233"/>
                </a:lnTo>
                <a:lnTo>
                  <a:pt x="0" y="0"/>
                </a:lnTo>
                <a:close/>
              </a:path>
            </a:pathLst>
          </a:custGeom>
          <a:blipFill>
            <a:blip r:embed="rId29">
              <a:extLst>
                <a:ext uri="{96DAC541-7B7A-43D3-8B79-37D633B846F1}">
                  <asvg:svgBlip xmlns:asvg="http://schemas.microsoft.com/office/drawing/2016/SVG/main" r:embed="rId30"/>
                </a:ext>
              </a:extLst>
            </a:blip>
            <a:stretch>
              <a:fillRect/>
            </a:stretch>
          </a:blipFill>
        </p:spPr>
        <p:txBody>
          <a:bodyPr/>
          <a:lstStyle/>
          <a:p>
            <a:endParaRPr lang="en-US"/>
          </a:p>
        </p:txBody>
      </p:sp>
      <p:sp>
        <p:nvSpPr>
          <p:cNvPr id="60" name="Freeform 60"/>
          <p:cNvSpPr/>
          <p:nvPr/>
        </p:nvSpPr>
        <p:spPr>
          <a:xfrm>
            <a:off x="3351489" y="17702295"/>
            <a:ext cx="360455" cy="360455"/>
          </a:xfrm>
          <a:custGeom>
            <a:avLst/>
            <a:gdLst/>
            <a:ahLst/>
            <a:cxnLst/>
            <a:rect l="l" t="t" r="r" b="b"/>
            <a:pathLst>
              <a:path w="360455" h="360455">
                <a:moveTo>
                  <a:pt x="0" y="0"/>
                </a:moveTo>
                <a:lnTo>
                  <a:pt x="360455" y="0"/>
                </a:lnTo>
                <a:lnTo>
                  <a:pt x="360455" y="360455"/>
                </a:lnTo>
                <a:lnTo>
                  <a:pt x="0" y="360455"/>
                </a:lnTo>
                <a:lnTo>
                  <a:pt x="0" y="0"/>
                </a:lnTo>
                <a:close/>
              </a:path>
            </a:pathLst>
          </a:custGeom>
          <a:blipFill>
            <a:blip r:embed="rId31">
              <a:extLst>
                <a:ext uri="{96DAC541-7B7A-43D3-8B79-37D633B846F1}">
                  <asvg:svgBlip xmlns:asvg="http://schemas.microsoft.com/office/drawing/2016/SVG/main" r:embed="rId32"/>
                </a:ext>
              </a:extLst>
            </a:blip>
            <a:stretch>
              <a:fillRect/>
            </a:stretch>
          </a:blipFill>
        </p:spPr>
        <p:txBody>
          <a:bodyPr/>
          <a:lstStyle/>
          <a:p>
            <a:endParaRPr lang="en-US"/>
          </a:p>
        </p:txBody>
      </p:sp>
      <p:sp>
        <p:nvSpPr>
          <p:cNvPr id="61" name="Freeform 61"/>
          <p:cNvSpPr/>
          <p:nvPr/>
        </p:nvSpPr>
        <p:spPr>
          <a:xfrm>
            <a:off x="50754" y="83282"/>
            <a:ext cx="2071546" cy="182860"/>
          </a:xfrm>
          <a:custGeom>
            <a:avLst/>
            <a:gdLst/>
            <a:ahLst/>
            <a:cxnLst/>
            <a:rect l="l" t="t" r="r" b="b"/>
            <a:pathLst>
              <a:path w="2071546" h="182860">
                <a:moveTo>
                  <a:pt x="0" y="0"/>
                </a:moveTo>
                <a:lnTo>
                  <a:pt x="2071546" y="0"/>
                </a:lnTo>
                <a:lnTo>
                  <a:pt x="2071546" y="182861"/>
                </a:lnTo>
                <a:lnTo>
                  <a:pt x="0" y="182861"/>
                </a:lnTo>
                <a:lnTo>
                  <a:pt x="0" y="0"/>
                </a:lnTo>
                <a:close/>
              </a:path>
            </a:pathLst>
          </a:custGeom>
          <a:blipFill>
            <a:blip r:embed="rId33"/>
            <a:stretch>
              <a:fillRect/>
            </a:stretch>
          </a:blipFill>
        </p:spPr>
        <p:txBody>
          <a:bodyPr/>
          <a:lstStyle/>
          <a:p>
            <a:endParaRPr lang="en-US"/>
          </a:p>
        </p:txBody>
      </p:sp>
      <p:sp>
        <p:nvSpPr>
          <p:cNvPr id="62" name="Freeform 62"/>
          <p:cNvSpPr/>
          <p:nvPr/>
        </p:nvSpPr>
        <p:spPr>
          <a:xfrm>
            <a:off x="5457223" y="18823940"/>
            <a:ext cx="2071546" cy="182860"/>
          </a:xfrm>
          <a:custGeom>
            <a:avLst/>
            <a:gdLst/>
            <a:ahLst/>
            <a:cxnLst/>
            <a:rect l="l" t="t" r="r" b="b"/>
            <a:pathLst>
              <a:path w="2071546" h="182860">
                <a:moveTo>
                  <a:pt x="0" y="0"/>
                </a:moveTo>
                <a:lnTo>
                  <a:pt x="2071546" y="0"/>
                </a:lnTo>
                <a:lnTo>
                  <a:pt x="2071546" y="182860"/>
                </a:lnTo>
                <a:lnTo>
                  <a:pt x="0" y="182860"/>
                </a:lnTo>
                <a:lnTo>
                  <a:pt x="0" y="0"/>
                </a:lnTo>
                <a:close/>
              </a:path>
            </a:pathLst>
          </a:custGeom>
          <a:blipFill>
            <a:blip r:embed="rId33"/>
            <a:stretch>
              <a:fillRect/>
            </a:stretch>
          </a:blipFill>
        </p:spPr>
        <p:txBody>
          <a:bodyPr/>
          <a:lstStyle/>
          <a:p>
            <a:endParaRPr lang="en-US"/>
          </a:p>
        </p:txBody>
      </p:sp>
      <p:sp>
        <p:nvSpPr>
          <p:cNvPr id="63" name="Freeform 63"/>
          <p:cNvSpPr/>
          <p:nvPr/>
        </p:nvSpPr>
        <p:spPr>
          <a:xfrm>
            <a:off x="194849" y="12849018"/>
            <a:ext cx="3538978" cy="2357844"/>
          </a:xfrm>
          <a:custGeom>
            <a:avLst/>
            <a:gdLst/>
            <a:ahLst/>
            <a:cxnLst/>
            <a:rect l="l" t="t" r="r" b="b"/>
            <a:pathLst>
              <a:path w="3538978" h="2357844">
                <a:moveTo>
                  <a:pt x="0" y="0"/>
                </a:moveTo>
                <a:lnTo>
                  <a:pt x="3538978" y="0"/>
                </a:lnTo>
                <a:lnTo>
                  <a:pt x="3538978" y="2357844"/>
                </a:lnTo>
                <a:lnTo>
                  <a:pt x="0" y="2357844"/>
                </a:lnTo>
                <a:lnTo>
                  <a:pt x="0" y="0"/>
                </a:lnTo>
                <a:close/>
              </a:path>
            </a:pathLst>
          </a:custGeom>
          <a:blipFill>
            <a:blip r:embed="rId34"/>
            <a:stretch>
              <a:fillRect/>
            </a:stretch>
          </a:blipFill>
          <a:ln w="19050" cap="sq">
            <a:solidFill>
              <a:srgbClr val="000000"/>
            </a:solidFill>
            <a:prstDash val="solid"/>
            <a:miter/>
          </a:ln>
        </p:spPr>
        <p:txBody>
          <a:bodyPr/>
          <a:lstStyle/>
          <a:p>
            <a:endParaRPr lang="en-US"/>
          </a:p>
        </p:txBody>
      </p:sp>
      <p:grpSp>
        <p:nvGrpSpPr>
          <p:cNvPr id="64" name="Group 64"/>
          <p:cNvGrpSpPr>
            <a:grpSpLocks noChangeAspect="1"/>
          </p:cNvGrpSpPr>
          <p:nvPr/>
        </p:nvGrpSpPr>
        <p:grpSpPr>
          <a:xfrm>
            <a:off x="1371661" y="13191511"/>
            <a:ext cx="667464" cy="491698"/>
            <a:chOff x="0" y="0"/>
            <a:chExt cx="7620000" cy="5613400"/>
          </a:xfrm>
        </p:grpSpPr>
        <p:sp>
          <p:nvSpPr>
            <p:cNvPr id="65" name="Freeform 65"/>
            <p:cNvSpPr/>
            <p:nvPr/>
          </p:nvSpPr>
          <p:spPr>
            <a:xfrm>
              <a:off x="-6350" y="-1270"/>
              <a:ext cx="7672070" cy="5671820"/>
            </a:xfrm>
            <a:custGeom>
              <a:avLst/>
              <a:gdLst/>
              <a:ahLst/>
              <a:cxnLst/>
              <a:rect l="l" t="t" r="r" b="b"/>
              <a:pathLst>
                <a:path w="7672070" h="5671820">
                  <a:moveTo>
                    <a:pt x="7614920" y="3288030"/>
                  </a:moveTo>
                  <a:cubicBezTo>
                    <a:pt x="7612380" y="3305810"/>
                    <a:pt x="7608570" y="3323590"/>
                    <a:pt x="7604760" y="3341370"/>
                  </a:cubicBezTo>
                  <a:cubicBezTo>
                    <a:pt x="7606030" y="3395980"/>
                    <a:pt x="7602220" y="3451860"/>
                    <a:pt x="7593330" y="3507740"/>
                  </a:cubicBezTo>
                  <a:cubicBezTo>
                    <a:pt x="7510780" y="4042410"/>
                    <a:pt x="7010399" y="4409440"/>
                    <a:pt x="6475730" y="4326890"/>
                  </a:cubicBezTo>
                  <a:cubicBezTo>
                    <a:pt x="6332220" y="4305300"/>
                    <a:pt x="6201409" y="4253230"/>
                    <a:pt x="6088380" y="4178300"/>
                  </a:cubicBezTo>
                  <a:cubicBezTo>
                    <a:pt x="5880100" y="4420870"/>
                    <a:pt x="5556250" y="4554220"/>
                    <a:pt x="5217159" y="4502150"/>
                  </a:cubicBezTo>
                  <a:cubicBezTo>
                    <a:pt x="5113019" y="4485640"/>
                    <a:pt x="5015230" y="4453890"/>
                    <a:pt x="4927600" y="4408170"/>
                  </a:cubicBezTo>
                  <a:cubicBezTo>
                    <a:pt x="4726940" y="4759960"/>
                    <a:pt x="4389120" y="5013960"/>
                    <a:pt x="3996689" y="5110480"/>
                  </a:cubicBezTo>
                  <a:cubicBezTo>
                    <a:pt x="3698239" y="5629910"/>
                    <a:pt x="2983229" y="5671820"/>
                    <a:pt x="2458719" y="5568950"/>
                  </a:cubicBezTo>
                  <a:cubicBezTo>
                    <a:pt x="2595879" y="5523230"/>
                    <a:pt x="2752089" y="5490210"/>
                    <a:pt x="2896869" y="5450840"/>
                  </a:cubicBezTo>
                  <a:cubicBezTo>
                    <a:pt x="3065779" y="5368290"/>
                    <a:pt x="3197859" y="5253990"/>
                    <a:pt x="3293109" y="5109210"/>
                  </a:cubicBezTo>
                  <a:cubicBezTo>
                    <a:pt x="3087369" y="5058410"/>
                    <a:pt x="2900680" y="4965700"/>
                    <a:pt x="2740659" y="4842510"/>
                  </a:cubicBezTo>
                  <a:cubicBezTo>
                    <a:pt x="2468880" y="4997450"/>
                    <a:pt x="2145030" y="5066030"/>
                    <a:pt x="1811019" y="5015230"/>
                  </a:cubicBezTo>
                  <a:cubicBezTo>
                    <a:pt x="1109980" y="4907280"/>
                    <a:pt x="607059" y="4310380"/>
                    <a:pt x="595630" y="3624580"/>
                  </a:cubicBezTo>
                  <a:cubicBezTo>
                    <a:pt x="586740" y="3576320"/>
                    <a:pt x="580390" y="3526790"/>
                    <a:pt x="577850" y="3477260"/>
                  </a:cubicBezTo>
                  <a:cubicBezTo>
                    <a:pt x="240030" y="3277870"/>
                    <a:pt x="24130" y="2910840"/>
                    <a:pt x="27940" y="2508250"/>
                  </a:cubicBezTo>
                  <a:cubicBezTo>
                    <a:pt x="3810" y="2381250"/>
                    <a:pt x="0" y="2250440"/>
                    <a:pt x="20320" y="2118360"/>
                  </a:cubicBezTo>
                  <a:cubicBezTo>
                    <a:pt x="62230" y="1847850"/>
                    <a:pt x="199390" y="1601470"/>
                    <a:pt x="407670" y="1424940"/>
                  </a:cubicBezTo>
                  <a:cubicBezTo>
                    <a:pt x="613410" y="1249680"/>
                    <a:pt x="875030" y="1153160"/>
                    <a:pt x="1144270" y="1153160"/>
                  </a:cubicBezTo>
                  <a:cubicBezTo>
                    <a:pt x="1202690" y="1153160"/>
                    <a:pt x="1261110" y="1158240"/>
                    <a:pt x="1318260" y="1167130"/>
                  </a:cubicBezTo>
                  <a:cubicBezTo>
                    <a:pt x="1330960" y="1168400"/>
                    <a:pt x="1343660" y="1170940"/>
                    <a:pt x="1357630" y="1173480"/>
                  </a:cubicBezTo>
                  <a:cubicBezTo>
                    <a:pt x="1459230" y="720090"/>
                    <a:pt x="1866900" y="392430"/>
                    <a:pt x="2332990" y="392430"/>
                  </a:cubicBezTo>
                  <a:cubicBezTo>
                    <a:pt x="2383790" y="392430"/>
                    <a:pt x="2435860" y="396240"/>
                    <a:pt x="2486660" y="403860"/>
                  </a:cubicBezTo>
                  <a:cubicBezTo>
                    <a:pt x="2693670" y="435610"/>
                    <a:pt x="2880360" y="528320"/>
                    <a:pt x="3030220" y="673100"/>
                  </a:cubicBezTo>
                  <a:cubicBezTo>
                    <a:pt x="3295650" y="256540"/>
                    <a:pt x="3763010" y="0"/>
                    <a:pt x="4257040" y="0"/>
                  </a:cubicBezTo>
                  <a:cubicBezTo>
                    <a:pt x="4330700" y="0"/>
                    <a:pt x="4406900" y="6350"/>
                    <a:pt x="4480560" y="16510"/>
                  </a:cubicBezTo>
                  <a:cubicBezTo>
                    <a:pt x="5078730" y="107950"/>
                    <a:pt x="5558790" y="563880"/>
                    <a:pt x="5683250" y="1153160"/>
                  </a:cubicBezTo>
                  <a:cubicBezTo>
                    <a:pt x="5845810" y="1046480"/>
                    <a:pt x="6033770" y="990600"/>
                    <a:pt x="6228080" y="990600"/>
                  </a:cubicBezTo>
                  <a:cubicBezTo>
                    <a:pt x="6278880" y="990600"/>
                    <a:pt x="6330950" y="994410"/>
                    <a:pt x="6381750" y="1002030"/>
                  </a:cubicBezTo>
                  <a:cubicBezTo>
                    <a:pt x="6645910" y="1042670"/>
                    <a:pt x="6878320" y="1183640"/>
                    <a:pt x="7037070" y="1399540"/>
                  </a:cubicBezTo>
                  <a:cubicBezTo>
                    <a:pt x="7195820" y="1615440"/>
                    <a:pt x="7259320" y="1879600"/>
                    <a:pt x="7218680" y="2143760"/>
                  </a:cubicBezTo>
                  <a:cubicBezTo>
                    <a:pt x="7216139" y="2161540"/>
                    <a:pt x="7212330" y="2180590"/>
                    <a:pt x="7208520" y="2198370"/>
                  </a:cubicBezTo>
                  <a:cubicBezTo>
                    <a:pt x="7208520" y="2236470"/>
                    <a:pt x="7207250" y="2275840"/>
                    <a:pt x="7203439" y="2313940"/>
                  </a:cubicBezTo>
                  <a:cubicBezTo>
                    <a:pt x="7510780" y="2534920"/>
                    <a:pt x="7672070" y="2912110"/>
                    <a:pt x="7614920" y="3288030"/>
                  </a:cubicBezTo>
                  <a:close/>
                </a:path>
              </a:pathLst>
            </a:custGeom>
            <a:solidFill>
              <a:srgbClr val="000000"/>
            </a:solidFill>
          </p:spPr>
          <p:txBody>
            <a:bodyPr/>
            <a:lstStyle/>
            <a:p>
              <a:endParaRPr lang="en-US"/>
            </a:p>
          </p:txBody>
        </p:sp>
        <p:sp>
          <p:nvSpPr>
            <p:cNvPr id="66" name="Freeform 66"/>
            <p:cNvSpPr/>
            <p:nvPr/>
          </p:nvSpPr>
          <p:spPr>
            <a:xfrm>
              <a:off x="-36830" y="-12700"/>
              <a:ext cx="7684770" cy="5618480"/>
            </a:xfrm>
            <a:custGeom>
              <a:avLst/>
              <a:gdLst/>
              <a:ahLst/>
              <a:cxnLst/>
              <a:rect l="l" t="t" r="r" b="b"/>
              <a:pathLst>
                <a:path w="7684770" h="5618480">
                  <a:moveTo>
                    <a:pt x="7184390" y="2360930"/>
                  </a:moveTo>
                  <a:cubicBezTo>
                    <a:pt x="7202170" y="2307590"/>
                    <a:pt x="7216140" y="2251710"/>
                    <a:pt x="7225030" y="2193290"/>
                  </a:cubicBezTo>
                  <a:cubicBezTo>
                    <a:pt x="7307580" y="1658620"/>
                    <a:pt x="6940550" y="1158240"/>
                    <a:pt x="6405880" y="1075690"/>
                  </a:cubicBezTo>
                  <a:cubicBezTo>
                    <a:pt x="6146800" y="1036320"/>
                    <a:pt x="5895340" y="1102360"/>
                    <a:pt x="5695950" y="1240790"/>
                  </a:cubicBezTo>
                  <a:cubicBezTo>
                    <a:pt x="5586730" y="660400"/>
                    <a:pt x="5123180" y="185420"/>
                    <a:pt x="4504690" y="90170"/>
                  </a:cubicBezTo>
                  <a:cubicBezTo>
                    <a:pt x="3915410" y="0"/>
                    <a:pt x="3355340" y="280670"/>
                    <a:pt x="3061970" y="759460"/>
                  </a:cubicBezTo>
                  <a:cubicBezTo>
                    <a:pt x="2919730" y="613410"/>
                    <a:pt x="2730500" y="510540"/>
                    <a:pt x="2513330" y="477520"/>
                  </a:cubicBezTo>
                  <a:cubicBezTo>
                    <a:pt x="1993900" y="397510"/>
                    <a:pt x="1507490" y="740410"/>
                    <a:pt x="1404620" y="1249680"/>
                  </a:cubicBezTo>
                  <a:cubicBezTo>
                    <a:pt x="1385570" y="1245870"/>
                    <a:pt x="1365250" y="1242060"/>
                    <a:pt x="1344930" y="1238250"/>
                  </a:cubicBezTo>
                  <a:cubicBezTo>
                    <a:pt x="735330" y="1144270"/>
                    <a:pt x="166370" y="1562100"/>
                    <a:pt x="72390" y="2171700"/>
                  </a:cubicBezTo>
                  <a:cubicBezTo>
                    <a:pt x="0" y="2645410"/>
                    <a:pt x="236220" y="3094990"/>
                    <a:pt x="629920" y="3315970"/>
                  </a:cubicBezTo>
                  <a:cubicBezTo>
                    <a:pt x="574040" y="4056380"/>
                    <a:pt x="1096010" y="4726940"/>
                    <a:pt x="1841500" y="4841240"/>
                  </a:cubicBezTo>
                  <a:cubicBezTo>
                    <a:pt x="2175510" y="4892040"/>
                    <a:pt x="2499360" y="4824730"/>
                    <a:pt x="2771140" y="4668520"/>
                  </a:cubicBezTo>
                  <a:cubicBezTo>
                    <a:pt x="2961640" y="4815840"/>
                    <a:pt x="3190240" y="4919980"/>
                    <a:pt x="3445510" y="4960620"/>
                  </a:cubicBezTo>
                  <a:cubicBezTo>
                    <a:pt x="3346450" y="5240020"/>
                    <a:pt x="3140710" y="5464810"/>
                    <a:pt x="2774950" y="5586730"/>
                  </a:cubicBezTo>
                  <a:cubicBezTo>
                    <a:pt x="3162300" y="5618480"/>
                    <a:pt x="3729990" y="5455920"/>
                    <a:pt x="4027170" y="4936490"/>
                  </a:cubicBezTo>
                  <a:cubicBezTo>
                    <a:pt x="4419600" y="4839970"/>
                    <a:pt x="4757420" y="4585970"/>
                    <a:pt x="4958080" y="4234180"/>
                  </a:cubicBezTo>
                  <a:cubicBezTo>
                    <a:pt x="5046980" y="4279900"/>
                    <a:pt x="5143500" y="4311650"/>
                    <a:pt x="5247640" y="4328160"/>
                  </a:cubicBezTo>
                  <a:cubicBezTo>
                    <a:pt x="5586730" y="4380230"/>
                    <a:pt x="5910580" y="4246880"/>
                    <a:pt x="6118860" y="4004310"/>
                  </a:cubicBezTo>
                  <a:cubicBezTo>
                    <a:pt x="6231890" y="4079240"/>
                    <a:pt x="6363970" y="4131310"/>
                    <a:pt x="6506210" y="4152900"/>
                  </a:cubicBezTo>
                  <a:cubicBezTo>
                    <a:pt x="7040880" y="4235450"/>
                    <a:pt x="7541260" y="3868420"/>
                    <a:pt x="7623810" y="3333750"/>
                  </a:cubicBezTo>
                  <a:cubicBezTo>
                    <a:pt x="7684770" y="2940050"/>
                    <a:pt x="7500620" y="2564130"/>
                    <a:pt x="7184391" y="2360930"/>
                  </a:cubicBezTo>
                  <a:close/>
                </a:path>
              </a:pathLst>
            </a:custGeom>
            <a:solidFill>
              <a:srgbClr val="FCFCFC"/>
            </a:solidFill>
            <a:ln w="12700">
              <a:solidFill>
                <a:srgbClr val="000000"/>
              </a:solidFill>
            </a:ln>
          </p:spPr>
          <p:txBody>
            <a:bodyPr/>
            <a:lstStyle/>
            <a:p>
              <a:endParaRPr lang="en-US"/>
            </a:p>
          </p:txBody>
        </p:sp>
      </p:grpSp>
      <p:sp>
        <p:nvSpPr>
          <p:cNvPr id="67" name="TextBox 67"/>
          <p:cNvSpPr txBox="1"/>
          <p:nvPr/>
        </p:nvSpPr>
        <p:spPr>
          <a:xfrm>
            <a:off x="179221" y="10624876"/>
            <a:ext cx="7036338" cy="1422585"/>
          </a:xfrm>
          <a:prstGeom prst="rect">
            <a:avLst/>
          </a:prstGeom>
        </p:spPr>
        <p:txBody>
          <a:bodyPr lIns="0" tIns="0" rIns="0" bIns="0" rtlCol="0" anchor="t">
            <a:spAutoFit/>
          </a:bodyPr>
          <a:lstStyle/>
          <a:p>
            <a:pPr marL="295286" lvl="1" indent="-147643" algn="just">
              <a:lnSpc>
                <a:spcPts val="1914"/>
              </a:lnSpc>
              <a:buFont typeface="Arial"/>
              <a:buChar char="•"/>
            </a:pPr>
            <a:r>
              <a:rPr lang="en-US" sz="1367">
                <a:solidFill>
                  <a:srgbClr val="000000"/>
                </a:solidFill>
                <a:latin typeface="Garet"/>
                <a:ea typeface="Garet"/>
                <a:cs typeface="Garet"/>
                <a:sym typeface="Garet"/>
              </a:rPr>
              <a:t>↓ Cardiovascular Disease by 30% (Huang et al., 2012)</a:t>
            </a:r>
          </a:p>
          <a:p>
            <a:pPr marL="295286" lvl="1" indent="-147643" algn="just">
              <a:lnSpc>
                <a:spcPts val="1914"/>
              </a:lnSpc>
              <a:buFont typeface="Arial"/>
              <a:buChar char="•"/>
            </a:pPr>
            <a:r>
              <a:rPr lang="en-US" sz="1367">
                <a:solidFill>
                  <a:srgbClr val="000000"/>
                </a:solidFill>
                <a:latin typeface="Garet"/>
                <a:ea typeface="Garet"/>
                <a:cs typeface="Garet"/>
                <a:sym typeface="Garet"/>
              </a:rPr>
              <a:t>↓ Type 2 Diabetes by 25% (Satija et al., 2016)</a:t>
            </a:r>
          </a:p>
          <a:p>
            <a:pPr marL="295286" lvl="1" indent="-147643" algn="just">
              <a:lnSpc>
                <a:spcPts val="1914"/>
              </a:lnSpc>
              <a:buFont typeface="Arial"/>
              <a:buChar char="•"/>
            </a:pPr>
            <a:r>
              <a:rPr lang="en-US" sz="1367">
                <a:solidFill>
                  <a:srgbClr val="000000"/>
                </a:solidFill>
                <a:latin typeface="Garet"/>
                <a:ea typeface="Garet"/>
                <a:cs typeface="Garet"/>
                <a:sym typeface="Garet"/>
              </a:rPr>
              <a:t>↓ Colorectal Cancer by 20% </a:t>
            </a:r>
          </a:p>
          <a:p>
            <a:pPr marL="295286" lvl="1" indent="-147643" algn="just">
              <a:lnSpc>
                <a:spcPts val="1914"/>
              </a:lnSpc>
              <a:buFont typeface="Arial"/>
              <a:buChar char="•"/>
            </a:pPr>
            <a:r>
              <a:rPr lang="en-US" sz="1367">
                <a:solidFill>
                  <a:srgbClr val="000000"/>
                </a:solidFill>
                <a:latin typeface="Garet"/>
                <a:ea typeface="Garet"/>
                <a:cs typeface="Garet"/>
                <a:sym typeface="Garet"/>
              </a:rPr>
              <a:t>↓ Hypertension, Kidney Disease, Acne (Hou et al., 2022; Fusano, 2023)</a:t>
            </a:r>
          </a:p>
          <a:p>
            <a:pPr marL="295286" lvl="1" indent="-147643" algn="just">
              <a:lnSpc>
                <a:spcPts val="1914"/>
              </a:lnSpc>
              <a:buFont typeface="Arial"/>
              <a:buChar char="•"/>
            </a:pPr>
            <a:r>
              <a:rPr lang="en-US" sz="1367">
                <a:solidFill>
                  <a:srgbClr val="000000"/>
                </a:solidFill>
                <a:latin typeface="Garet"/>
                <a:ea typeface="Garet"/>
                <a:cs typeface="Garet"/>
                <a:sym typeface="Garet"/>
              </a:rPr>
              <a:t>↓ Inflammation and Obesity (Menzel et al., 2020)</a:t>
            </a:r>
          </a:p>
          <a:p>
            <a:pPr marL="295286" lvl="1" indent="-147643" algn="just">
              <a:lnSpc>
                <a:spcPts val="1914"/>
              </a:lnSpc>
              <a:buFont typeface="Arial"/>
              <a:buChar char="•"/>
            </a:pPr>
            <a:r>
              <a:rPr lang="en-US" sz="1367">
                <a:solidFill>
                  <a:srgbClr val="000000"/>
                </a:solidFill>
                <a:latin typeface="Garet"/>
                <a:ea typeface="Garet"/>
                <a:cs typeface="Garet"/>
                <a:sym typeface="Garet"/>
              </a:rPr>
              <a:t>↓ Harmful compounds like TMAO (Constantino-Jonapa et al., 2023)</a:t>
            </a:r>
          </a:p>
        </p:txBody>
      </p:sp>
      <p:grpSp>
        <p:nvGrpSpPr>
          <p:cNvPr id="68" name="Group 68"/>
          <p:cNvGrpSpPr>
            <a:grpSpLocks noChangeAspect="1"/>
          </p:cNvGrpSpPr>
          <p:nvPr/>
        </p:nvGrpSpPr>
        <p:grpSpPr>
          <a:xfrm rot="1413568">
            <a:off x="2924042" y="13799493"/>
            <a:ext cx="813027" cy="598930"/>
            <a:chOff x="0" y="0"/>
            <a:chExt cx="7620000" cy="5613400"/>
          </a:xfrm>
        </p:grpSpPr>
        <p:sp>
          <p:nvSpPr>
            <p:cNvPr id="69" name="Freeform 69"/>
            <p:cNvSpPr/>
            <p:nvPr/>
          </p:nvSpPr>
          <p:spPr>
            <a:xfrm>
              <a:off x="-6350" y="-1270"/>
              <a:ext cx="7672070" cy="5671820"/>
            </a:xfrm>
            <a:custGeom>
              <a:avLst/>
              <a:gdLst/>
              <a:ahLst/>
              <a:cxnLst/>
              <a:rect l="l" t="t" r="r" b="b"/>
              <a:pathLst>
                <a:path w="7672070" h="5671820">
                  <a:moveTo>
                    <a:pt x="7614920" y="3288030"/>
                  </a:moveTo>
                  <a:cubicBezTo>
                    <a:pt x="7612380" y="3305810"/>
                    <a:pt x="7608570" y="3323590"/>
                    <a:pt x="7604760" y="3341370"/>
                  </a:cubicBezTo>
                  <a:cubicBezTo>
                    <a:pt x="7606030" y="3395980"/>
                    <a:pt x="7602220" y="3451860"/>
                    <a:pt x="7593330" y="3507740"/>
                  </a:cubicBezTo>
                  <a:cubicBezTo>
                    <a:pt x="7510780" y="4042410"/>
                    <a:pt x="7010399" y="4409440"/>
                    <a:pt x="6475730" y="4326890"/>
                  </a:cubicBezTo>
                  <a:cubicBezTo>
                    <a:pt x="6332220" y="4305300"/>
                    <a:pt x="6201409" y="4253230"/>
                    <a:pt x="6088380" y="4178300"/>
                  </a:cubicBezTo>
                  <a:cubicBezTo>
                    <a:pt x="5880100" y="4420870"/>
                    <a:pt x="5556250" y="4554220"/>
                    <a:pt x="5217159" y="4502150"/>
                  </a:cubicBezTo>
                  <a:cubicBezTo>
                    <a:pt x="5113019" y="4485640"/>
                    <a:pt x="5015230" y="4453890"/>
                    <a:pt x="4927600" y="4408170"/>
                  </a:cubicBezTo>
                  <a:cubicBezTo>
                    <a:pt x="4726940" y="4759960"/>
                    <a:pt x="4389120" y="5013960"/>
                    <a:pt x="3996689" y="5110480"/>
                  </a:cubicBezTo>
                  <a:cubicBezTo>
                    <a:pt x="3698239" y="5629910"/>
                    <a:pt x="2983229" y="5671820"/>
                    <a:pt x="2458719" y="5568950"/>
                  </a:cubicBezTo>
                  <a:cubicBezTo>
                    <a:pt x="2595879" y="5523230"/>
                    <a:pt x="2752089" y="5490210"/>
                    <a:pt x="2896869" y="5450840"/>
                  </a:cubicBezTo>
                  <a:cubicBezTo>
                    <a:pt x="3065779" y="5368290"/>
                    <a:pt x="3197859" y="5253990"/>
                    <a:pt x="3293109" y="5109210"/>
                  </a:cubicBezTo>
                  <a:cubicBezTo>
                    <a:pt x="3087369" y="5058410"/>
                    <a:pt x="2900680" y="4965700"/>
                    <a:pt x="2740659" y="4842510"/>
                  </a:cubicBezTo>
                  <a:cubicBezTo>
                    <a:pt x="2468880" y="4997450"/>
                    <a:pt x="2145030" y="5066030"/>
                    <a:pt x="1811019" y="5015230"/>
                  </a:cubicBezTo>
                  <a:cubicBezTo>
                    <a:pt x="1109980" y="4907280"/>
                    <a:pt x="607059" y="4310380"/>
                    <a:pt x="595630" y="3624580"/>
                  </a:cubicBezTo>
                  <a:cubicBezTo>
                    <a:pt x="586740" y="3576320"/>
                    <a:pt x="580390" y="3526790"/>
                    <a:pt x="577850" y="3477260"/>
                  </a:cubicBezTo>
                  <a:cubicBezTo>
                    <a:pt x="240030" y="3277870"/>
                    <a:pt x="24130" y="2910840"/>
                    <a:pt x="27940" y="2508250"/>
                  </a:cubicBezTo>
                  <a:cubicBezTo>
                    <a:pt x="3810" y="2381250"/>
                    <a:pt x="0" y="2250440"/>
                    <a:pt x="20320" y="2118360"/>
                  </a:cubicBezTo>
                  <a:cubicBezTo>
                    <a:pt x="62230" y="1847850"/>
                    <a:pt x="199390" y="1601470"/>
                    <a:pt x="407670" y="1424940"/>
                  </a:cubicBezTo>
                  <a:cubicBezTo>
                    <a:pt x="613410" y="1249680"/>
                    <a:pt x="875030" y="1153160"/>
                    <a:pt x="1144270" y="1153160"/>
                  </a:cubicBezTo>
                  <a:cubicBezTo>
                    <a:pt x="1202690" y="1153160"/>
                    <a:pt x="1261110" y="1158240"/>
                    <a:pt x="1318260" y="1167130"/>
                  </a:cubicBezTo>
                  <a:cubicBezTo>
                    <a:pt x="1330960" y="1168400"/>
                    <a:pt x="1343660" y="1170940"/>
                    <a:pt x="1357630" y="1173480"/>
                  </a:cubicBezTo>
                  <a:cubicBezTo>
                    <a:pt x="1459230" y="720090"/>
                    <a:pt x="1866900" y="392430"/>
                    <a:pt x="2332990" y="392430"/>
                  </a:cubicBezTo>
                  <a:cubicBezTo>
                    <a:pt x="2383790" y="392430"/>
                    <a:pt x="2435860" y="396240"/>
                    <a:pt x="2486660" y="403860"/>
                  </a:cubicBezTo>
                  <a:cubicBezTo>
                    <a:pt x="2693670" y="435610"/>
                    <a:pt x="2880360" y="528320"/>
                    <a:pt x="3030220" y="673100"/>
                  </a:cubicBezTo>
                  <a:cubicBezTo>
                    <a:pt x="3295650" y="256540"/>
                    <a:pt x="3763010" y="0"/>
                    <a:pt x="4257040" y="0"/>
                  </a:cubicBezTo>
                  <a:cubicBezTo>
                    <a:pt x="4330700" y="0"/>
                    <a:pt x="4406900" y="6350"/>
                    <a:pt x="4480560" y="16510"/>
                  </a:cubicBezTo>
                  <a:cubicBezTo>
                    <a:pt x="5078730" y="107950"/>
                    <a:pt x="5558790" y="563880"/>
                    <a:pt x="5683250" y="1153160"/>
                  </a:cubicBezTo>
                  <a:cubicBezTo>
                    <a:pt x="5845810" y="1046480"/>
                    <a:pt x="6033770" y="990600"/>
                    <a:pt x="6228080" y="990600"/>
                  </a:cubicBezTo>
                  <a:cubicBezTo>
                    <a:pt x="6278880" y="990600"/>
                    <a:pt x="6330950" y="994410"/>
                    <a:pt x="6381750" y="1002030"/>
                  </a:cubicBezTo>
                  <a:cubicBezTo>
                    <a:pt x="6645910" y="1042670"/>
                    <a:pt x="6878320" y="1183640"/>
                    <a:pt x="7037070" y="1399540"/>
                  </a:cubicBezTo>
                  <a:cubicBezTo>
                    <a:pt x="7195820" y="1615440"/>
                    <a:pt x="7259320" y="1879600"/>
                    <a:pt x="7218680" y="2143760"/>
                  </a:cubicBezTo>
                  <a:cubicBezTo>
                    <a:pt x="7216139" y="2161540"/>
                    <a:pt x="7212330" y="2180590"/>
                    <a:pt x="7208520" y="2198370"/>
                  </a:cubicBezTo>
                  <a:cubicBezTo>
                    <a:pt x="7208520" y="2236470"/>
                    <a:pt x="7207250" y="2275840"/>
                    <a:pt x="7203439" y="2313940"/>
                  </a:cubicBezTo>
                  <a:cubicBezTo>
                    <a:pt x="7510780" y="2534920"/>
                    <a:pt x="7672070" y="2912110"/>
                    <a:pt x="7614920" y="3288030"/>
                  </a:cubicBezTo>
                  <a:close/>
                </a:path>
              </a:pathLst>
            </a:custGeom>
            <a:solidFill>
              <a:srgbClr val="000000"/>
            </a:solidFill>
          </p:spPr>
          <p:txBody>
            <a:bodyPr/>
            <a:lstStyle/>
            <a:p>
              <a:endParaRPr lang="en-US"/>
            </a:p>
          </p:txBody>
        </p:sp>
        <p:sp>
          <p:nvSpPr>
            <p:cNvPr id="70" name="Freeform 70"/>
            <p:cNvSpPr/>
            <p:nvPr/>
          </p:nvSpPr>
          <p:spPr>
            <a:xfrm>
              <a:off x="-36830" y="-12700"/>
              <a:ext cx="7684770" cy="5618480"/>
            </a:xfrm>
            <a:custGeom>
              <a:avLst/>
              <a:gdLst/>
              <a:ahLst/>
              <a:cxnLst/>
              <a:rect l="l" t="t" r="r" b="b"/>
              <a:pathLst>
                <a:path w="7684770" h="5618480">
                  <a:moveTo>
                    <a:pt x="7184390" y="2360930"/>
                  </a:moveTo>
                  <a:cubicBezTo>
                    <a:pt x="7202170" y="2307590"/>
                    <a:pt x="7216140" y="2251710"/>
                    <a:pt x="7225030" y="2193290"/>
                  </a:cubicBezTo>
                  <a:cubicBezTo>
                    <a:pt x="7307580" y="1658620"/>
                    <a:pt x="6940550" y="1158240"/>
                    <a:pt x="6405880" y="1075690"/>
                  </a:cubicBezTo>
                  <a:cubicBezTo>
                    <a:pt x="6146800" y="1036320"/>
                    <a:pt x="5895340" y="1102360"/>
                    <a:pt x="5695950" y="1240790"/>
                  </a:cubicBezTo>
                  <a:cubicBezTo>
                    <a:pt x="5586730" y="660400"/>
                    <a:pt x="5123180" y="185420"/>
                    <a:pt x="4504690" y="90170"/>
                  </a:cubicBezTo>
                  <a:cubicBezTo>
                    <a:pt x="3915410" y="0"/>
                    <a:pt x="3355340" y="280670"/>
                    <a:pt x="3061970" y="759460"/>
                  </a:cubicBezTo>
                  <a:cubicBezTo>
                    <a:pt x="2919730" y="613410"/>
                    <a:pt x="2730500" y="510540"/>
                    <a:pt x="2513330" y="477520"/>
                  </a:cubicBezTo>
                  <a:cubicBezTo>
                    <a:pt x="1993900" y="397510"/>
                    <a:pt x="1507490" y="740410"/>
                    <a:pt x="1404620" y="1249680"/>
                  </a:cubicBezTo>
                  <a:cubicBezTo>
                    <a:pt x="1385570" y="1245870"/>
                    <a:pt x="1365250" y="1242060"/>
                    <a:pt x="1344930" y="1238250"/>
                  </a:cubicBezTo>
                  <a:cubicBezTo>
                    <a:pt x="735330" y="1144270"/>
                    <a:pt x="166370" y="1562100"/>
                    <a:pt x="72390" y="2171700"/>
                  </a:cubicBezTo>
                  <a:cubicBezTo>
                    <a:pt x="0" y="2645410"/>
                    <a:pt x="236220" y="3094990"/>
                    <a:pt x="629920" y="3315970"/>
                  </a:cubicBezTo>
                  <a:cubicBezTo>
                    <a:pt x="574040" y="4056380"/>
                    <a:pt x="1096010" y="4726940"/>
                    <a:pt x="1841500" y="4841240"/>
                  </a:cubicBezTo>
                  <a:cubicBezTo>
                    <a:pt x="2175510" y="4892040"/>
                    <a:pt x="2499360" y="4824730"/>
                    <a:pt x="2771140" y="4668520"/>
                  </a:cubicBezTo>
                  <a:cubicBezTo>
                    <a:pt x="2961640" y="4815840"/>
                    <a:pt x="3190240" y="4919980"/>
                    <a:pt x="3445510" y="4960620"/>
                  </a:cubicBezTo>
                  <a:cubicBezTo>
                    <a:pt x="3346450" y="5240020"/>
                    <a:pt x="3140710" y="5464810"/>
                    <a:pt x="2774950" y="5586730"/>
                  </a:cubicBezTo>
                  <a:cubicBezTo>
                    <a:pt x="3162300" y="5618480"/>
                    <a:pt x="3729990" y="5455920"/>
                    <a:pt x="4027170" y="4936490"/>
                  </a:cubicBezTo>
                  <a:cubicBezTo>
                    <a:pt x="4419600" y="4839970"/>
                    <a:pt x="4757420" y="4585970"/>
                    <a:pt x="4958080" y="4234180"/>
                  </a:cubicBezTo>
                  <a:cubicBezTo>
                    <a:pt x="5046980" y="4279900"/>
                    <a:pt x="5143500" y="4311650"/>
                    <a:pt x="5247640" y="4328160"/>
                  </a:cubicBezTo>
                  <a:cubicBezTo>
                    <a:pt x="5586730" y="4380230"/>
                    <a:pt x="5910580" y="4246880"/>
                    <a:pt x="6118860" y="4004310"/>
                  </a:cubicBezTo>
                  <a:cubicBezTo>
                    <a:pt x="6231890" y="4079240"/>
                    <a:pt x="6363970" y="4131310"/>
                    <a:pt x="6506210" y="4152900"/>
                  </a:cubicBezTo>
                  <a:cubicBezTo>
                    <a:pt x="7040880" y="4235450"/>
                    <a:pt x="7541260" y="3868420"/>
                    <a:pt x="7623810" y="3333750"/>
                  </a:cubicBezTo>
                  <a:cubicBezTo>
                    <a:pt x="7684770" y="2940050"/>
                    <a:pt x="7500620" y="2564130"/>
                    <a:pt x="7184391" y="2360930"/>
                  </a:cubicBezTo>
                  <a:close/>
                </a:path>
              </a:pathLst>
            </a:custGeom>
            <a:solidFill>
              <a:srgbClr val="FCFCFC"/>
            </a:solidFill>
            <a:ln w="12700">
              <a:solidFill>
                <a:srgbClr val="000000"/>
              </a:solidFill>
            </a:ln>
          </p:spPr>
          <p:txBody>
            <a:bodyPr/>
            <a:lstStyle/>
            <a:p>
              <a:endParaRPr lang="en-US"/>
            </a:p>
          </p:txBody>
        </p:sp>
      </p:grpSp>
      <p:grpSp>
        <p:nvGrpSpPr>
          <p:cNvPr id="71" name="Group 71"/>
          <p:cNvGrpSpPr/>
          <p:nvPr/>
        </p:nvGrpSpPr>
        <p:grpSpPr>
          <a:xfrm>
            <a:off x="5399454" y="10558276"/>
            <a:ext cx="1879606" cy="574540"/>
            <a:chOff x="0" y="0"/>
            <a:chExt cx="2506142" cy="766053"/>
          </a:xfrm>
        </p:grpSpPr>
        <p:sp>
          <p:nvSpPr>
            <p:cNvPr id="72" name="Freeform 72"/>
            <p:cNvSpPr/>
            <p:nvPr/>
          </p:nvSpPr>
          <p:spPr>
            <a:xfrm>
              <a:off x="0" y="0"/>
              <a:ext cx="805312" cy="766053"/>
            </a:xfrm>
            <a:custGeom>
              <a:avLst/>
              <a:gdLst/>
              <a:ahLst/>
              <a:cxnLst/>
              <a:rect l="l" t="t" r="r" b="b"/>
              <a:pathLst>
                <a:path w="805312" h="766053">
                  <a:moveTo>
                    <a:pt x="0" y="0"/>
                  </a:moveTo>
                  <a:lnTo>
                    <a:pt x="805312" y="0"/>
                  </a:lnTo>
                  <a:lnTo>
                    <a:pt x="805312" y="766053"/>
                  </a:lnTo>
                  <a:lnTo>
                    <a:pt x="0" y="766053"/>
                  </a:lnTo>
                  <a:lnTo>
                    <a:pt x="0" y="0"/>
                  </a:lnTo>
                  <a:close/>
                </a:path>
              </a:pathLst>
            </a:custGeom>
            <a:blipFill>
              <a:blip r:embed="rId35">
                <a:extLst>
                  <a:ext uri="{96DAC541-7B7A-43D3-8B79-37D633B846F1}">
                    <asvg:svgBlip xmlns:asvg="http://schemas.microsoft.com/office/drawing/2016/SVG/main" r:embed="rId36"/>
                  </a:ext>
                </a:extLst>
              </a:blip>
              <a:stretch>
                <a:fillRect/>
              </a:stretch>
            </a:blipFill>
          </p:spPr>
          <p:txBody>
            <a:bodyPr/>
            <a:lstStyle/>
            <a:p>
              <a:endParaRPr lang="en-US"/>
            </a:p>
          </p:txBody>
        </p:sp>
        <p:sp>
          <p:nvSpPr>
            <p:cNvPr id="73" name="Freeform 73"/>
            <p:cNvSpPr/>
            <p:nvPr/>
          </p:nvSpPr>
          <p:spPr>
            <a:xfrm>
              <a:off x="858944" y="0"/>
              <a:ext cx="805312" cy="766053"/>
            </a:xfrm>
            <a:custGeom>
              <a:avLst/>
              <a:gdLst/>
              <a:ahLst/>
              <a:cxnLst/>
              <a:rect l="l" t="t" r="r" b="b"/>
              <a:pathLst>
                <a:path w="805312" h="766053">
                  <a:moveTo>
                    <a:pt x="0" y="0"/>
                  </a:moveTo>
                  <a:lnTo>
                    <a:pt x="805312" y="0"/>
                  </a:lnTo>
                  <a:lnTo>
                    <a:pt x="805312" y="766053"/>
                  </a:lnTo>
                  <a:lnTo>
                    <a:pt x="0" y="766053"/>
                  </a:lnTo>
                  <a:lnTo>
                    <a:pt x="0" y="0"/>
                  </a:lnTo>
                  <a:close/>
                </a:path>
              </a:pathLst>
            </a:custGeom>
            <a:blipFill>
              <a:blip r:embed="rId35">
                <a:extLst>
                  <a:ext uri="{96DAC541-7B7A-43D3-8B79-37D633B846F1}">
                    <asvg:svgBlip xmlns:asvg="http://schemas.microsoft.com/office/drawing/2016/SVG/main" r:embed="rId36"/>
                  </a:ext>
                </a:extLst>
              </a:blip>
              <a:stretch>
                <a:fillRect/>
              </a:stretch>
            </a:blipFill>
          </p:spPr>
          <p:txBody>
            <a:bodyPr/>
            <a:lstStyle/>
            <a:p>
              <a:endParaRPr lang="en-US"/>
            </a:p>
          </p:txBody>
        </p:sp>
        <p:sp>
          <p:nvSpPr>
            <p:cNvPr id="74" name="Freeform 74"/>
            <p:cNvSpPr/>
            <p:nvPr/>
          </p:nvSpPr>
          <p:spPr>
            <a:xfrm>
              <a:off x="1700830" y="0"/>
              <a:ext cx="805312" cy="766053"/>
            </a:xfrm>
            <a:custGeom>
              <a:avLst/>
              <a:gdLst/>
              <a:ahLst/>
              <a:cxnLst/>
              <a:rect l="l" t="t" r="r" b="b"/>
              <a:pathLst>
                <a:path w="805312" h="766053">
                  <a:moveTo>
                    <a:pt x="0" y="0"/>
                  </a:moveTo>
                  <a:lnTo>
                    <a:pt x="805312" y="0"/>
                  </a:lnTo>
                  <a:lnTo>
                    <a:pt x="805312" y="766053"/>
                  </a:lnTo>
                  <a:lnTo>
                    <a:pt x="0" y="766053"/>
                  </a:lnTo>
                  <a:lnTo>
                    <a:pt x="0" y="0"/>
                  </a:lnTo>
                  <a:close/>
                </a:path>
              </a:pathLst>
            </a:custGeom>
            <a:blipFill>
              <a:blip r:embed="rId35">
                <a:extLst>
                  <a:ext uri="{96DAC541-7B7A-43D3-8B79-37D633B846F1}">
                    <asvg:svgBlip xmlns:asvg="http://schemas.microsoft.com/office/drawing/2016/SVG/main" r:embed="rId36"/>
                  </a:ext>
                </a:extLst>
              </a:blip>
              <a:stretch>
                <a:fillRect/>
              </a:stretch>
            </a:blipFill>
          </p:spPr>
          <p:txBody>
            <a:bodyPr/>
            <a:lstStyle/>
            <a:p>
              <a:endParaRPr lang="en-US"/>
            </a:p>
          </p:txBody>
        </p:sp>
      </p:grpSp>
      <p:sp>
        <p:nvSpPr>
          <p:cNvPr id="75" name="Freeform 75"/>
          <p:cNvSpPr/>
          <p:nvPr/>
        </p:nvSpPr>
        <p:spPr>
          <a:xfrm>
            <a:off x="213579" y="8476169"/>
            <a:ext cx="3172508" cy="483808"/>
          </a:xfrm>
          <a:custGeom>
            <a:avLst/>
            <a:gdLst/>
            <a:ahLst/>
            <a:cxnLst/>
            <a:rect l="l" t="t" r="r" b="b"/>
            <a:pathLst>
              <a:path w="3172508" h="483808">
                <a:moveTo>
                  <a:pt x="0" y="0"/>
                </a:moveTo>
                <a:lnTo>
                  <a:pt x="3172508" y="0"/>
                </a:lnTo>
                <a:lnTo>
                  <a:pt x="3172508" y="483807"/>
                </a:lnTo>
                <a:lnTo>
                  <a:pt x="0" y="483807"/>
                </a:lnTo>
                <a:lnTo>
                  <a:pt x="0" y="0"/>
                </a:lnTo>
                <a:close/>
              </a:path>
            </a:pathLst>
          </a:custGeom>
          <a:blipFill>
            <a:blip r:embed="rId37">
              <a:extLst>
                <a:ext uri="{96DAC541-7B7A-43D3-8B79-37D633B846F1}">
                  <asvg:svgBlip xmlns:asvg="http://schemas.microsoft.com/office/drawing/2016/SVG/main" r:embed="rId38"/>
                </a:ext>
              </a:extLst>
            </a:blip>
            <a:stretch>
              <a:fillRect/>
            </a:stretch>
          </a:blipFill>
        </p:spPr>
        <p:txBody>
          <a:bodyPr/>
          <a:lstStyle/>
          <a:p>
            <a:endParaRPr lang="en-US"/>
          </a:p>
        </p:txBody>
      </p:sp>
      <p:sp>
        <p:nvSpPr>
          <p:cNvPr id="76" name="TextBox 76"/>
          <p:cNvSpPr txBox="1"/>
          <p:nvPr/>
        </p:nvSpPr>
        <p:spPr>
          <a:xfrm>
            <a:off x="198738" y="15397362"/>
            <a:ext cx="7051734" cy="251460"/>
          </a:xfrm>
          <a:prstGeom prst="rect">
            <a:avLst/>
          </a:prstGeom>
        </p:spPr>
        <p:txBody>
          <a:bodyPr lIns="0" tIns="0" rIns="0" bIns="0" rtlCol="0" anchor="t">
            <a:spAutoFit/>
          </a:bodyPr>
          <a:lstStyle/>
          <a:p>
            <a:pPr marL="0" lvl="0" indent="0" algn="l">
              <a:lnSpc>
                <a:spcPts val="1980"/>
              </a:lnSpc>
            </a:pPr>
            <a:r>
              <a:rPr lang="en-US" sz="1800" b="1">
                <a:solidFill>
                  <a:srgbClr val="0F1E05"/>
                </a:solidFill>
                <a:latin typeface="Garet Bold"/>
                <a:ea typeface="Garet Bold"/>
                <a:cs typeface="Garet Bold"/>
                <a:sym typeface="Garet Bold"/>
              </a:rPr>
              <a:t>ANIMAL AGRICULTU</a:t>
            </a:r>
            <a:r>
              <a:rPr lang="en-US" sz="1800" b="1" u="none">
                <a:solidFill>
                  <a:srgbClr val="0F1E05"/>
                </a:solidFill>
                <a:latin typeface="Garet Bold"/>
                <a:ea typeface="Garet Bold"/>
                <a:cs typeface="Garet Bold"/>
                <a:sym typeface="Garet Bold"/>
              </a:rPr>
              <a:t>RE: THE HIDDEN COST OF OUR PLATES.</a:t>
            </a:r>
          </a:p>
        </p:txBody>
      </p:sp>
      <p:sp>
        <p:nvSpPr>
          <p:cNvPr id="77" name="TextBox 77"/>
          <p:cNvSpPr txBox="1"/>
          <p:nvPr/>
        </p:nvSpPr>
        <p:spPr>
          <a:xfrm>
            <a:off x="194849" y="275667"/>
            <a:ext cx="4205371" cy="1314450"/>
          </a:xfrm>
          <a:prstGeom prst="rect">
            <a:avLst/>
          </a:prstGeom>
        </p:spPr>
        <p:txBody>
          <a:bodyPr lIns="0" tIns="0" rIns="0" bIns="0" rtlCol="0" anchor="t">
            <a:spAutoFit/>
          </a:bodyPr>
          <a:lstStyle/>
          <a:p>
            <a:pPr algn="l">
              <a:lnSpc>
                <a:spcPts val="5175"/>
              </a:lnSpc>
            </a:pPr>
            <a:r>
              <a:rPr lang="en-US" sz="4500" b="1">
                <a:solidFill>
                  <a:srgbClr val="0F1E05"/>
                </a:solidFill>
                <a:latin typeface="Garet Bold"/>
                <a:ea typeface="Garet Bold"/>
                <a:cs typeface="Garet Bold"/>
                <a:sym typeface="Garet Bold"/>
              </a:rPr>
              <a:t>Compassion Heals</a:t>
            </a:r>
          </a:p>
        </p:txBody>
      </p:sp>
      <p:sp>
        <p:nvSpPr>
          <p:cNvPr id="78" name="TextBox 78"/>
          <p:cNvSpPr txBox="1"/>
          <p:nvPr/>
        </p:nvSpPr>
        <p:spPr>
          <a:xfrm>
            <a:off x="5629977" y="396952"/>
            <a:ext cx="1531542" cy="1231265"/>
          </a:xfrm>
          <a:prstGeom prst="rect">
            <a:avLst/>
          </a:prstGeom>
        </p:spPr>
        <p:txBody>
          <a:bodyPr lIns="0" tIns="0" rIns="0" bIns="0" rtlCol="0" anchor="t">
            <a:spAutoFit/>
          </a:bodyPr>
          <a:lstStyle/>
          <a:p>
            <a:pPr algn="l">
              <a:lnSpc>
                <a:spcPts val="1960"/>
              </a:lnSpc>
            </a:pPr>
            <a:r>
              <a:rPr lang="en-US" sz="1400" b="1">
                <a:solidFill>
                  <a:srgbClr val="0F1E05"/>
                </a:solidFill>
                <a:latin typeface="Garet Bold"/>
                <a:ea typeface="Garet Bold"/>
                <a:cs typeface="Garet Bold"/>
                <a:sym typeface="Garet Bold"/>
              </a:rPr>
              <a:t>How Plant-Based Diets Can Prevent Disease and Protect Animals</a:t>
            </a:r>
          </a:p>
        </p:txBody>
      </p:sp>
      <p:sp>
        <p:nvSpPr>
          <p:cNvPr id="79" name="TextBox 79"/>
          <p:cNvSpPr txBox="1"/>
          <p:nvPr/>
        </p:nvSpPr>
        <p:spPr>
          <a:xfrm>
            <a:off x="667338" y="1976438"/>
            <a:ext cx="3748286" cy="339725"/>
          </a:xfrm>
          <a:prstGeom prst="rect">
            <a:avLst/>
          </a:prstGeom>
        </p:spPr>
        <p:txBody>
          <a:bodyPr lIns="0" tIns="0" rIns="0" bIns="0" rtlCol="0" anchor="t">
            <a:spAutoFit/>
          </a:bodyPr>
          <a:lstStyle/>
          <a:p>
            <a:pPr algn="l">
              <a:lnSpc>
                <a:spcPts val="2800"/>
              </a:lnSpc>
            </a:pPr>
            <a:r>
              <a:rPr lang="en-US" sz="2000" b="1">
                <a:solidFill>
                  <a:srgbClr val="0F1E05"/>
                </a:solidFill>
                <a:latin typeface="Garet Bold"/>
                <a:ea typeface="Garet Bold"/>
                <a:cs typeface="Garet Bold"/>
                <a:sym typeface="Garet Bold"/>
              </a:rPr>
              <a:t>Chronic Disease in America</a:t>
            </a:r>
          </a:p>
        </p:txBody>
      </p:sp>
      <p:sp>
        <p:nvSpPr>
          <p:cNvPr id="80" name="TextBox 80"/>
          <p:cNvSpPr txBox="1"/>
          <p:nvPr/>
        </p:nvSpPr>
        <p:spPr>
          <a:xfrm>
            <a:off x="-13560" y="7264114"/>
            <a:ext cx="3294079" cy="997580"/>
          </a:xfrm>
          <a:prstGeom prst="rect">
            <a:avLst/>
          </a:prstGeom>
        </p:spPr>
        <p:txBody>
          <a:bodyPr lIns="0" tIns="0" rIns="0" bIns="0" rtlCol="0" anchor="t">
            <a:spAutoFit/>
          </a:bodyPr>
          <a:lstStyle/>
          <a:p>
            <a:pPr algn="l">
              <a:lnSpc>
                <a:spcPts val="1997"/>
              </a:lnSpc>
              <a:spcBef>
                <a:spcPct val="0"/>
              </a:spcBef>
            </a:pPr>
            <a:endParaRPr/>
          </a:p>
          <a:p>
            <a:pPr marL="308056" lvl="1" indent="-154028" algn="l">
              <a:lnSpc>
                <a:spcPts val="1997"/>
              </a:lnSpc>
              <a:spcBef>
                <a:spcPct val="0"/>
              </a:spcBef>
              <a:buFont typeface="Arial"/>
              <a:buChar char="•"/>
            </a:pPr>
            <a:r>
              <a:rPr lang="en-US" sz="1426" u="none">
                <a:solidFill>
                  <a:srgbClr val="183B23"/>
                </a:solidFill>
                <a:latin typeface="Garet"/>
                <a:ea typeface="Garet"/>
                <a:cs typeface="Garet"/>
                <a:sym typeface="Garet"/>
              </a:rPr>
              <a:t>Increased mortality rate</a:t>
            </a:r>
          </a:p>
          <a:p>
            <a:pPr marL="308056" lvl="1" indent="-154028" algn="l">
              <a:lnSpc>
                <a:spcPts val="1997"/>
              </a:lnSpc>
              <a:spcBef>
                <a:spcPct val="0"/>
              </a:spcBef>
              <a:buFont typeface="Arial"/>
              <a:buChar char="•"/>
            </a:pPr>
            <a:r>
              <a:rPr lang="en-US" sz="1426" u="none">
                <a:solidFill>
                  <a:srgbClr val="183B23"/>
                </a:solidFill>
                <a:latin typeface="Garet"/>
                <a:ea typeface="Garet"/>
                <a:cs typeface="Garet"/>
                <a:sym typeface="Garet"/>
              </a:rPr>
              <a:t>Higher risk of cancer and cardiovascular disease</a:t>
            </a:r>
          </a:p>
        </p:txBody>
      </p:sp>
      <p:sp>
        <p:nvSpPr>
          <p:cNvPr id="81" name="TextBox 81"/>
          <p:cNvSpPr txBox="1"/>
          <p:nvPr/>
        </p:nvSpPr>
        <p:spPr>
          <a:xfrm>
            <a:off x="599882" y="4465867"/>
            <a:ext cx="3153311" cy="365760"/>
          </a:xfrm>
          <a:prstGeom prst="rect">
            <a:avLst/>
          </a:prstGeom>
        </p:spPr>
        <p:txBody>
          <a:bodyPr lIns="0" tIns="0" rIns="0" bIns="0" rtlCol="0" anchor="t">
            <a:spAutoFit/>
          </a:bodyPr>
          <a:lstStyle/>
          <a:p>
            <a:pPr algn="l">
              <a:lnSpc>
                <a:spcPts val="2940"/>
              </a:lnSpc>
            </a:pPr>
            <a:r>
              <a:rPr lang="en-US" sz="2100" b="1">
                <a:solidFill>
                  <a:srgbClr val="0F1E05"/>
                </a:solidFill>
                <a:latin typeface="Garet Bold"/>
                <a:ea typeface="Garet Bold"/>
                <a:cs typeface="Garet Bold"/>
                <a:sym typeface="Garet Bold"/>
              </a:rPr>
              <a:t>Meat and Mortality</a:t>
            </a:r>
          </a:p>
        </p:txBody>
      </p:sp>
      <p:sp>
        <p:nvSpPr>
          <p:cNvPr id="82" name="TextBox 82"/>
          <p:cNvSpPr txBox="1"/>
          <p:nvPr/>
        </p:nvSpPr>
        <p:spPr>
          <a:xfrm>
            <a:off x="141393" y="18468418"/>
            <a:ext cx="5035476" cy="517525"/>
          </a:xfrm>
          <a:prstGeom prst="rect">
            <a:avLst/>
          </a:prstGeom>
        </p:spPr>
        <p:txBody>
          <a:bodyPr lIns="0" tIns="0" rIns="0" bIns="0" rtlCol="0" anchor="t">
            <a:spAutoFit/>
          </a:bodyPr>
          <a:lstStyle/>
          <a:p>
            <a:pPr marL="0" lvl="0" indent="0" algn="l">
              <a:lnSpc>
                <a:spcPts val="1400"/>
              </a:lnSpc>
              <a:spcBef>
                <a:spcPct val="0"/>
              </a:spcBef>
            </a:pPr>
            <a:r>
              <a:rPr lang="en-US" sz="1000">
                <a:solidFill>
                  <a:srgbClr val="0F1E05"/>
                </a:solidFill>
                <a:latin typeface="Garet"/>
                <a:ea typeface="Garet"/>
                <a:cs typeface="Garet"/>
                <a:sym typeface="Garet"/>
              </a:rPr>
              <a:t>CDC, Con</a:t>
            </a:r>
            <a:r>
              <a:rPr lang="en-US" sz="1000" u="none">
                <a:solidFill>
                  <a:srgbClr val="0F1E05"/>
                </a:solidFill>
                <a:latin typeface="Garet"/>
                <a:ea typeface="Garet"/>
                <a:cs typeface="Garet"/>
                <a:sym typeface="Garet"/>
              </a:rPr>
              <a:t>stantino-Jonapa et al., 2023, Food and Agriculture Organization of the United Nations, Fusano, 2023, Hou et al., 2022, Huang et al., 2012, Menzel et al., 2020, Pan et al., 2012, Satija et al., 2016, USDA</a:t>
            </a:r>
          </a:p>
        </p:txBody>
      </p:sp>
      <p:sp>
        <p:nvSpPr>
          <p:cNvPr id="83" name="TextBox 83"/>
          <p:cNvSpPr txBox="1"/>
          <p:nvPr/>
        </p:nvSpPr>
        <p:spPr>
          <a:xfrm>
            <a:off x="141393" y="18234739"/>
            <a:ext cx="7059430" cy="233679"/>
          </a:xfrm>
          <a:prstGeom prst="rect">
            <a:avLst/>
          </a:prstGeom>
        </p:spPr>
        <p:txBody>
          <a:bodyPr lIns="0" tIns="0" rIns="0" bIns="0" rtlCol="0" anchor="t">
            <a:spAutoFit/>
          </a:bodyPr>
          <a:lstStyle/>
          <a:p>
            <a:pPr marL="0" lvl="0" indent="0" algn="l">
              <a:lnSpc>
                <a:spcPts val="1820"/>
              </a:lnSpc>
              <a:spcBef>
                <a:spcPct val="0"/>
              </a:spcBef>
            </a:pPr>
            <a:r>
              <a:rPr lang="en-US" sz="1300" b="1" u="none" dirty="0">
                <a:solidFill>
                  <a:srgbClr val="0F1E05"/>
                </a:solidFill>
                <a:latin typeface="Garet Bold"/>
                <a:ea typeface="Garet Bold"/>
                <a:cs typeface="Garet Bold"/>
                <a:sym typeface="Garet Bold"/>
              </a:rPr>
              <a:t>References</a:t>
            </a:r>
          </a:p>
        </p:txBody>
      </p:sp>
      <p:sp>
        <p:nvSpPr>
          <p:cNvPr id="84" name="TextBox 84"/>
          <p:cNvSpPr txBox="1"/>
          <p:nvPr/>
        </p:nvSpPr>
        <p:spPr>
          <a:xfrm>
            <a:off x="4380441" y="1987665"/>
            <a:ext cx="3284602" cy="810707"/>
          </a:xfrm>
          <a:prstGeom prst="rect">
            <a:avLst/>
          </a:prstGeom>
        </p:spPr>
        <p:txBody>
          <a:bodyPr lIns="0" tIns="0" rIns="0" bIns="0" rtlCol="0" anchor="t">
            <a:spAutoFit/>
          </a:bodyPr>
          <a:lstStyle/>
          <a:p>
            <a:pPr marL="309743" lvl="1" indent="-154872" algn="l">
              <a:lnSpc>
                <a:spcPts val="2238"/>
              </a:lnSpc>
              <a:buFont typeface="Arial"/>
              <a:buChar char="•"/>
            </a:pPr>
            <a:r>
              <a:rPr lang="en-US" sz="1434" u="none">
                <a:solidFill>
                  <a:srgbClr val="0F1E05"/>
                </a:solidFill>
                <a:latin typeface="Garet"/>
                <a:ea typeface="Garet"/>
                <a:cs typeface="Garet"/>
                <a:sym typeface="Garet"/>
              </a:rPr>
              <a:t>6 in 10 young adults (59.5%)</a:t>
            </a:r>
          </a:p>
          <a:p>
            <a:pPr marL="309743" lvl="1" indent="-154872" algn="l">
              <a:lnSpc>
                <a:spcPts val="2238"/>
              </a:lnSpc>
              <a:buFont typeface="Arial"/>
              <a:buChar char="•"/>
            </a:pPr>
            <a:r>
              <a:rPr lang="en-US" sz="1434" u="none">
                <a:solidFill>
                  <a:srgbClr val="0F1E05"/>
                </a:solidFill>
                <a:latin typeface="Garet"/>
                <a:ea typeface="Garet"/>
                <a:cs typeface="Garet"/>
                <a:sym typeface="Garet"/>
              </a:rPr>
              <a:t>8 in 10 midlife adults (78.4%)</a:t>
            </a:r>
          </a:p>
          <a:p>
            <a:pPr marL="309743" lvl="1" indent="-154872" algn="l">
              <a:lnSpc>
                <a:spcPts val="2238"/>
              </a:lnSpc>
              <a:spcBef>
                <a:spcPct val="0"/>
              </a:spcBef>
              <a:buFont typeface="Arial"/>
              <a:buChar char="•"/>
            </a:pPr>
            <a:r>
              <a:rPr lang="en-US" sz="1434" u="none">
                <a:solidFill>
                  <a:srgbClr val="0F1E05"/>
                </a:solidFill>
                <a:latin typeface="Garet"/>
                <a:ea typeface="Garet"/>
                <a:cs typeface="Garet"/>
                <a:sym typeface="Garet"/>
              </a:rPr>
              <a:t>9 in 10 older adults (93.0%)</a:t>
            </a:r>
          </a:p>
        </p:txBody>
      </p:sp>
      <p:sp>
        <p:nvSpPr>
          <p:cNvPr id="85" name="TextBox 85"/>
          <p:cNvSpPr txBox="1"/>
          <p:nvPr/>
        </p:nvSpPr>
        <p:spPr>
          <a:xfrm>
            <a:off x="4380441" y="12782343"/>
            <a:ext cx="2817810" cy="365760"/>
          </a:xfrm>
          <a:prstGeom prst="rect">
            <a:avLst/>
          </a:prstGeom>
        </p:spPr>
        <p:txBody>
          <a:bodyPr lIns="0" tIns="0" rIns="0" bIns="0" rtlCol="0" anchor="t">
            <a:spAutoFit/>
          </a:bodyPr>
          <a:lstStyle/>
          <a:p>
            <a:pPr algn="l">
              <a:lnSpc>
                <a:spcPts val="2940"/>
              </a:lnSpc>
            </a:pPr>
            <a:r>
              <a:rPr lang="en-US" sz="2100" b="1">
                <a:solidFill>
                  <a:srgbClr val="0F1E05"/>
                </a:solidFill>
                <a:latin typeface="Garet Bold"/>
                <a:ea typeface="Garet Bold"/>
                <a:cs typeface="Garet Bold"/>
                <a:sym typeface="Garet Bold"/>
              </a:rPr>
              <a:t>Beyond Your Plate </a:t>
            </a:r>
          </a:p>
        </p:txBody>
      </p:sp>
      <p:sp>
        <p:nvSpPr>
          <p:cNvPr id="86" name="TextBox 86"/>
          <p:cNvSpPr txBox="1"/>
          <p:nvPr/>
        </p:nvSpPr>
        <p:spPr>
          <a:xfrm>
            <a:off x="4081714" y="13291702"/>
            <a:ext cx="3114125" cy="1791335"/>
          </a:xfrm>
          <a:prstGeom prst="rect">
            <a:avLst/>
          </a:prstGeom>
        </p:spPr>
        <p:txBody>
          <a:bodyPr lIns="0" tIns="0" rIns="0" bIns="0" rtlCol="0" anchor="t">
            <a:spAutoFit/>
          </a:bodyPr>
          <a:lstStyle/>
          <a:p>
            <a:pPr marL="280671" lvl="1" indent="-140336" algn="l">
              <a:lnSpc>
                <a:spcPts val="2080"/>
              </a:lnSpc>
              <a:buFont typeface="Arial"/>
              <a:buChar char="•"/>
            </a:pPr>
            <a:r>
              <a:rPr lang="en-US" sz="1300" b="1" dirty="0">
                <a:solidFill>
                  <a:srgbClr val="0F1E05"/>
                </a:solidFill>
                <a:latin typeface="Garet Bold"/>
                <a:ea typeface="Garet Bold"/>
                <a:cs typeface="Garet Bold"/>
                <a:sym typeface="Garet Bold"/>
              </a:rPr>
              <a:t>83</a:t>
            </a:r>
            <a:r>
              <a:rPr lang="en-US" sz="1300" b="1" u="none" dirty="0">
                <a:solidFill>
                  <a:srgbClr val="0F1E05"/>
                </a:solidFill>
                <a:latin typeface="Garet Bold"/>
                <a:ea typeface="Garet Bold"/>
                <a:cs typeface="Garet Bold"/>
                <a:sym typeface="Garet Bold"/>
              </a:rPr>
              <a:t> billion</a:t>
            </a:r>
            <a:r>
              <a:rPr lang="en-US" sz="1300" u="none" dirty="0">
                <a:solidFill>
                  <a:srgbClr val="0F1E05"/>
                </a:solidFill>
                <a:latin typeface="Garet"/>
                <a:ea typeface="Garet"/>
                <a:cs typeface="Garet"/>
                <a:sym typeface="Garet"/>
              </a:rPr>
              <a:t> animals are slaughtered for meat production globally per year (FAOUN)</a:t>
            </a:r>
          </a:p>
          <a:p>
            <a:pPr marL="280671" lvl="1" indent="-140336" algn="l">
              <a:lnSpc>
                <a:spcPts val="2080"/>
              </a:lnSpc>
              <a:buFont typeface="Arial"/>
              <a:buChar char="•"/>
            </a:pPr>
            <a:r>
              <a:rPr lang="en-US" sz="1300" u="none" dirty="0">
                <a:solidFill>
                  <a:srgbClr val="0F1E05"/>
                </a:solidFill>
                <a:latin typeface="Garet"/>
                <a:ea typeface="Garet"/>
                <a:cs typeface="Garet"/>
                <a:sym typeface="Garet"/>
              </a:rPr>
              <a:t>Over</a:t>
            </a:r>
            <a:r>
              <a:rPr lang="en-US" sz="1300" b="1" u="none" dirty="0">
                <a:solidFill>
                  <a:srgbClr val="0F1E05"/>
                </a:solidFill>
                <a:latin typeface="Garet Bold"/>
                <a:ea typeface="Garet Bold"/>
                <a:cs typeface="Garet Bold"/>
                <a:sym typeface="Garet Bold"/>
              </a:rPr>
              <a:t> 1 million</a:t>
            </a:r>
            <a:r>
              <a:rPr lang="en-US" sz="1300" u="none" dirty="0">
                <a:solidFill>
                  <a:srgbClr val="0F1E05"/>
                </a:solidFill>
                <a:latin typeface="Garet"/>
                <a:ea typeface="Garet"/>
                <a:cs typeface="Garet"/>
                <a:sym typeface="Garet"/>
              </a:rPr>
              <a:t> animals are eaten</a:t>
            </a:r>
            <a:r>
              <a:rPr lang="en-US" sz="1300" i="1" u="none" dirty="0">
                <a:solidFill>
                  <a:srgbClr val="0F1E05"/>
                </a:solidFill>
                <a:latin typeface="Garet"/>
                <a:ea typeface="Garet"/>
                <a:cs typeface="Garet"/>
                <a:sym typeface="Garet"/>
              </a:rPr>
              <a:t> per hour</a:t>
            </a:r>
            <a:r>
              <a:rPr lang="en-US" sz="1300" b="1" u="none" dirty="0">
                <a:solidFill>
                  <a:srgbClr val="0F1E05"/>
                </a:solidFill>
                <a:latin typeface="Garet Bold"/>
                <a:ea typeface="Garet Bold"/>
                <a:cs typeface="Garet Bold"/>
                <a:sym typeface="Garet Bold"/>
              </a:rPr>
              <a:t> </a:t>
            </a:r>
            <a:r>
              <a:rPr lang="en-US" sz="1300" u="none" dirty="0">
                <a:solidFill>
                  <a:srgbClr val="0F1E05"/>
                </a:solidFill>
                <a:latin typeface="Garet"/>
                <a:ea typeface="Garet"/>
                <a:cs typeface="Garet"/>
                <a:sym typeface="Garet"/>
              </a:rPr>
              <a:t>in the U.S. (USDA)</a:t>
            </a:r>
          </a:p>
          <a:p>
            <a:pPr marL="280671" lvl="1" indent="-140336" algn="l">
              <a:lnSpc>
                <a:spcPts val="2080"/>
              </a:lnSpc>
              <a:buFont typeface="Arial"/>
              <a:buChar char="•"/>
            </a:pPr>
            <a:r>
              <a:rPr lang="en-US" sz="1300" b="1" u="none" dirty="0">
                <a:solidFill>
                  <a:srgbClr val="0F1E05"/>
                </a:solidFill>
                <a:latin typeface="Garet Bold"/>
                <a:ea typeface="Garet Bold"/>
                <a:cs typeface="Garet Bold"/>
                <a:sym typeface="Garet Bold"/>
              </a:rPr>
              <a:t>Ethical concern:</a:t>
            </a:r>
            <a:r>
              <a:rPr lang="en-US" sz="1300" u="none" dirty="0">
                <a:solidFill>
                  <a:srgbClr val="0F1E05"/>
                </a:solidFill>
                <a:latin typeface="Garet"/>
                <a:ea typeface="Garet"/>
                <a:cs typeface="Garet"/>
                <a:sym typeface="Garet"/>
              </a:rPr>
              <a:t> Why do we love some animals and eat others?</a:t>
            </a:r>
          </a:p>
        </p:txBody>
      </p:sp>
      <p:sp>
        <p:nvSpPr>
          <p:cNvPr id="87" name="TextBox 87"/>
          <p:cNvSpPr txBox="1"/>
          <p:nvPr/>
        </p:nvSpPr>
        <p:spPr>
          <a:xfrm>
            <a:off x="370099" y="4987349"/>
            <a:ext cx="3161617" cy="320602"/>
          </a:xfrm>
          <a:prstGeom prst="rect">
            <a:avLst/>
          </a:prstGeom>
        </p:spPr>
        <p:txBody>
          <a:bodyPr lIns="0" tIns="0" rIns="0" bIns="0" rtlCol="0" anchor="t">
            <a:spAutoFit/>
          </a:bodyPr>
          <a:lstStyle/>
          <a:p>
            <a:pPr algn="ctr">
              <a:lnSpc>
                <a:spcPts val="1317"/>
              </a:lnSpc>
              <a:spcBef>
                <a:spcPct val="0"/>
              </a:spcBef>
            </a:pPr>
            <a:r>
              <a:rPr lang="en-US" sz="940" b="1">
                <a:solidFill>
                  <a:srgbClr val="000000"/>
                </a:solidFill>
                <a:latin typeface="Garet Bold"/>
                <a:ea typeface="Garet Bold"/>
                <a:cs typeface="Garet Bold"/>
                <a:sym typeface="Garet Bold"/>
              </a:rPr>
              <a:t>NURSES' HEALTH STUDY </a:t>
            </a:r>
          </a:p>
          <a:p>
            <a:pPr algn="ctr">
              <a:lnSpc>
                <a:spcPts val="1317"/>
              </a:lnSpc>
              <a:spcBef>
                <a:spcPct val="0"/>
              </a:spcBef>
            </a:pPr>
            <a:r>
              <a:rPr lang="en-US" sz="940" b="1">
                <a:solidFill>
                  <a:srgbClr val="000000"/>
                </a:solidFill>
                <a:latin typeface="Garet Bold"/>
                <a:ea typeface="Garet Bold"/>
                <a:cs typeface="Garet Bold"/>
                <a:sym typeface="Garet Bold"/>
              </a:rPr>
              <a:t>(1976-2008, N = 83,644 WOMEN AGED 30-55 YEARS)</a:t>
            </a:r>
          </a:p>
        </p:txBody>
      </p:sp>
      <p:sp>
        <p:nvSpPr>
          <p:cNvPr id="88" name="TextBox 88"/>
          <p:cNvSpPr txBox="1"/>
          <p:nvPr/>
        </p:nvSpPr>
        <p:spPr>
          <a:xfrm>
            <a:off x="4144123" y="4977525"/>
            <a:ext cx="2955171" cy="330426"/>
          </a:xfrm>
          <a:prstGeom prst="rect">
            <a:avLst/>
          </a:prstGeom>
        </p:spPr>
        <p:txBody>
          <a:bodyPr lIns="0" tIns="0" rIns="0" bIns="0" rtlCol="0" anchor="t">
            <a:spAutoFit/>
          </a:bodyPr>
          <a:lstStyle/>
          <a:p>
            <a:pPr algn="ctr">
              <a:lnSpc>
                <a:spcPts val="1300"/>
              </a:lnSpc>
              <a:spcBef>
                <a:spcPct val="0"/>
              </a:spcBef>
            </a:pPr>
            <a:r>
              <a:rPr lang="en-US" sz="929" b="1">
                <a:solidFill>
                  <a:srgbClr val="000000"/>
                </a:solidFill>
                <a:latin typeface="Garet Bold"/>
                <a:ea typeface="Garet Bold"/>
                <a:cs typeface="Garet Bold"/>
                <a:sym typeface="Garet Bold"/>
              </a:rPr>
              <a:t>HEALTH PROFESSIONALS FOLLOW-UP STUDY </a:t>
            </a:r>
          </a:p>
          <a:p>
            <a:pPr algn="ctr">
              <a:lnSpc>
                <a:spcPts val="1300"/>
              </a:lnSpc>
              <a:spcBef>
                <a:spcPct val="0"/>
              </a:spcBef>
            </a:pPr>
            <a:r>
              <a:rPr lang="en-US" sz="929" b="1">
                <a:solidFill>
                  <a:srgbClr val="000000"/>
                </a:solidFill>
                <a:latin typeface="Garet Bold"/>
                <a:ea typeface="Garet Bold"/>
                <a:cs typeface="Garet Bold"/>
                <a:sym typeface="Garet Bold"/>
              </a:rPr>
              <a:t>(1986-2008, N = 37,698 MEN AGED 40-75 YEARS) </a:t>
            </a:r>
          </a:p>
        </p:txBody>
      </p:sp>
      <p:sp>
        <p:nvSpPr>
          <p:cNvPr id="89" name="TextBox 89"/>
          <p:cNvSpPr txBox="1"/>
          <p:nvPr/>
        </p:nvSpPr>
        <p:spPr>
          <a:xfrm>
            <a:off x="273865" y="16395906"/>
            <a:ext cx="1765260" cy="257174"/>
          </a:xfrm>
          <a:prstGeom prst="rect">
            <a:avLst/>
          </a:prstGeom>
        </p:spPr>
        <p:txBody>
          <a:bodyPr lIns="0" tIns="0" rIns="0" bIns="0" rtlCol="0" anchor="t">
            <a:spAutoFit/>
          </a:bodyPr>
          <a:lstStyle/>
          <a:p>
            <a:pPr marL="0" lvl="0" indent="0" algn="l">
              <a:lnSpc>
                <a:spcPts val="2100"/>
              </a:lnSpc>
              <a:spcBef>
                <a:spcPct val="0"/>
              </a:spcBef>
            </a:pPr>
            <a:r>
              <a:rPr lang="en-US" sz="1500" b="1">
                <a:solidFill>
                  <a:srgbClr val="0F1E05"/>
                </a:solidFill>
                <a:latin typeface="Garet Bold"/>
                <a:ea typeface="Garet Bold"/>
                <a:cs typeface="Garet Bold"/>
                <a:sym typeface="Garet Bold"/>
              </a:rPr>
              <a:t>Why It Matters </a:t>
            </a:r>
          </a:p>
        </p:txBody>
      </p:sp>
      <p:sp>
        <p:nvSpPr>
          <p:cNvPr id="90" name="TextBox 90"/>
          <p:cNvSpPr txBox="1"/>
          <p:nvPr/>
        </p:nvSpPr>
        <p:spPr>
          <a:xfrm>
            <a:off x="252634" y="16626087"/>
            <a:ext cx="3166370" cy="1454150"/>
          </a:xfrm>
          <a:prstGeom prst="rect">
            <a:avLst/>
          </a:prstGeom>
        </p:spPr>
        <p:txBody>
          <a:bodyPr lIns="0" tIns="0" rIns="0" bIns="0" rtlCol="0" anchor="t">
            <a:spAutoFit/>
          </a:bodyPr>
          <a:lstStyle/>
          <a:p>
            <a:pPr marL="302261" lvl="1" indent="-151130" algn="l">
              <a:lnSpc>
                <a:spcPts val="2380"/>
              </a:lnSpc>
              <a:buFont typeface="Arial"/>
              <a:buChar char="•"/>
            </a:pPr>
            <a:r>
              <a:rPr lang="en-US" sz="1400">
                <a:solidFill>
                  <a:srgbClr val="000000"/>
                </a:solidFill>
                <a:latin typeface="Garet"/>
                <a:ea typeface="Garet"/>
                <a:cs typeface="Garet"/>
                <a:sym typeface="Garet"/>
              </a:rPr>
              <a:t>You can </a:t>
            </a:r>
            <a:r>
              <a:rPr lang="en-US" sz="1400" b="1">
                <a:solidFill>
                  <a:srgbClr val="000000"/>
                </a:solidFill>
                <a:latin typeface="Garet Bold"/>
                <a:ea typeface="Garet Bold"/>
                <a:cs typeface="Garet Bold"/>
                <a:sym typeface="Garet Bold"/>
              </a:rPr>
              <a:t>improve</a:t>
            </a:r>
            <a:r>
              <a:rPr lang="en-US" sz="1400">
                <a:solidFill>
                  <a:srgbClr val="000000"/>
                </a:solidFill>
                <a:latin typeface="Garet"/>
                <a:ea typeface="Garet"/>
                <a:cs typeface="Garet"/>
                <a:sym typeface="Garet"/>
              </a:rPr>
              <a:t> your </a:t>
            </a:r>
            <a:r>
              <a:rPr lang="en-US" sz="1400" b="1">
                <a:solidFill>
                  <a:srgbClr val="000000"/>
                </a:solidFill>
                <a:latin typeface="Garet Bold"/>
                <a:ea typeface="Garet Bold"/>
                <a:cs typeface="Garet Bold"/>
                <a:sym typeface="Garet Bold"/>
              </a:rPr>
              <a:t>health</a:t>
            </a:r>
            <a:r>
              <a:rPr lang="en-US" sz="1400">
                <a:solidFill>
                  <a:srgbClr val="000000"/>
                </a:solidFill>
                <a:latin typeface="Garet"/>
                <a:ea typeface="Garet"/>
                <a:cs typeface="Garet"/>
                <a:sym typeface="Garet"/>
              </a:rPr>
              <a:t>.</a:t>
            </a:r>
          </a:p>
          <a:p>
            <a:pPr marL="302261" lvl="1" indent="-151130" algn="l">
              <a:lnSpc>
                <a:spcPts val="2380"/>
              </a:lnSpc>
              <a:buFont typeface="Arial"/>
              <a:buChar char="•"/>
            </a:pPr>
            <a:r>
              <a:rPr lang="en-US" sz="1400">
                <a:solidFill>
                  <a:srgbClr val="000000"/>
                </a:solidFill>
                <a:latin typeface="Garet"/>
                <a:ea typeface="Garet"/>
                <a:cs typeface="Garet"/>
                <a:sym typeface="Garet"/>
              </a:rPr>
              <a:t>You can </a:t>
            </a:r>
            <a:r>
              <a:rPr lang="en-US" sz="1400" b="1">
                <a:solidFill>
                  <a:srgbClr val="000000"/>
                </a:solidFill>
                <a:latin typeface="Garet Bold"/>
                <a:ea typeface="Garet Bold"/>
                <a:cs typeface="Garet Bold"/>
                <a:sym typeface="Garet Bold"/>
              </a:rPr>
              <a:t>save animal lives</a:t>
            </a:r>
            <a:r>
              <a:rPr lang="en-US" sz="1400">
                <a:solidFill>
                  <a:srgbClr val="000000"/>
                </a:solidFill>
                <a:latin typeface="Garet"/>
                <a:ea typeface="Garet"/>
                <a:cs typeface="Garet"/>
                <a:sym typeface="Garet"/>
              </a:rPr>
              <a:t>.</a:t>
            </a:r>
          </a:p>
          <a:p>
            <a:pPr marL="302261" lvl="1" indent="-151130" algn="l">
              <a:lnSpc>
                <a:spcPts val="2380"/>
              </a:lnSpc>
              <a:buFont typeface="Arial"/>
              <a:buChar char="•"/>
            </a:pPr>
            <a:r>
              <a:rPr lang="en-US" sz="1400">
                <a:solidFill>
                  <a:srgbClr val="000000"/>
                </a:solidFill>
                <a:latin typeface="Garet"/>
                <a:ea typeface="Garet"/>
                <a:cs typeface="Garet"/>
                <a:sym typeface="Garet"/>
              </a:rPr>
              <a:t>You can </a:t>
            </a:r>
            <a:r>
              <a:rPr lang="en-US" sz="1400" b="1">
                <a:solidFill>
                  <a:srgbClr val="000000"/>
                </a:solidFill>
                <a:latin typeface="Garet Bold"/>
                <a:ea typeface="Garet Bold"/>
                <a:cs typeface="Garet Bold"/>
                <a:sym typeface="Garet Bold"/>
              </a:rPr>
              <a:t>lower</a:t>
            </a:r>
            <a:r>
              <a:rPr lang="en-US" sz="1400">
                <a:solidFill>
                  <a:srgbClr val="000000"/>
                </a:solidFill>
                <a:latin typeface="Garet"/>
                <a:ea typeface="Garet"/>
                <a:cs typeface="Garet"/>
                <a:sym typeface="Garet"/>
              </a:rPr>
              <a:t> your </a:t>
            </a:r>
            <a:r>
              <a:rPr lang="en-US" sz="1400" b="1">
                <a:solidFill>
                  <a:srgbClr val="000000"/>
                </a:solidFill>
                <a:latin typeface="Garet Bold"/>
                <a:ea typeface="Garet Bold"/>
                <a:cs typeface="Garet Bold"/>
                <a:sym typeface="Garet Bold"/>
              </a:rPr>
              <a:t>footprint</a:t>
            </a:r>
            <a:r>
              <a:rPr lang="en-US" sz="1400">
                <a:solidFill>
                  <a:srgbClr val="000000"/>
                </a:solidFill>
                <a:latin typeface="Garet"/>
                <a:ea typeface="Garet"/>
                <a:cs typeface="Garet"/>
                <a:sym typeface="Garet"/>
              </a:rPr>
              <a:t>.</a:t>
            </a:r>
          </a:p>
          <a:p>
            <a:pPr marL="302261" lvl="1" indent="-151130" algn="l">
              <a:lnSpc>
                <a:spcPts val="2380"/>
              </a:lnSpc>
              <a:buFont typeface="Arial"/>
              <a:buChar char="•"/>
            </a:pPr>
            <a:r>
              <a:rPr lang="en-US" sz="1400" b="1">
                <a:solidFill>
                  <a:srgbClr val="000000"/>
                </a:solidFill>
                <a:latin typeface="Garet Bold"/>
                <a:ea typeface="Garet Bold"/>
                <a:cs typeface="Garet Bold"/>
                <a:sym typeface="Garet Bold"/>
              </a:rPr>
              <a:t>Compassion</a:t>
            </a:r>
            <a:r>
              <a:rPr lang="en-US" sz="1400">
                <a:solidFill>
                  <a:srgbClr val="000000"/>
                </a:solidFill>
                <a:latin typeface="Garet"/>
                <a:ea typeface="Garet"/>
                <a:cs typeface="Garet"/>
                <a:sym typeface="Garet"/>
              </a:rPr>
              <a:t> is </a:t>
            </a:r>
            <a:r>
              <a:rPr lang="en-US" sz="1400" b="1">
                <a:solidFill>
                  <a:srgbClr val="000000"/>
                </a:solidFill>
                <a:latin typeface="Garet Bold"/>
                <a:ea typeface="Garet Bold"/>
                <a:cs typeface="Garet Bold"/>
                <a:sym typeface="Garet Bold"/>
              </a:rPr>
              <a:t>contagious</a:t>
            </a:r>
            <a:r>
              <a:rPr lang="en-US" sz="1400">
                <a:solidFill>
                  <a:srgbClr val="000000"/>
                </a:solidFill>
                <a:latin typeface="Garet"/>
                <a:ea typeface="Garet"/>
                <a:cs typeface="Garet"/>
                <a:sym typeface="Garet"/>
              </a:rPr>
              <a:t> &amp; </a:t>
            </a:r>
            <a:r>
              <a:rPr lang="en-US" sz="1400" b="1">
                <a:solidFill>
                  <a:srgbClr val="000000"/>
                </a:solidFill>
                <a:latin typeface="Garet Bold"/>
                <a:ea typeface="Garet Bold"/>
                <a:cs typeface="Garet Bold"/>
                <a:sym typeface="Garet Bold"/>
              </a:rPr>
              <a:t>feeling good</a:t>
            </a:r>
            <a:r>
              <a:rPr lang="en-US" sz="1400">
                <a:solidFill>
                  <a:srgbClr val="000000"/>
                </a:solidFill>
                <a:latin typeface="Garet"/>
                <a:ea typeface="Garet"/>
                <a:cs typeface="Garet"/>
                <a:sym typeface="Garet"/>
              </a:rPr>
              <a:t> is </a:t>
            </a:r>
            <a:r>
              <a:rPr lang="en-US" sz="1400" b="1">
                <a:solidFill>
                  <a:srgbClr val="000000"/>
                </a:solidFill>
                <a:latin typeface="Garet Bold"/>
                <a:ea typeface="Garet Bold"/>
                <a:cs typeface="Garet Bold"/>
                <a:sym typeface="Garet Bold"/>
              </a:rPr>
              <a:t>forever</a:t>
            </a:r>
            <a:r>
              <a:rPr lang="en-US" sz="1400">
                <a:solidFill>
                  <a:srgbClr val="000000"/>
                </a:solidFill>
                <a:latin typeface="Garet"/>
                <a:ea typeface="Garet"/>
                <a:cs typeface="Garet"/>
                <a:sym typeface="Garet"/>
              </a:rPr>
              <a:t>.</a:t>
            </a:r>
          </a:p>
        </p:txBody>
      </p:sp>
      <p:sp>
        <p:nvSpPr>
          <p:cNvPr id="91" name="TextBox 91"/>
          <p:cNvSpPr txBox="1"/>
          <p:nvPr/>
        </p:nvSpPr>
        <p:spPr>
          <a:xfrm>
            <a:off x="3973481" y="16405431"/>
            <a:ext cx="2829159" cy="254634"/>
          </a:xfrm>
          <a:prstGeom prst="rect">
            <a:avLst/>
          </a:prstGeom>
        </p:spPr>
        <p:txBody>
          <a:bodyPr lIns="0" tIns="0" rIns="0" bIns="0" rtlCol="0" anchor="t">
            <a:spAutoFit/>
          </a:bodyPr>
          <a:lstStyle/>
          <a:p>
            <a:pPr marL="0" lvl="0" indent="0" algn="l">
              <a:lnSpc>
                <a:spcPts val="2240"/>
              </a:lnSpc>
              <a:spcBef>
                <a:spcPct val="0"/>
              </a:spcBef>
            </a:pPr>
            <a:r>
              <a:rPr lang="en-US" sz="1600" b="1">
                <a:solidFill>
                  <a:srgbClr val="0F1E05"/>
                </a:solidFill>
                <a:latin typeface="Garet Bold"/>
                <a:ea typeface="Garet Bold"/>
                <a:cs typeface="Garet Bold"/>
                <a:sym typeface="Garet Bold"/>
              </a:rPr>
              <a:t>What You Can Do Today</a:t>
            </a:r>
          </a:p>
        </p:txBody>
      </p:sp>
      <p:sp>
        <p:nvSpPr>
          <p:cNvPr id="92" name="TextBox 92"/>
          <p:cNvSpPr txBox="1"/>
          <p:nvPr/>
        </p:nvSpPr>
        <p:spPr>
          <a:xfrm>
            <a:off x="3968316" y="16698165"/>
            <a:ext cx="3766376" cy="1422471"/>
          </a:xfrm>
          <a:prstGeom prst="rect">
            <a:avLst/>
          </a:prstGeom>
        </p:spPr>
        <p:txBody>
          <a:bodyPr lIns="0" tIns="0" rIns="0" bIns="0" rtlCol="0" anchor="t">
            <a:spAutoFit/>
          </a:bodyPr>
          <a:lstStyle/>
          <a:p>
            <a:pPr marL="296263" lvl="1" indent="-148131" algn="l">
              <a:lnSpc>
                <a:spcPts val="1921"/>
              </a:lnSpc>
              <a:buFont typeface="Arial"/>
              <a:buChar char="•"/>
            </a:pPr>
            <a:r>
              <a:rPr lang="en-US" sz="1372" b="1">
                <a:solidFill>
                  <a:srgbClr val="000000"/>
                </a:solidFill>
                <a:latin typeface="Garet Bold"/>
                <a:ea typeface="Garet Bold"/>
                <a:cs typeface="Garet Bold"/>
                <a:sym typeface="Garet Bold"/>
              </a:rPr>
              <a:t>Start small: </a:t>
            </a:r>
            <a:r>
              <a:rPr lang="en-US" sz="1372">
                <a:solidFill>
                  <a:srgbClr val="000000"/>
                </a:solidFill>
                <a:latin typeface="Garet"/>
                <a:ea typeface="Garet"/>
                <a:cs typeface="Garet"/>
                <a:sym typeface="Garet"/>
              </a:rPr>
              <a:t>Try </a:t>
            </a:r>
            <a:r>
              <a:rPr lang="en-US" sz="1372" b="1">
                <a:solidFill>
                  <a:srgbClr val="000000"/>
                </a:solidFill>
                <a:latin typeface="Garet Bold"/>
                <a:ea typeface="Garet Bold"/>
                <a:cs typeface="Garet Bold"/>
                <a:sym typeface="Garet Bold"/>
              </a:rPr>
              <a:t>Meatless Mondays</a:t>
            </a:r>
          </a:p>
          <a:p>
            <a:pPr marL="296263" lvl="1" indent="-148131" algn="l">
              <a:lnSpc>
                <a:spcPts val="1921"/>
              </a:lnSpc>
              <a:buFont typeface="Arial"/>
              <a:buChar char="•"/>
            </a:pPr>
            <a:r>
              <a:rPr lang="en-US" sz="1372">
                <a:solidFill>
                  <a:srgbClr val="000000"/>
                </a:solidFill>
                <a:latin typeface="Garet"/>
                <a:ea typeface="Garet"/>
                <a:cs typeface="Garet"/>
                <a:sym typeface="Garet"/>
              </a:rPr>
              <a:t>Explore swaps like </a:t>
            </a:r>
            <a:r>
              <a:rPr lang="en-US" sz="1372" b="1">
                <a:solidFill>
                  <a:srgbClr val="000000"/>
                </a:solidFill>
                <a:latin typeface="Garet Bold"/>
                <a:ea typeface="Garet Bold"/>
                <a:cs typeface="Garet Bold"/>
                <a:sym typeface="Garet Bold"/>
              </a:rPr>
              <a:t>lentils, tofu,</a:t>
            </a:r>
            <a:r>
              <a:rPr lang="en-US" sz="1372">
                <a:solidFill>
                  <a:srgbClr val="000000"/>
                </a:solidFill>
                <a:latin typeface="Garet"/>
                <a:ea typeface="Garet"/>
                <a:cs typeface="Garet"/>
                <a:sym typeface="Garet"/>
              </a:rPr>
              <a:t> or </a:t>
            </a:r>
            <a:r>
              <a:rPr lang="en-US" sz="1372" b="1">
                <a:solidFill>
                  <a:srgbClr val="000000"/>
                </a:solidFill>
                <a:latin typeface="Garet Bold"/>
                <a:ea typeface="Garet Bold"/>
                <a:cs typeface="Garet Bold"/>
                <a:sym typeface="Garet Bold"/>
              </a:rPr>
              <a:t>chickpea pasta </a:t>
            </a:r>
            <a:r>
              <a:rPr lang="en-US" sz="1372">
                <a:solidFill>
                  <a:srgbClr val="000000"/>
                </a:solidFill>
                <a:latin typeface="Garet"/>
                <a:ea typeface="Garet"/>
                <a:cs typeface="Garet"/>
                <a:sym typeface="Garet"/>
              </a:rPr>
              <a:t>to meet nutritional needs.</a:t>
            </a:r>
          </a:p>
          <a:p>
            <a:pPr marL="296263" lvl="1" indent="-148131" algn="l">
              <a:lnSpc>
                <a:spcPts val="1921"/>
              </a:lnSpc>
              <a:buFont typeface="Arial"/>
              <a:buChar char="•"/>
            </a:pPr>
            <a:r>
              <a:rPr lang="en-US" sz="1372">
                <a:solidFill>
                  <a:srgbClr val="000000"/>
                </a:solidFill>
                <a:latin typeface="Garet"/>
                <a:ea typeface="Garet"/>
                <a:cs typeface="Garet"/>
                <a:sym typeface="Garet"/>
              </a:rPr>
              <a:t>Focus on progress, not perfection. </a:t>
            </a:r>
          </a:p>
          <a:p>
            <a:pPr marL="296263" lvl="1" indent="-148131" algn="l">
              <a:lnSpc>
                <a:spcPts val="1921"/>
              </a:lnSpc>
              <a:buFont typeface="Arial"/>
              <a:buChar char="•"/>
            </a:pPr>
            <a:r>
              <a:rPr lang="en-US" sz="1372" b="1">
                <a:solidFill>
                  <a:srgbClr val="000000"/>
                </a:solidFill>
                <a:latin typeface="Garet Bold"/>
                <a:ea typeface="Garet Bold"/>
                <a:cs typeface="Garet Bold"/>
                <a:sym typeface="Garet Bold"/>
              </a:rPr>
              <a:t>Share this info. </a:t>
            </a:r>
          </a:p>
        </p:txBody>
      </p:sp>
      <p:sp>
        <p:nvSpPr>
          <p:cNvPr id="93" name="TextBox 93"/>
          <p:cNvSpPr txBox="1"/>
          <p:nvPr/>
        </p:nvSpPr>
        <p:spPr>
          <a:xfrm>
            <a:off x="677798" y="15841227"/>
            <a:ext cx="2817810" cy="365760"/>
          </a:xfrm>
          <a:prstGeom prst="rect">
            <a:avLst/>
          </a:prstGeom>
        </p:spPr>
        <p:txBody>
          <a:bodyPr lIns="0" tIns="0" rIns="0" bIns="0" rtlCol="0" anchor="t">
            <a:spAutoFit/>
          </a:bodyPr>
          <a:lstStyle/>
          <a:p>
            <a:pPr algn="l">
              <a:lnSpc>
                <a:spcPts val="2940"/>
              </a:lnSpc>
            </a:pPr>
            <a:r>
              <a:rPr lang="en-US" sz="2100" b="1">
                <a:solidFill>
                  <a:srgbClr val="0F1E05"/>
                </a:solidFill>
                <a:latin typeface="Garet Bold"/>
                <a:ea typeface="Garet Bold"/>
                <a:cs typeface="Garet Bold"/>
                <a:sym typeface="Garet Bold"/>
              </a:rPr>
              <a:t>Takeaway &amp; Action </a:t>
            </a:r>
          </a:p>
        </p:txBody>
      </p:sp>
      <p:sp>
        <p:nvSpPr>
          <p:cNvPr id="94" name="TextBox 94"/>
          <p:cNvSpPr txBox="1"/>
          <p:nvPr/>
        </p:nvSpPr>
        <p:spPr>
          <a:xfrm>
            <a:off x="4593852" y="3794578"/>
            <a:ext cx="2799429" cy="469770"/>
          </a:xfrm>
          <a:prstGeom prst="rect">
            <a:avLst/>
          </a:prstGeom>
        </p:spPr>
        <p:txBody>
          <a:bodyPr lIns="0" tIns="0" rIns="0" bIns="0" rtlCol="0" anchor="t">
            <a:spAutoFit/>
          </a:bodyPr>
          <a:lstStyle/>
          <a:p>
            <a:pPr algn="l">
              <a:lnSpc>
                <a:spcPts val="1932"/>
              </a:lnSpc>
              <a:spcBef>
                <a:spcPct val="0"/>
              </a:spcBef>
            </a:pPr>
            <a:r>
              <a:rPr lang="en-US" sz="1380">
                <a:solidFill>
                  <a:srgbClr val="000000"/>
                </a:solidFill>
                <a:latin typeface="Garet"/>
                <a:ea typeface="Garet"/>
                <a:cs typeface="Garet"/>
                <a:sym typeface="Garet"/>
              </a:rPr>
              <a:t>Reported having at least one chronic condition (CDC, 2023)</a:t>
            </a:r>
          </a:p>
        </p:txBody>
      </p:sp>
      <p:sp>
        <p:nvSpPr>
          <p:cNvPr id="95" name="TextBox 95"/>
          <p:cNvSpPr txBox="1"/>
          <p:nvPr/>
        </p:nvSpPr>
        <p:spPr>
          <a:xfrm>
            <a:off x="273865" y="2430145"/>
            <a:ext cx="2276402" cy="707880"/>
          </a:xfrm>
          <a:prstGeom prst="rect">
            <a:avLst/>
          </a:prstGeom>
        </p:spPr>
        <p:txBody>
          <a:bodyPr lIns="0" tIns="0" rIns="0" bIns="0" rtlCol="0" anchor="t">
            <a:spAutoFit/>
          </a:bodyPr>
          <a:lstStyle/>
          <a:p>
            <a:pPr algn="l">
              <a:lnSpc>
                <a:spcPts val="1932"/>
              </a:lnSpc>
              <a:spcBef>
                <a:spcPct val="0"/>
              </a:spcBef>
            </a:pPr>
            <a:r>
              <a:rPr lang="en-US" sz="1380" b="1">
                <a:solidFill>
                  <a:srgbClr val="000000"/>
                </a:solidFill>
                <a:latin typeface="Garet Bold"/>
                <a:ea typeface="Garet Bold"/>
                <a:cs typeface="Garet Bold"/>
                <a:sym typeface="Garet Bold"/>
              </a:rPr>
              <a:t>The top three leading causes of death in the U.S include:</a:t>
            </a:r>
          </a:p>
        </p:txBody>
      </p:sp>
      <p:sp>
        <p:nvSpPr>
          <p:cNvPr id="96" name="TextBox 96"/>
          <p:cNvSpPr txBox="1"/>
          <p:nvPr/>
        </p:nvSpPr>
        <p:spPr>
          <a:xfrm>
            <a:off x="378796" y="3195175"/>
            <a:ext cx="1743504" cy="944915"/>
          </a:xfrm>
          <a:prstGeom prst="rect">
            <a:avLst/>
          </a:prstGeom>
        </p:spPr>
        <p:txBody>
          <a:bodyPr lIns="0" tIns="0" rIns="0" bIns="0" rtlCol="0" anchor="t">
            <a:spAutoFit/>
          </a:bodyPr>
          <a:lstStyle/>
          <a:p>
            <a:pPr marL="317852" lvl="1" indent="-158926" algn="l">
              <a:lnSpc>
                <a:spcPts val="2576"/>
              </a:lnSpc>
              <a:buFont typeface="Arial"/>
              <a:buChar char="•"/>
            </a:pPr>
            <a:r>
              <a:rPr lang="en-US" sz="1472">
                <a:solidFill>
                  <a:srgbClr val="000000"/>
                </a:solidFill>
                <a:latin typeface="Garet"/>
                <a:ea typeface="Garet"/>
                <a:cs typeface="Garet"/>
                <a:sym typeface="Garet"/>
              </a:rPr>
              <a:t>heart disease</a:t>
            </a:r>
          </a:p>
          <a:p>
            <a:pPr marL="317852" lvl="1" indent="-158926" algn="l">
              <a:lnSpc>
                <a:spcPts val="2576"/>
              </a:lnSpc>
              <a:buFont typeface="Arial"/>
              <a:buChar char="•"/>
            </a:pPr>
            <a:r>
              <a:rPr lang="en-US" sz="1472">
                <a:solidFill>
                  <a:srgbClr val="000000"/>
                </a:solidFill>
                <a:latin typeface="Garet"/>
                <a:ea typeface="Garet"/>
                <a:cs typeface="Garet"/>
                <a:sym typeface="Garet"/>
              </a:rPr>
              <a:t>diabetes </a:t>
            </a:r>
          </a:p>
          <a:p>
            <a:pPr marL="317852" lvl="1" indent="-158926" algn="l">
              <a:lnSpc>
                <a:spcPts val="2576"/>
              </a:lnSpc>
              <a:buFont typeface="Arial"/>
              <a:buChar char="•"/>
            </a:pPr>
            <a:r>
              <a:rPr lang="en-US" sz="1472">
                <a:solidFill>
                  <a:srgbClr val="000000"/>
                </a:solidFill>
                <a:latin typeface="Garet"/>
                <a:ea typeface="Garet"/>
                <a:cs typeface="Garet"/>
                <a:sym typeface="Garet"/>
              </a:rPr>
              <a:t>cancer </a:t>
            </a:r>
          </a:p>
        </p:txBody>
      </p:sp>
      <p:sp>
        <p:nvSpPr>
          <p:cNvPr id="97" name="TextBox 97"/>
          <p:cNvSpPr txBox="1"/>
          <p:nvPr/>
        </p:nvSpPr>
        <p:spPr>
          <a:xfrm>
            <a:off x="100416" y="7245064"/>
            <a:ext cx="2369156" cy="274391"/>
          </a:xfrm>
          <a:prstGeom prst="rect">
            <a:avLst/>
          </a:prstGeom>
        </p:spPr>
        <p:txBody>
          <a:bodyPr lIns="0" tIns="0" rIns="0" bIns="0" rtlCol="0" anchor="t">
            <a:spAutoFit/>
          </a:bodyPr>
          <a:lstStyle/>
          <a:p>
            <a:pPr algn="ctr">
              <a:lnSpc>
                <a:spcPts val="2201"/>
              </a:lnSpc>
              <a:spcBef>
                <a:spcPct val="0"/>
              </a:spcBef>
            </a:pPr>
            <a:r>
              <a:rPr lang="en-US" sz="1572" b="1">
                <a:solidFill>
                  <a:srgbClr val="B33B49"/>
                </a:solidFill>
                <a:latin typeface="Garet Bold"/>
                <a:ea typeface="Garet Bold"/>
                <a:cs typeface="Garet Bold"/>
                <a:sym typeface="Garet Bold"/>
              </a:rPr>
              <a:t>Red meat is linked to:</a:t>
            </a:r>
          </a:p>
        </p:txBody>
      </p:sp>
      <p:sp>
        <p:nvSpPr>
          <p:cNvPr id="98" name="TextBox 98"/>
          <p:cNvSpPr txBox="1"/>
          <p:nvPr/>
        </p:nvSpPr>
        <p:spPr>
          <a:xfrm>
            <a:off x="306313" y="12114136"/>
            <a:ext cx="6882965" cy="487232"/>
          </a:xfrm>
          <a:prstGeom prst="rect">
            <a:avLst/>
          </a:prstGeom>
        </p:spPr>
        <p:txBody>
          <a:bodyPr lIns="0" tIns="0" rIns="0" bIns="0" rtlCol="0" anchor="t">
            <a:spAutoFit/>
          </a:bodyPr>
          <a:lstStyle/>
          <a:p>
            <a:pPr marL="0" lvl="0" indent="0" algn="ctr">
              <a:lnSpc>
                <a:spcPts val="2019"/>
              </a:lnSpc>
              <a:spcBef>
                <a:spcPct val="0"/>
              </a:spcBef>
            </a:pPr>
            <a:r>
              <a:rPr lang="en-US" sz="1442" b="1">
                <a:solidFill>
                  <a:srgbClr val="0F1E05"/>
                </a:solidFill>
                <a:latin typeface="Garet Bold"/>
                <a:ea typeface="Garet Bold"/>
                <a:cs typeface="Garet Bold"/>
                <a:sym typeface="Garet Bold"/>
              </a:rPr>
              <a:t>V</a:t>
            </a:r>
            <a:r>
              <a:rPr lang="en-US" sz="1442" b="1" u="none">
                <a:solidFill>
                  <a:srgbClr val="0F1E05"/>
                </a:solidFill>
                <a:latin typeface="Garet Bold"/>
                <a:ea typeface="Garet Bold"/>
                <a:cs typeface="Garet Bold"/>
                <a:sym typeface="Garet Bold"/>
              </a:rPr>
              <a:t>egetarian &amp; vegan diets are associated with decreased mortality rates and reduced risk for chronic diseases.</a:t>
            </a:r>
          </a:p>
        </p:txBody>
      </p:sp>
      <p:sp>
        <p:nvSpPr>
          <p:cNvPr id="99" name="TextBox 99"/>
          <p:cNvSpPr txBox="1"/>
          <p:nvPr/>
        </p:nvSpPr>
        <p:spPr>
          <a:xfrm>
            <a:off x="4461644" y="8562607"/>
            <a:ext cx="3273048" cy="330319"/>
          </a:xfrm>
          <a:prstGeom prst="rect">
            <a:avLst/>
          </a:prstGeom>
        </p:spPr>
        <p:txBody>
          <a:bodyPr lIns="0" tIns="0" rIns="0" bIns="0" rtlCol="0" anchor="t">
            <a:spAutoFit/>
          </a:bodyPr>
          <a:lstStyle/>
          <a:p>
            <a:pPr algn="l">
              <a:lnSpc>
                <a:spcPts val="2793"/>
              </a:lnSpc>
            </a:pPr>
            <a:r>
              <a:rPr lang="en-US" sz="1995" b="1">
                <a:solidFill>
                  <a:srgbClr val="0F1E05"/>
                </a:solidFill>
                <a:latin typeface="Garet Bold"/>
                <a:ea typeface="Garet Bold"/>
                <a:cs typeface="Garet Bold"/>
                <a:sym typeface="Garet Bold"/>
              </a:rPr>
              <a:t>Plants Can Prevent It</a:t>
            </a:r>
          </a:p>
        </p:txBody>
      </p:sp>
      <p:sp>
        <p:nvSpPr>
          <p:cNvPr id="100" name="TextBox 100"/>
          <p:cNvSpPr txBox="1"/>
          <p:nvPr/>
        </p:nvSpPr>
        <p:spPr>
          <a:xfrm>
            <a:off x="93609" y="10386451"/>
            <a:ext cx="3844828" cy="248511"/>
          </a:xfrm>
          <a:prstGeom prst="rect">
            <a:avLst/>
          </a:prstGeom>
        </p:spPr>
        <p:txBody>
          <a:bodyPr lIns="0" tIns="0" rIns="0" bIns="0" rtlCol="0" anchor="t">
            <a:spAutoFit/>
          </a:bodyPr>
          <a:lstStyle/>
          <a:p>
            <a:pPr algn="ctr">
              <a:lnSpc>
                <a:spcPts val="2105"/>
              </a:lnSpc>
              <a:spcBef>
                <a:spcPct val="0"/>
              </a:spcBef>
            </a:pPr>
            <a:r>
              <a:rPr lang="en-US" sz="1503" b="1">
                <a:solidFill>
                  <a:srgbClr val="000000"/>
                </a:solidFill>
                <a:latin typeface="Garet Bold"/>
                <a:ea typeface="Garet Bold"/>
                <a:cs typeface="Garet Bold"/>
                <a:sym typeface="Garet Bold"/>
              </a:rPr>
              <a:t>Plant-based diets can reduce risk of:</a:t>
            </a:r>
          </a:p>
        </p:txBody>
      </p:sp>
      <p:sp>
        <p:nvSpPr>
          <p:cNvPr id="101" name="TextBox 101"/>
          <p:cNvSpPr txBox="1"/>
          <p:nvPr/>
        </p:nvSpPr>
        <p:spPr>
          <a:xfrm>
            <a:off x="5457223" y="18310939"/>
            <a:ext cx="1906637" cy="453390"/>
          </a:xfrm>
          <a:prstGeom prst="rect">
            <a:avLst/>
          </a:prstGeom>
        </p:spPr>
        <p:txBody>
          <a:bodyPr lIns="0" tIns="0" rIns="0" bIns="0" rtlCol="0" anchor="t">
            <a:spAutoFit/>
          </a:bodyPr>
          <a:lstStyle/>
          <a:p>
            <a:pPr algn="l">
              <a:lnSpc>
                <a:spcPts val="1260"/>
              </a:lnSpc>
            </a:pPr>
            <a:r>
              <a:rPr lang="en-US" sz="900" b="1">
                <a:solidFill>
                  <a:srgbClr val="000000"/>
                </a:solidFill>
                <a:latin typeface="Canva Sans Bold"/>
                <a:ea typeface="Canva Sans Bold"/>
                <a:cs typeface="Canva Sans Bold"/>
                <a:sym typeface="Canva Sans Bold"/>
              </a:rPr>
              <a:t>Contact Information:</a:t>
            </a:r>
          </a:p>
          <a:p>
            <a:pPr algn="l">
              <a:lnSpc>
                <a:spcPts val="1260"/>
              </a:lnSpc>
            </a:pPr>
            <a:r>
              <a:rPr lang="en-US" sz="900">
                <a:solidFill>
                  <a:srgbClr val="000000"/>
                </a:solidFill>
                <a:latin typeface="Canva Sans"/>
                <a:ea typeface="Canva Sans"/>
                <a:cs typeface="Canva Sans"/>
                <a:sym typeface="Canva Sans"/>
              </a:rPr>
              <a:t>chloebarker@smu.edu</a:t>
            </a:r>
          </a:p>
          <a:p>
            <a:pPr algn="l">
              <a:lnSpc>
                <a:spcPts val="1260"/>
              </a:lnSpc>
            </a:pPr>
            <a:r>
              <a:rPr lang="en-US" sz="900">
                <a:solidFill>
                  <a:srgbClr val="000000"/>
                </a:solidFill>
                <a:latin typeface="Canva Sans"/>
                <a:ea typeface="Canva Sans"/>
                <a:cs typeface="Canva Sans"/>
                <a:sym typeface="Canva Sans"/>
              </a:rPr>
              <a:t>www.linkedin.com/in/chloedbarker</a:t>
            </a:r>
          </a:p>
        </p:txBody>
      </p:sp>
      <p:sp>
        <p:nvSpPr>
          <p:cNvPr id="102" name="TextBox 102"/>
          <p:cNvSpPr txBox="1"/>
          <p:nvPr/>
        </p:nvSpPr>
        <p:spPr>
          <a:xfrm>
            <a:off x="225932" y="1536994"/>
            <a:ext cx="1450468" cy="216488"/>
          </a:xfrm>
          <a:prstGeom prst="rect">
            <a:avLst/>
          </a:prstGeom>
        </p:spPr>
        <p:txBody>
          <a:bodyPr wrap="square" lIns="0" tIns="0" rIns="0" bIns="0" rtlCol="0" anchor="t">
            <a:spAutoFit/>
          </a:bodyPr>
          <a:lstStyle/>
          <a:p>
            <a:pPr algn="ctr">
              <a:lnSpc>
                <a:spcPts val="1717"/>
              </a:lnSpc>
              <a:spcBef>
                <a:spcPct val="0"/>
              </a:spcBef>
            </a:pPr>
            <a:r>
              <a:rPr lang="en-US" sz="1226" b="1" dirty="0">
                <a:solidFill>
                  <a:srgbClr val="000000"/>
                </a:solidFill>
                <a:latin typeface="Garet Bold"/>
                <a:ea typeface="Garet Bold"/>
                <a:cs typeface="Garet Bold"/>
                <a:sym typeface="Garet Bold"/>
              </a:rPr>
              <a:t>Chloe Barker</a:t>
            </a:r>
          </a:p>
        </p:txBody>
      </p:sp>
      <p:sp>
        <p:nvSpPr>
          <p:cNvPr id="103" name="TextBox 103"/>
          <p:cNvSpPr txBox="1"/>
          <p:nvPr/>
        </p:nvSpPr>
        <p:spPr>
          <a:xfrm>
            <a:off x="1464048" y="13358803"/>
            <a:ext cx="520544" cy="138063"/>
          </a:xfrm>
          <a:prstGeom prst="rect">
            <a:avLst/>
          </a:prstGeom>
        </p:spPr>
        <p:txBody>
          <a:bodyPr lIns="0" tIns="0" rIns="0" bIns="0" rtlCol="0" anchor="t">
            <a:spAutoFit/>
          </a:bodyPr>
          <a:lstStyle/>
          <a:p>
            <a:pPr algn="ctr">
              <a:lnSpc>
                <a:spcPts val="1157"/>
              </a:lnSpc>
              <a:spcBef>
                <a:spcPct val="0"/>
              </a:spcBef>
            </a:pPr>
            <a:r>
              <a:rPr lang="en-US" sz="826" b="1">
                <a:solidFill>
                  <a:srgbClr val="000000"/>
                </a:solidFill>
                <a:latin typeface="Garet Bold"/>
                <a:ea typeface="Garet Bold"/>
                <a:cs typeface="Garet Bold"/>
                <a:sym typeface="Garet Bold"/>
              </a:rPr>
              <a:t>I love life!</a:t>
            </a:r>
          </a:p>
        </p:txBody>
      </p:sp>
      <p:sp>
        <p:nvSpPr>
          <p:cNvPr id="104" name="TextBox 104"/>
          <p:cNvSpPr txBox="1"/>
          <p:nvPr/>
        </p:nvSpPr>
        <p:spPr>
          <a:xfrm rot="1176657">
            <a:off x="3048681" y="13972190"/>
            <a:ext cx="608812" cy="244563"/>
          </a:xfrm>
          <a:prstGeom prst="rect">
            <a:avLst/>
          </a:prstGeom>
        </p:spPr>
        <p:txBody>
          <a:bodyPr lIns="0" tIns="0" rIns="0" bIns="0" rtlCol="0" anchor="t">
            <a:spAutoFit/>
          </a:bodyPr>
          <a:lstStyle/>
          <a:p>
            <a:pPr algn="ctr">
              <a:lnSpc>
                <a:spcPts val="1050"/>
              </a:lnSpc>
            </a:pPr>
            <a:r>
              <a:rPr lang="en-US" sz="750" b="1">
                <a:solidFill>
                  <a:srgbClr val="000000"/>
                </a:solidFill>
                <a:latin typeface="Garet Bold"/>
                <a:ea typeface="Garet Bold"/>
                <a:cs typeface="Garet Bold"/>
                <a:sym typeface="Garet Bold"/>
              </a:rPr>
              <a:t>I want to </a:t>
            </a:r>
          </a:p>
          <a:p>
            <a:pPr algn="ctr">
              <a:lnSpc>
                <a:spcPts val="1050"/>
              </a:lnSpc>
              <a:spcBef>
                <a:spcPct val="0"/>
              </a:spcBef>
            </a:pPr>
            <a:r>
              <a:rPr lang="en-US" sz="750" b="1">
                <a:solidFill>
                  <a:srgbClr val="000000"/>
                </a:solidFill>
                <a:latin typeface="Garet Bold"/>
                <a:ea typeface="Garet Bold"/>
                <a:cs typeface="Garet Bold"/>
                <a:sym typeface="Garet Bold"/>
              </a:rPr>
              <a:t>love life too.</a:t>
            </a:r>
          </a:p>
        </p:txBody>
      </p:sp>
      <p:sp>
        <p:nvSpPr>
          <p:cNvPr id="105" name="Freeform 105"/>
          <p:cNvSpPr/>
          <p:nvPr/>
        </p:nvSpPr>
        <p:spPr>
          <a:xfrm>
            <a:off x="3387134" y="8481645"/>
            <a:ext cx="624067" cy="483808"/>
          </a:xfrm>
          <a:custGeom>
            <a:avLst/>
            <a:gdLst/>
            <a:ahLst/>
            <a:cxnLst/>
            <a:rect l="l" t="t" r="r" b="b"/>
            <a:pathLst>
              <a:path w="624067" h="483808">
                <a:moveTo>
                  <a:pt x="0" y="0"/>
                </a:moveTo>
                <a:lnTo>
                  <a:pt x="624067" y="0"/>
                </a:lnTo>
                <a:lnTo>
                  <a:pt x="624067" y="483808"/>
                </a:lnTo>
                <a:lnTo>
                  <a:pt x="0" y="483808"/>
                </a:lnTo>
                <a:lnTo>
                  <a:pt x="0" y="0"/>
                </a:lnTo>
                <a:close/>
              </a:path>
            </a:pathLst>
          </a:custGeom>
          <a:blipFill>
            <a:blip r:embed="rId37">
              <a:extLst>
                <a:ext uri="{96DAC541-7B7A-43D3-8B79-37D633B846F1}">
                  <asvg:svgBlip xmlns:asvg="http://schemas.microsoft.com/office/drawing/2016/SVG/main" r:embed="rId38"/>
                </a:ext>
              </a:extLst>
            </a:blip>
            <a:stretch>
              <a:fillRect l="-33242" r="-375117"/>
            </a:stretch>
          </a:blipFill>
        </p:spPr>
        <p:txBody>
          <a:bodyPr/>
          <a:lstStyle/>
          <a:p>
            <a:endParaRPr lang="en-US"/>
          </a:p>
        </p:txBody>
      </p:sp>
      <p:grpSp>
        <p:nvGrpSpPr>
          <p:cNvPr id="106" name="Group 106"/>
          <p:cNvGrpSpPr/>
          <p:nvPr/>
        </p:nvGrpSpPr>
        <p:grpSpPr>
          <a:xfrm>
            <a:off x="194849" y="8959976"/>
            <a:ext cx="7152093" cy="1407800"/>
            <a:chOff x="0" y="0"/>
            <a:chExt cx="9536124" cy="1877067"/>
          </a:xfrm>
        </p:grpSpPr>
        <p:sp>
          <p:nvSpPr>
            <p:cNvPr id="107" name="AutoShape 107"/>
            <p:cNvSpPr/>
            <p:nvPr/>
          </p:nvSpPr>
          <p:spPr>
            <a:xfrm>
              <a:off x="0" y="0"/>
              <a:ext cx="9536124" cy="1877067"/>
            </a:xfrm>
            <a:prstGeom prst="rect">
              <a:avLst/>
            </a:prstGeom>
            <a:solidFill>
              <a:srgbClr val="EDFFC1"/>
            </a:solidFill>
            <a:ln w="28575" cap="sq">
              <a:solidFill>
                <a:srgbClr val="000000"/>
              </a:solidFill>
              <a:prstDash val="solid"/>
              <a:miter/>
            </a:ln>
          </p:spPr>
          <p:txBody>
            <a:bodyPr/>
            <a:lstStyle/>
            <a:p>
              <a:endParaRPr lang="en-US"/>
            </a:p>
          </p:txBody>
        </p:sp>
        <p:sp>
          <p:nvSpPr>
            <p:cNvPr id="108" name="Freeform 108"/>
            <p:cNvSpPr/>
            <p:nvPr/>
          </p:nvSpPr>
          <p:spPr>
            <a:xfrm>
              <a:off x="202052" y="46113"/>
              <a:ext cx="797143" cy="1705215"/>
            </a:xfrm>
            <a:custGeom>
              <a:avLst/>
              <a:gdLst/>
              <a:ahLst/>
              <a:cxnLst/>
              <a:rect l="l" t="t" r="r" b="b"/>
              <a:pathLst>
                <a:path w="797143" h="1705215">
                  <a:moveTo>
                    <a:pt x="0" y="0"/>
                  </a:moveTo>
                  <a:lnTo>
                    <a:pt x="797143" y="0"/>
                  </a:lnTo>
                  <a:lnTo>
                    <a:pt x="797143" y="1705215"/>
                  </a:lnTo>
                  <a:lnTo>
                    <a:pt x="0" y="1705215"/>
                  </a:lnTo>
                  <a:lnTo>
                    <a:pt x="0" y="0"/>
                  </a:lnTo>
                  <a:close/>
                </a:path>
              </a:pathLst>
            </a:custGeom>
            <a:blipFill>
              <a:blip r:embed="rId39">
                <a:extLst>
                  <a:ext uri="{96DAC541-7B7A-43D3-8B79-37D633B846F1}">
                    <asvg:svgBlip xmlns:asvg="http://schemas.microsoft.com/office/drawing/2016/SVG/main" r:embed="rId40"/>
                  </a:ext>
                </a:extLst>
              </a:blip>
              <a:stretch>
                <a:fillRect/>
              </a:stretch>
            </a:blipFill>
          </p:spPr>
          <p:txBody>
            <a:bodyPr/>
            <a:lstStyle/>
            <a:p>
              <a:endParaRPr lang="en-US"/>
            </a:p>
          </p:txBody>
        </p:sp>
        <p:sp>
          <p:nvSpPr>
            <p:cNvPr id="109" name="Freeform 109"/>
            <p:cNvSpPr/>
            <p:nvPr/>
          </p:nvSpPr>
          <p:spPr>
            <a:xfrm>
              <a:off x="906695" y="1575115"/>
              <a:ext cx="185001" cy="176213"/>
            </a:xfrm>
            <a:custGeom>
              <a:avLst/>
              <a:gdLst/>
              <a:ahLst/>
              <a:cxnLst/>
              <a:rect l="l" t="t" r="r" b="b"/>
              <a:pathLst>
                <a:path w="185001" h="176213">
                  <a:moveTo>
                    <a:pt x="0" y="0"/>
                  </a:moveTo>
                  <a:lnTo>
                    <a:pt x="185000" y="0"/>
                  </a:lnTo>
                  <a:lnTo>
                    <a:pt x="185000" y="176213"/>
                  </a:lnTo>
                  <a:lnTo>
                    <a:pt x="0" y="176213"/>
                  </a:lnTo>
                  <a:lnTo>
                    <a:pt x="0" y="0"/>
                  </a:lnTo>
                  <a:close/>
                </a:path>
              </a:pathLst>
            </a:custGeom>
            <a:blipFill>
              <a:blip r:embed="rId41">
                <a:extLst>
                  <a:ext uri="{96DAC541-7B7A-43D3-8B79-37D633B846F1}">
                    <asvg:svgBlip xmlns:asvg="http://schemas.microsoft.com/office/drawing/2016/SVG/main" r:embed="rId42"/>
                  </a:ext>
                </a:extLst>
              </a:blip>
              <a:stretch>
                <a:fillRect/>
              </a:stretch>
            </a:blipFill>
          </p:spPr>
          <p:txBody>
            <a:bodyPr/>
            <a:lstStyle/>
            <a:p>
              <a:endParaRPr lang="en-US"/>
            </a:p>
          </p:txBody>
        </p:sp>
        <p:sp>
          <p:nvSpPr>
            <p:cNvPr id="110" name="TextBox 110"/>
            <p:cNvSpPr txBox="1"/>
            <p:nvPr/>
          </p:nvSpPr>
          <p:spPr>
            <a:xfrm>
              <a:off x="1134405" y="116873"/>
              <a:ext cx="4176245" cy="333163"/>
            </a:xfrm>
            <a:prstGeom prst="rect">
              <a:avLst/>
            </a:prstGeom>
          </p:spPr>
          <p:txBody>
            <a:bodyPr lIns="0" tIns="0" rIns="0" bIns="0" rtlCol="0" anchor="t">
              <a:spAutoFit/>
            </a:bodyPr>
            <a:lstStyle/>
            <a:p>
              <a:pPr marL="0" lvl="0" indent="0" algn="l">
                <a:lnSpc>
                  <a:spcPts val="2240"/>
                </a:lnSpc>
                <a:spcBef>
                  <a:spcPct val="0"/>
                </a:spcBef>
              </a:pPr>
              <a:r>
                <a:rPr lang="en-US" sz="1600" b="1">
                  <a:solidFill>
                    <a:srgbClr val="0F1E05"/>
                  </a:solidFill>
                  <a:latin typeface="Garet Bold"/>
                  <a:ea typeface="Garet Bold"/>
                  <a:cs typeface="Garet Bold"/>
                  <a:sym typeface="Garet Bold"/>
                </a:rPr>
                <a:t>Wha</a:t>
              </a:r>
              <a:r>
                <a:rPr lang="en-US" sz="1600" b="1" u="none">
                  <a:solidFill>
                    <a:srgbClr val="0F1E05"/>
                  </a:solidFill>
                  <a:latin typeface="Garet Bold"/>
                  <a:ea typeface="Garet Bold"/>
                  <a:cs typeface="Garet Bold"/>
                  <a:sym typeface="Garet Bold"/>
                </a:rPr>
                <a:t>t is a plant-based diet?</a:t>
              </a:r>
            </a:p>
          </p:txBody>
        </p:sp>
        <p:sp>
          <p:nvSpPr>
            <p:cNvPr id="111" name="TextBox 111"/>
            <p:cNvSpPr txBox="1"/>
            <p:nvPr/>
          </p:nvSpPr>
          <p:spPr>
            <a:xfrm>
              <a:off x="1092193" y="421461"/>
              <a:ext cx="7925452" cy="1007416"/>
            </a:xfrm>
            <a:prstGeom prst="rect">
              <a:avLst/>
            </a:prstGeom>
          </p:spPr>
          <p:txBody>
            <a:bodyPr lIns="0" tIns="0" rIns="0" bIns="0" rtlCol="0" anchor="t">
              <a:spAutoFit/>
            </a:bodyPr>
            <a:lstStyle/>
            <a:p>
              <a:pPr marL="317852" lvl="1" indent="-158926" algn="l">
                <a:lnSpc>
                  <a:spcPts val="2061"/>
                </a:lnSpc>
                <a:buFont typeface="Arial"/>
                <a:buChar char="•"/>
              </a:pPr>
              <a:r>
                <a:rPr lang="en-US" sz="1472">
                  <a:solidFill>
                    <a:srgbClr val="000000"/>
                  </a:solidFill>
                  <a:latin typeface="Garet"/>
                  <a:ea typeface="Garet"/>
                  <a:cs typeface="Garet"/>
                  <a:sym typeface="Garet"/>
                </a:rPr>
                <a:t>A plant-based diet focuses on whole foods from plants - vegetables, fruits, legumes, grains, nuts, and seeds - and minimizes consumption of animal products. </a:t>
              </a:r>
            </a:p>
          </p:txBody>
        </p:sp>
        <p:sp>
          <p:nvSpPr>
            <p:cNvPr id="112" name="TextBox 112"/>
            <p:cNvSpPr txBox="1"/>
            <p:nvPr/>
          </p:nvSpPr>
          <p:spPr>
            <a:xfrm>
              <a:off x="1214764" y="1556065"/>
              <a:ext cx="7826535" cy="202300"/>
            </a:xfrm>
            <a:prstGeom prst="rect">
              <a:avLst/>
            </a:prstGeom>
          </p:spPr>
          <p:txBody>
            <a:bodyPr lIns="0" tIns="0" rIns="0" bIns="0" rtlCol="0" anchor="t">
              <a:spAutoFit/>
            </a:bodyPr>
            <a:lstStyle/>
            <a:p>
              <a:pPr algn="l">
                <a:lnSpc>
                  <a:spcPts val="1349"/>
                </a:lnSpc>
              </a:pPr>
              <a:r>
                <a:rPr lang="en-US" sz="964">
                  <a:solidFill>
                    <a:srgbClr val="000000"/>
                  </a:solidFill>
                  <a:latin typeface="Garet"/>
                  <a:ea typeface="Garet"/>
                  <a:cs typeface="Garet"/>
                  <a:sym typeface="Garet"/>
                </a:rPr>
                <a:t>Supported by the American Dietetic Association as nutritionally adequate for all life stages.</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489</Words>
  <Application>Microsoft Macintosh PowerPoint</Application>
  <PresentationFormat>Custom</PresentationFormat>
  <Paragraphs>60</Paragraphs>
  <Slides>1</Slides>
  <Notes>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9" baseType="lpstr">
      <vt:lpstr>Canva Sans Bold</vt:lpstr>
      <vt:lpstr>Calibri</vt:lpstr>
      <vt:lpstr>Canva Sans</vt:lpstr>
      <vt:lpstr>Arial</vt:lpstr>
      <vt:lpstr>Garet Bold</vt:lpstr>
      <vt:lpstr>Garet</vt:lpstr>
      <vt:lpstr>Office Theme</vt:lpstr>
      <vt:lpstr>Worksheet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Chloe_Barker_Infographic</dc:title>
  <cp:lastModifiedBy>Barker, Chloe</cp:lastModifiedBy>
  <cp:revision>2</cp:revision>
  <dcterms:created xsi:type="dcterms:W3CDTF">2006-08-16T00:00:00Z</dcterms:created>
  <dcterms:modified xsi:type="dcterms:W3CDTF">2025-06-19T19:04:26Z</dcterms:modified>
  <dc:identifier>DAGqY6FAzE8</dc:identifier>
</cp:coreProperties>
</file>