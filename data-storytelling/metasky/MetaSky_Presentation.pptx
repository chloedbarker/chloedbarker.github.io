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" charset="1" panose="00000500000000000000"/>
      <p:regular r:id="rId16"/>
    </p:embeddedFont>
    <p:embeddedFont>
      <p:font typeface="Montserrat Bold" charset="1" panose="00000800000000000000"/>
      <p:regular r:id="rId17"/>
    </p:embeddedFont>
    <p:embeddedFont>
      <p:font typeface="Open Sans Bold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Montserrat Medium" charset="1" panose="00000600000000000000"/>
      <p:regular r:id="rId20"/>
    </p:embeddedFont>
    <p:embeddedFont>
      <p:font typeface="Montserrat Semi-Bold" charset="1" panose="00000700000000000000"/>
      <p:regular r:id="rId21"/>
    </p:embeddedFont>
    <p:embeddedFont>
      <p:font typeface="Roboto Condensed Bold" charset="1" panose="02000000000000000000"/>
      <p:regular r:id="rId22"/>
    </p:embeddedFont>
    <p:embeddedFont>
      <p:font typeface="Roboto Condensed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2" Target="../media/image2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.png" Type="http://schemas.openxmlformats.org/officeDocument/2006/relationships/image"/><Relationship Id="rId8" Target="../media/image46.jpeg" Type="http://schemas.openxmlformats.org/officeDocument/2006/relationships/image"/><Relationship Id="rId9" Target="../media/image4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8.jpeg" Type="http://schemas.openxmlformats.org/officeDocument/2006/relationships/image"/><Relationship Id="rId5" Target="../media/image3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63.png" Type="http://schemas.openxmlformats.org/officeDocument/2006/relationships/image"/><Relationship Id="rId15" Target="../media/image64.svg" Type="http://schemas.openxmlformats.org/officeDocument/2006/relationships/image"/><Relationship Id="rId16" Target="../media/image65.png" Type="http://schemas.openxmlformats.org/officeDocument/2006/relationships/image"/><Relationship Id="rId17" Target="../media/image66.svg" Type="http://schemas.openxmlformats.org/officeDocument/2006/relationships/image"/><Relationship Id="rId18" Target="../media/image67.png" Type="http://schemas.openxmlformats.org/officeDocument/2006/relationships/image"/><Relationship Id="rId19" Target="../media/image68.svg" Type="http://schemas.openxmlformats.org/officeDocument/2006/relationships/image"/><Relationship Id="rId2" Target="../media/image51.png" Type="http://schemas.openxmlformats.org/officeDocument/2006/relationships/image"/><Relationship Id="rId20" Target="../media/image4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34011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7460" y="8898584"/>
            <a:ext cx="4021840" cy="719431"/>
            <a:chOff x="0" y="0"/>
            <a:chExt cx="951214" cy="1701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214" cy="170154"/>
            </a:xfrm>
            <a:custGeom>
              <a:avLst/>
              <a:gdLst/>
              <a:ahLst/>
              <a:cxnLst/>
              <a:rect r="r" b="b" t="t" l="l"/>
              <a:pathLst>
                <a:path h="170154" w="951214">
                  <a:moveTo>
                    <a:pt x="44274" y="0"/>
                  </a:moveTo>
                  <a:lnTo>
                    <a:pt x="906940" y="0"/>
                  </a:lnTo>
                  <a:cubicBezTo>
                    <a:pt x="918682" y="0"/>
                    <a:pt x="929943" y="4665"/>
                    <a:pt x="938246" y="12968"/>
                  </a:cubicBezTo>
                  <a:cubicBezTo>
                    <a:pt x="946549" y="21271"/>
                    <a:pt x="951214" y="32532"/>
                    <a:pt x="951214" y="44274"/>
                  </a:cubicBezTo>
                  <a:lnTo>
                    <a:pt x="951214" y="125880"/>
                  </a:lnTo>
                  <a:cubicBezTo>
                    <a:pt x="951214" y="137622"/>
                    <a:pt x="946549" y="148884"/>
                    <a:pt x="938246" y="157187"/>
                  </a:cubicBezTo>
                  <a:cubicBezTo>
                    <a:pt x="929943" y="165490"/>
                    <a:pt x="918682" y="170154"/>
                    <a:pt x="906940" y="170154"/>
                  </a:cubicBezTo>
                  <a:lnTo>
                    <a:pt x="44274" y="170154"/>
                  </a:lnTo>
                  <a:cubicBezTo>
                    <a:pt x="32532" y="170154"/>
                    <a:pt x="21271" y="165490"/>
                    <a:pt x="12968" y="157187"/>
                  </a:cubicBezTo>
                  <a:cubicBezTo>
                    <a:pt x="4665" y="148884"/>
                    <a:pt x="0" y="137622"/>
                    <a:pt x="0" y="125880"/>
                  </a:cubicBezTo>
                  <a:lnTo>
                    <a:pt x="0" y="44274"/>
                  </a:lnTo>
                  <a:cubicBezTo>
                    <a:pt x="0" y="32532"/>
                    <a:pt x="4665" y="21271"/>
                    <a:pt x="12968" y="12968"/>
                  </a:cubicBezTo>
                  <a:cubicBezTo>
                    <a:pt x="21271" y="4665"/>
                    <a:pt x="32532" y="0"/>
                    <a:pt x="44274" y="0"/>
                  </a:cubicBezTo>
                  <a:close/>
                </a:path>
              </a:pathLst>
            </a:custGeom>
            <a:solidFill>
              <a:srgbClr val="A9088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51214" cy="208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798" y="-633048"/>
            <a:ext cx="8274515" cy="11553097"/>
          </a:xfrm>
          <a:custGeom>
            <a:avLst/>
            <a:gdLst/>
            <a:ahLst/>
            <a:cxnLst/>
            <a:rect r="r" b="b" t="t" l="l"/>
            <a:pathLst>
              <a:path h="11553097" w="8274515">
                <a:moveTo>
                  <a:pt x="0" y="0"/>
                </a:moveTo>
                <a:lnTo>
                  <a:pt x="8274515" y="0"/>
                </a:lnTo>
                <a:lnTo>
                  <a:pt x="8274515" y="11553096"/>
                </a:lnTo>
                <a:lnTo>
                  <a:pt x="0" y="11553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961000" y="3490886"/>
            <a:ext cx="11827764" cy="19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6999" spc="-1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MetaSky: Bringing the Sky into the Metaverse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67142" y="9045870"/>
            <a:ext cx="4565055" cy="47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1"/>
              </a:lnSpc>
            </a:pPr>
            <a:r>
              <a:rPr lang="en-US" sz="3454" spc="-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Chloe Barker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4528626" y="5766662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18288" y="-3811548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131511"/>
            <a:ext cx="3683983" cy="400511"/>
          </a:xfrm>
          <a:custGeom>
            <a:avLst/>
            <a:gdLst/>
            <a:ahLst/>
            <a:cxnLst/>
            <a:rect r="r" b="b" t="t" l="l"/>
            <a:pathLst>
              <a:path h="400511" w="3683983">
                <a:moveTo>
                  <a:pt x="0" y="0"/>
                </a:moveTo>
                <a:lnTo>
                  <a:pt x="3683983" y="0"/>
                </a:lnTo>
                <a:lnTo>
                  <a:pt x="3683983" y="400510"/>
                </a:lnTo>
                <a:lnTo>
                  <a:pt x="0" y="400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65408" r="-169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7223" y="5690462"/>
            <a:ext cx="11814975" cy="1419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100" b="true">
                <a:solidFill>
                  <a:srgbClr val="FB47D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Radical Transformation of Meta’s Physical Product Ecosystem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580913" y="-368726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8898584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6042" y="7124534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12021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80913" y="955758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03772" y="1104578"/>
            <a:ext cx="16484228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 spc="22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Imagine Seeing Beyond Your Vision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732651" y="6016175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544638" y="2325595"/>
            <a:ext cx="2615139" cy="261513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4906" t="0" r="-2490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36340" y="2319735"/>
            <a:ext cx="2626858" cy="26268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75747" y="2340311"/>
            <a:ext cx="2585708" cy="25857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162599" y="2318319"/>
            <a:ext cx="2612005" cy="2612005"/>
          </a:xfrm>
          <a:custGeom>
            <a:avLst/>
            <a:gdLst/>
            <a:ahLst/>
            <a:cxnLst/>
            <a:rect r="r" b="b" t="t" l="l"/>
            <a:pathLst>
              <a:path h="2612005" w="2612005">
                <a:moveTo>
                  <a:pt x="0" y="0"/>
                </a:moveTo>
                <a:lnTo>
                  <a:pt x="2612005" y="0"/>
                </a:lnTo>
                <a:lnTo>
                  <a:pt x="2612005" y="2612006"/>
                </a:lnTo>
                <a:lnTo>
                  <a:pt x="0" y="261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005220" y="2322413"/>
            <a:ext cx="2585708" cy="258570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942895" y="2327162"/>
            <a:ext cx="2612005" cy="2612005"/>
          </a:xfrm>
          <a:custGeom>
            <a:avLst/>
            <a:gdLst/>
            <a:ahLst/>
            <a:cxnLst/>
            <a:rect r="r" b="b" t="t" l="l"/>
            <a:pathLst>
              <a:path h="2612005" w="2612005">
                <a:moveTo>
                  <a:pt x="0" y="0"/>
                </a:moveTo>
                <a:lnTo>
                  <a:pt x="2612005" y="0"/>
                </a:lnTo>
                <a:lnTo>
                  <a:pt x="2612005" y="2612005"/>
                </a:lnTo>
                <a:lnTo>
                  <a:pt x="0" y="2612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762378" y="2318319"/>
            <a:ext cx="2612005" cy="2612005"/>
          </a:xfrm>
          <a:custGeom>
            <a:avLst/>
            <a:gdLst/>
            <a:ahLst/>
            <a:cxnLst/>
            <a:rect r="r" b="b" t="t" l="l"/>
            <a:pathLst>
              <a:path h="2612005" w="2612005">
                <a:moveTo>
                  <a:pt x="0" y="0"/>
                </a:moveTo>
                <a:lnTo>
                  <a:pt x="2612005" y="0"/>
                </a:lnTo>
                <a:lnTo>
                  <a:pt x="2612005" y="2612006"/>
                </a:lnTo>
                <a:lnTo>
                  <a:pt x="0" y="261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4806803" y="3639462"/>
            <a:ext cx="1198418" cy="0"/>
          </a:xfrm>
          <a:prstGeom prst="line">
            <a:avLst/>
          </a:prstGeom>
          <a:ln cap="rnd" w="57150">
            <a:solidFill>
              <a:srgbClr val="A2BCF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3562267" y="2318319"/>
            <a:ext cx="2612005" cy="2612005"/>
          </a:xfrm>
          <a:custGeom>
            <a:avLst/>
            <a:gdLst/>
            <a:ahLst/>
            <a:cxnLst/>
            <a:rect r="r" b="b" t="t" l="l"/>
            <a:pathLst>
              <a:path h="2612005" w="2612005">
                <a:moveTo>
                  <a:pt x="0" y="0"/>
                </a:moveTo>
                <a:lnTo>
                  <a:pt x="2612005" y="0"/>
                </a:lnTo>
                <a:lnTo>
                  <a:pt x="2612005" y="2612006"/>
                </a:lnTo>
                <a:lnTo>
                  <a:pt x="0" y="261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679676" y="3250938"/>
            <a:ext cx="1613971" cy="94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8898">
                <a:solidFill>
                  <a:srgbClr val="E22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10906" y="3350710"/>
            <a:ext cx="1613971" cy="94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8898">
                <a:solidFill>
                  <a:srgbClr val="E22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70654" y="3371642"/>
            <a:ext cx="1613971" cy="94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8898">
                <a:solidFill>
                  <a:srgbClr val="E22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61284" y="3437518"/>
            <a:ext cx="1613971" cy="94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8898">
                <a:solidFill>
                  <a:srgbClr val="E229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98990" y="5327864"/>
            <a:ext cx="3595196" cy="332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3"/>
              </a:lnSpc>
            </a:pPr>
            <a:r>
              <a:rPr lang="en-US" sz="20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Imagine you're a content creator or influencer.  </a:t>
            </a:r>
          </a:p>
          <a:p>
            <a:pPr algn="ctr">
              <a:lnSpc>
                <a:spcPts val="3323"/>
              </a:lnSpc>
            </a:pPr>
          </a:p>
          <a:p>
            <a:pPr algn="ctr">
              <a:lnSpc>
                <a:spcPts val="3323"/>
              </a:lnSpc>
            </a:pPr>
            <a:r>
              <a:rPr lang="en-US" sz="205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followers see both your POV and a cinematic drone shot - perfectly synced in real time.</a:t>
            </a:r>
          </a:p>
          <a:p>
            <a:pPr algn="ctr">
              <a:lnSpc>
                <a:spcPts val="3323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596054" y="5327864"/>
            <a:ext cx="3121512" cy="290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3"/>
              </a:lnSpc>
            </a:pPr>
            <a:r>
              <a:rPr lang="en-US" sz="20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Imagine you're a farmer. </a:t>
            </a:r>
          </a:p>
          <a:p>
            <a:pPr algn="ctr">
              <a:lnSpc>
                <a:spcPts val="3323"/>
              </a:lnSpc>
            </a:pPr>
          </a:p>
          <a:p>
            <a:pPr algn="ctr">
              <a:lnSpc>
                <a:spcPts val="3323"/>
              </a:lnSpc>
            </a:pPr>
            <a:r>
              <a:rPr lang="en-US" sz="205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Meta drone tracks destructive animals and monitors crop health from above.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93117" y="5327864"/>
            <a:ext cx="3121512" cy="332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3"/>
              </a:lnSpc>
            </a:pPr>
            <a:r>
              <a:rPr lang="en-US" sz="20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Imagine you're a homebuilder. </a:t>
            </a:r>
          </a:p>
          <a:p>
            <a:pPr algn="ctr">
              <a:lnSpc>
                <a:spcPts val="3323"/>
              </a:lnSpc>
            </a:pPr>
          </a:p>
          <a:p>
            <a:pPr algn="ctr">
              <a:lnSpc>
                <a:spcPts val="3323"/>
              </a:lnSpc>
            </a:pPr>
            <a:r>
              <a:rPr lang="en-US" sz="205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drone gives you a 360° AR view of a pool in your future backyard before construction begins</a:t>
            </a:r>
            <a:r>
              <a:rPr lang="en-US" b="true" sz="205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2845" y="5327864"/>
            <a:ext cx="3578848" cy="332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3"/>
              </a:lnSpc>
            </a:pPr>
            <a:r>
              <a:rPr lang="en-US" sz="20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Imagine you're in a natural disaster. </a:t>
            </a:r>
          </a:p>
          <a:p>
            <a:pPr algn="ctr">
              <a:lnSpc>
                <a:spcPts val="3323"/>
              </a:lnSpc>
            </a:pPr>
          </a:p>
          <a:p>
            <a:pPr algn="ctr">
              <a:lnSpc>
                <a:spcPts val="3323"/>
              </a:lnSpc>
            </a:pPr>
            <a:r>
              <a:rPr lang="en-US" sz="205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Meta Ray-Bans stream your POV to a drone, which transmits coordinates to emergency crews in real time.</a:t>
            </a:r>
          </a:p>
        </p:txBody>
      </p:sp>
      <p:sp>
        <p:nvSpPr>
          <p:cNvPr name="AutoShape 28" id="28"/>
          <p:cNvSpPr/>
          <p:nvPr/>
        </p:nvSpPr>
        <p:spPr>
          <a:xfrm>
            <a:off x="8615036" y="3705338"/>
            <a:ext cx="1198418" cy="0"/>
          </a:xfrm>
          <a:prstGeom prst="line">
            <a:avLst/>
          </a:prstGeom>
          <a:ln cap="rnd" w="57150">
            <a:solidFill>
              <a:srgbClr val="A2BCF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2374795" y="3733913"/>
            <a:ext cx="1198418" cy="0"/>
          </a:xfrm>
          <a:prstGeom prst="line">
            <a:avLst/>
          </a:prstGeom>
          <a:ln cap="rnd" w="57150">
            <a:solidFill>
              <a:srgbClr val="A2BCFB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3878738" y="-4540217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92675" y="8066004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12021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80913" y="955758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85334" y="1159017"/>
            <a:ext cx="932209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 spc="22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Introducing MetaSky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571541" y="-4887595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41315" y="3923306"/>
            <a:ext cx="3534647" cy="3534647"/>
          </a:xfrm>
          <a:custGeom>
            <a:avLst/>
            <a:gdLst/>
            <a:ahLst/>
            <a:cxnLst/>
            <a:rect r="r" b="b" t="t" l="l"/>
            <a:pathLst>
              <a:path h="3534647" w="3534647">
                <a:moveTo>
                  <a:pt x="0" y="0"/>
                </a:moveTo>
                <a:lnTo>
                  <a:pt x="3534647" y="0"/>
                </a:lnTo>
                <a:lnTo>
                  <a:pt x="3534647" y="3534647"/>
                </a:lnTo>
                <a:lnTo>
                  <a:pt x="0" y="3534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04" y="5177540"/>
            <a:ext cx="3789921" cy="1007408"/>
          </a:xfrm>
          <a:custGeom>
            <a:avLst/>
            <a:gdLst/>
            <a:ahLst/>
            <a:cxnLst/>
            <a:rect r="r" b="b" t="t" l="l"/>
            <a:pathLst>
              <a:path h="1007408" w="3789921">
                <a:moveTo>
                  <a:pt x="0" y="0"/>
                </a:moveTo>
                <a:lnTo>
                  <a:pt x="3789921" y="0"/>
                </a:lnTo>
                <a:lnTo>
                  <a:pt x="3789921" y="1007407"/>
                </a:lnTo>
                <a:lnTo>
                  <a:pt x="0" y="10074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722" r="0" b="-972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6390" y="2778562"/>
            <a:ext cx="1438933" cy="942501"/>
          </a:xfrm>
          <a:custGeom>
            <a:avLst/>
            <a:gdLst/>
            <a:ahLst/>
            <a:cxnLst/>
            <a:rect r="r" b="b" t="t" l="l"/>
            <a:pathLst>
              <a:path h="942501" w="1438933">
                <a:moveTo>
                  <a:pt x="0" y="0"/>
                </a:moveTo>
                <a:lnTo>
                  <a:pt x="1438933" y="0"/>
                </a:lnTo>
                <a:lnTo>
                  <a:pt x="1438933" y="942501"/>
                </a:lnTo>
                <a:lnTo>
                  <a:pt x="0" y="9425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1311" y="7357023"/>
            <a:ext cx="1749091" cy="897705"/>
          </a:xfrm>
          <a:custGeom>
            <a:avLst/>
            <a:gdLst/>
            <a:ahLst/>
            <a:cxnLst/>
            <a:rect r="r" b="b" t="t" l="l"/>
            <a:pathLst>
              <a:path h="897705" w="1749091">
                <a:moveTo>
                  <a:pt x="0" y="0"/>
                </a:moveTo>
                <a:lnTo>
                  <a:pt x="1749091" y="0"/>
                </a:lnTo>
                <a:lnTo>
                  <a:pt x="1749091" y="897705"/>
                </a:lnTo>
                <a:lnTo>
                  <a:pt x="0" y="8977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3760" y="6645615"/>
            <a:ext cx="2504194" cy="2504194"/>
          </a:xfrm>
          <a:custGeom>
            <a:avLst/>
            <a:gdLst/>
            <a:ahLst/>
            <a:cxnLst/>
            <a:rect r="r" b="b" t="t" l="l"/>
            <a:pathLst>
              <a:path h="2504194" w="2504194">
                <a:moveTo>
                  <a:pt x="0" y="0"/>
                </a:moveTo>
                <a:lnTo>
                  <a:pt x="2504194" y="0"/>
                </a:lnTo>
                <a:lnTo>
                  <a:pt x="2504194" y="2504195"/>
                </a:lnTo>
                <a:lnTo>
                  <a:pt x="0" y="25041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32949" y="1811056"/>
            <a:ext cx="2905816" cy="2905816"/>
          </a:xfrm>
          <a:custGeom>
            <a:avLst/>
            <a:gdLst/>
            <a:ahLst/>
            <a:cxnLst/>
            <a:rect r="r" b="b" t="t" l="l"/>
            <a:pathLst>
              <a:path h="2905816" w="2905816">
                <a:moveTo>
                  <a:pt x="0" y="0"/>
                </a:moveTo>
                <a:lnTo>
                  <a:pt x="2905816" y="0"/>
                </a:lnTo>
                <a:lnTo>
                  <a:pt x="2905816" y="2905816"/>
                </a:lnTo>
                <a:lnTo>
                  <a:pt x="0" y="2905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1466179" y="4646269"/>
            <a:ext cx="839355" cy="484226"/>
          </a:xfrm>
          <a:custGeom>
            <a:avLst/>
            <a:gdLst/>
            <a:ahLst/>
            <a:cxnLst/>
            <a:rect r="r" b="b" t="t" l="l"/>
            <a:pathLst>
              <a:path h="484226" w="839355">
                <a:moveTo>
                  <a:pt x="0" y="0"/>
                </a:moveTo>
                <a:lnTo>
                  <a:pt x="839355" y="0"/>
                </a:lnTo>
                <a:lnTo>
                  <a:pt x="839355" y="484226"/>
                </a:lnTo>
                <a:lnTo>
                  <a:pt x="0" y="4842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0323" t="0" r="-242148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1466179" y="6234565"/>
            <a:ext cx="839355" cy="484226"/>
          </a:xfrm>
          <a:custGeom>
            <a:avLst/>
            <a:gdLst/>
            <a:ahLst/>
            <a:cxnLst/>
            <a:rect r="r" b="b" t="t" l="l"/>
            <a:pathLst>
              <a:path h="484226" w="839355">
                <a:moveTo>
                  <a:pt x="0" y="0"/>
                </a:moveTo>
                <a:lnTo>
                  <a:pt x="839355" y="0"/>
                </a:lnTo>
                <a:lnTo>
                  <a:pt x="839355" y="484226"/>
                </a:lnTo>
                <a:lnTo>
                  <a:pt x="0" y="4842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0323" t="0" r="-24214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68413" y="5458672"/>
            <a:ext cx="1094159" cy="463915"/>
          </a:xfrm>
          <a:custGeom>
            <a:avLst/>
            <a:gdLst/>
            <a:ahLst/>
            <a:cxnLst/>
            <a:rect r="r" b="b" t="t" l="l"/>
            <a:pathLst>
              <a:path h="463915" w="1094159">
                <a:moveTo>
                  <a:pt x="0" y="0"/>
                </a:moveTo>
                <a:lnTo>
                  <a:pt x="1094159" y="0"/>
                </a:lnTo>
                <a:lnTo>
                  <a:pt x="1094159" y="463915"/>
                </a:lnTo>
                <a:lnTo>
                  <a:pt x="0" y="4639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47797" t="0" r="-99304" b="-4378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084472" y="5316808"/>
            <a:ext cx="2048333" cy="747642"/>
          </a:xfrm>
          <a:custGeom>
            <a:avLst/>
            <a:gdLst/>
            <a:ahLst/>
            <a:cxnLst/>
            <a:rect r="r" b="b" t="t" l="l"/>
            <a:pathLst>
              <a:path h="747642" w="2048333">
                <a:moveTo>
                  <a:pt x="0" y="0"/>
                </a:moveTo>
                <a:lnTo>
                  <a:pt x="2048333" y="0"/>
                </a:lnTo>
                <a:lnTo>
                  <a:pt x="2048333" y="747642"/>
                </a:lnTo>
                <a:lnTo>
                  <a:pt x="0" y="7476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-153900" y="5401522"/>
            <a:ext cx="4079513" cy="49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8"/>
              </a:lnSpc>
            </a:pPr>
            <a:r>
              <a:rPr lang="en-US" b="true" sz="2934" spc="-3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Reality Labs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5735" y="1346605"/>
            <a:ext cx="1846957" cy="46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6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MetaQuest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8821" y="9092660"/>
            <a:ext cx="2576066" cy="46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6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 Ray-Bans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85334" y="3663913"/>
            <a:ext cx="1446609" cy="46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6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MetaSky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873826" y="-772795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295062" y="4058490"/>
            <a:ext cx="832590" cy="83259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343759" y="4012217"/>
            <a:ext cx="8165717" cy="87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524" spc="11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Syncs with Ray-Ban Stories and MetaQuest for real-time AR and POV integration.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373099" y="4235378"/>
            <a:ext cx="676515" cy="43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b="true" sz="2524" spc="11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95062" y="5671659"/>
            <a:ext cx="832590" cy="83259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343759" y="5643004"/>
            <a:ext cx="8022842" cy="87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524" spc="11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Posts instant</a:t>
            </a:r>
            <a:r>
              <a:rPr lang="en-US" sz="2524" spc="11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ly to Instagram, Facebook, and WhatsApp - no delay, no transfer.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73099" y="5846148"/>
            <a:ext cx="676515" cy="43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b="true" sz="2524" spc="11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95062" y="7284827"/>
            <a:ext cx="832590" cy="83259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415197" y="7296734"/>
            <a:ext cx="7467426" cy="132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524" spc="11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Controlled intuitively through your phone, by voice, with hand gestures, or directly through MetaQuest.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373099" y="7456917"/>
            <a:ext cx="676515" cy="43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b="true" sz="2524" spc="11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95062" y="8897996"/>
            <a:ext cx="832590" cy="83259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343759" y="9102185"/>
            <a:ext cx="6755040" cy="43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524" spc="11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Snap, Stream, Scout - from above.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373099" y="9067686"/>
            <a:ext cx="676515" cy="43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b="true" sz="2524" spc="11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925613" y="2277073"/>
            <a:ext cx="9676358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true">
                <a:solidFill>
                  <a:srgbClr val="86C9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Smart,</a:t>
            </a:r>
            <a:r>
              <a:rPr lang="en-US" b="true" sz="3900">
                <a:solidFill>
                  <a:srgbClr val="86C9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Seamless, Aerial - Meet MetaSky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3548141"/>
            <a:ext cx="16271825" cy="4855845"/>
            <a:chOff x="0" y="0"/>
            <a:chExt cx="2520931" cy="752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0931" cy="752297"/>
            </a:xfrm>
            <a:custGeom>
              <a:avLst/>
              <a:gdLst/>
              <a:ahLst/>
              <a:cxnLst/>
              <a:rect r="r" b="b" t="t" l="l"/>
              <a:pathLst>
                <a:path h="752297" w="2520931">
                  <a:moveTo>
                    <a:pt x="16177" y="0"/>
                  </a:moveTo>
                  <a:lnTo>
                    <a:pt x="2504755" y="0"/>
                  </a:lnTo>
                  <a:cubicBezTo>
                    <a:pt x="2509045" y="0"/>
                    <a:pt x="2513160" y="1704"/>
                    <a:pt x="2516193" y="4738"/>
                  </a:cubicBezTo>
                  <a:cubicBezTo>
                    <a:pt x="2519227" y="7772"/>
                    <a:pt x="2520931" y="11886"/>
                    <a:pt x="2520931" y="16177"/>
                  </a:cubicBezTo>
                  <a:lnTo>
                    <a:pt x="2520931" y="736121"/>
                  </a:lnTo>
                  <a:cubicBezTo>
                    <a:pt x="2520931" y="740411"/>
                    <a:pt x="2519227" y="744526"/>
                    <a:pt x="2516193" y="747559"/>
                  </a:cubicBezTo>
                  <a:cubicBezTo>
                    <a:pt x="2513160" y="750593"/>
                    <a:pt x="2509045" y="752297"/>
                    <a:pt x="2504755" y="752297"/>
                  </a:cubicBezTo>
                  <a:lnTo>
                    <a:pt x="16177" y="752297"/>
                  </a:lnTo>
                  <a:cubicBezTo>
                    <a:pt x="11886" y="752297"/>
                    <a:pt x="7772" y="750593"/>
                    <a:pt x="4738" y="747559"/>
                  </a:cubicBezTo>
                  <a:cubicBezTo>
                    <a:pt x="1704" y="744526"/>
                    <a:pt x="0" y="740411"/>
                    <a:pt x="0" y="736121"/>
                  </a:cubicBezTo>
                  <a:lnTo>
                    <a:pt x="0" y="16177"/>
                  </a:lnTo>
                  <a:cubicBezTo>
                    <a:pt x="0" y="11886"/>
                    <a:pt x="1704" y="7772"/>
                    <a:pt x="4738" y="4738"/>
                  </a:cubicBezTo>
                  <a:cubicBezTo>
                    <a:pt x="7772" y="1704"/>
                    <a:pt x="11886" y="0"/>
                    <a:pt x="1617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4246" r="0" b="-4424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112021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80913" y="955758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44377" y="-5438074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09474" y="3180389"/>
          <a:ext cx="12034904" cy="5761245"/>
        </p:xfrm>
        <a:graphic>
          <a:graphicData uri="http://schemas.openxmlformats.org/drawingml/2006/table">
            <a:tbl>
              <a:tblPr/>
              <a:tblGrid>
                <a:gridCol w="4745704"/>
                <a:gridCol w="1842829"/>
                <a:gridCol w="1842829"/>
                <a:gridCol w="1801771"/>
                <a:gridCol w="1801771"/>
              </a:tblGrid>
              <a:tr h="1152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12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C116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12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C116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Google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12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C116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Apple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12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C116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DJI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12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C116D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F4"/>
                    </a:solidFill>
                  </a:tcPr>
                </a:tc>
              </a:tr>
              <a:tr h="11522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Social Media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F"/>
                    </a:solidFill>
                  </a:tcPr>
                </a:tc>
              </a:tr>
              <a:tr h="11522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AR/VR Hardware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F"/>
                    </a:solidFill>
                  </a:tcPr>
                </a:tc>
              </a:tr>
              <a:tr h="11522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AI + GenAI Power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F"/>
                    </a:solidFill>
                  </a:tcPr>
                </a:tc>
              </a:tr>
              <a:tr h="11522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74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Drone Tech Experience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2FF"/>
                    </a:solidFill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5670183" y="4622175"/>
            <a:ext cx="591529" cy="586353"/>
          </a:xfrm>
          <a:custGeom>
            <a:avLst/>
            <a:gdLst/>
            <a:ahLst/>
            <a:cxnLst/>
            <a:rect r="r" b="b" t="t" l="l"/>
            <a:pathLst>
              <a:path h="586353" w="591529">
                <a:moveTo>
                  <a:pt x="0" y="0"/>
                </a:moveTo>
                <a:lnTo>
                  <a:pt x="591529" y="0"/>
                </a:lnTo>
                <a:lnTo>
                  <a:pt x="591529" y="586353"/>
                </a:lnTo>
                <a:lnTo>
                  <a:pt x="0" y="58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93429" y="4622175"/>
            <a:ext cx="591529" cy="586353"/>
          </a:xfrm>
          <a:custGeom>
            <a:avLst/>
            <a:gdLst/>
            <a:ahLst/>
            <a:cxnLst/>
            <a:rect r="r" b="b" t="t" l="l"/>
            <a:pathLst>
              <a:path h="586353" w="591529">
                <a:moveTo>
                  <a:pt x="0" y="0"/>
                </a:moveTo>
                <a:lnTo>
                  <a:pt x="591529" y="0"/>
                </a:lnTo>
                <a:lnTo>
                  <a:pt x="591529" y="586353"/>
                </a:lnTo>
                <a:lnTo>
                  <a:pt x="0" y="58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56399" y="4622175"/>
            <a:ext cx="591529" cy="586353"/>
          </a:xfrm>
          <a:custGeom>
            <a:avLst/>
            <a:gdLst/>
            <a:ahLst/>
            <a:cxnLst/>
            <a:rect r="r" b="b" t="t" l="l"/>
            <a:pathLst>
              <a:path h="586353" w="591529">
                <a:moveTo>
                  <a:pt x="0" y="0"/>
                </a:moveTo>
                <a:lnTo>
                  <a:pt x="591529" y="0"/>
                </a:lnTo>
                <a:lnTo>
                  <a:pt x="591529" y="586353"/>
                </a:lnTo>
                <a:lnTo>
                  <a:pt x="0" y="58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70183" y="5806599"/>
            <a:ext cx="591529" cy="586353"/>
          </a:xfrm>
          <a:custGeom>
            <a:avLst/>
            <a:gdLst/>
            <a:ahLst/>
            <a:cxnLst/>
            <a:rect r="r" b="b" t="t" l="l"/>
            <a:pathLst>
              <a:path h="586353" w="591529">
                <a:moveTo>
                  <a:pt x="0" y="0"/>
                </a:moveTo>
                <a:lnTo>
                  <a:pt x="591529" y="0"/>
                </a:lnTo>
                <a:lnTo>
                  <a:pt x="591529" y="586353"/>
                </a:lnTo>
                <a:lnTo>
                  <a:pt x="0" y="58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56399" y="5787039"/>
            <a:ext cx="591529" cy="586353"/>
          </a:xfrm>
          <a:custGeom>
            <a:avLst/>
            <a:gdLst/>
            <a:ahLst/>
            <a:cxnLst/>
            <a:rect r="r" b="b" t="t" l="l"/>
            <a:pathLst>
              <a:path h="586353" w="591529">
                <a:moveTo>
                  <a:pt x="0" y="0"/>
                </a:moveTo>
                <a:lnTo>
                  <a:pt x="591529" y="0"/>
                </a:lnTo>
                <a:lnTo>
                  <a:pt x="591529" y="586353"/>
                </a:lnTo>
                <a:lnTo>
                  <a:pt x="0" y="58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91887" y="6976091"/>
            <a:ext cx="591529" cy="586353"/>
          </a:xfrm>
          <a:custGeom>
            <a:avLst/>
            <a:gdLst/>
            <a:ahLst/>
            <a:cxnLst/>
            <a:rect r="r" b="b" t="t" l="l"/>
            <a:pathLst>
              <a:path h="586353" w="591529">
                <a:moveTo>
                  <a:pt x="0" y="0"/>
                </a:moveTo>
                <a:lnTo>
                  <a:pt x="591529" y="0"/>
                </a:lnTo>
                <a:lnTo>
                  <a:pt x="591529" y="586353"/>
                </a:lnTo>
                <a:lnTo>
                  <a:pt x="0" y="58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70183" y="8153049"/>
            <a:ext cx="591529" cy="586353"/>
          </a:xfrm>
          <a:custGeom>
            <a:avLst/>
            <a:gdLst/>
            <a:ahLst/>
            <a:cxnLst/>
            <a:rect r="r" b="b" t="t" l="l"/>
            <a:pathLst>
              <a:path h="586353" w="591529">
                <a:moveTo>
                  <a:pt x="0" y="0"/>
                </a:moveTo>
                <a:lnTo>
                  <a:pt x="591529" y="0"/>
                </a:lnTo>
                <a:lnTo>
                  <a:pt x="591529" y="586353"/>
                </a:lnTo>
                <a:lnTo>
                  <a:pt x="0" y="586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57942" y="8175445"/>
            <a:ext cx="591529" cy="586353"/>
          </a:xfrm>
          <a:custGeom>
            <a:avLst/>
            <a:gdLst/>
            <a:ahLst/>
            <a:cxnLst/>
            <a:rect r="r" b="b" t="t" l="l"/>
            <a:pathLst>
              <a:path h="586353" w="591529">
                <a:moveTo>
                  <a:pt x="0" y="0"/>
                </a:moveTo>
                <a:lnTo>
                  <a:pt x="591529" y="0"/>
                </a:lnTo>
                <a:lnTo>
                  <a:pt x="591529" y="586354"/>
                </a:lnTo>
                <a:lnTo>
                  <a:pt x="0" y="586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70183" y="6991022"/>
            <a:ext cx="662505" cy="563957"/>
          </a:xfrm>
          <a:custGeom>
            <a:avLst/>
            <a:gdLst/>
            <a:ahLst/>
            <a:cxnLst/>
            <a:rect r="r" b="b" t="t" l="l"/>
            <a:pathLst>
              <a:path h="563957" w="662505">
                <a:moveTo>
                  <a:pt x="0" y="0"/>
                </a:moveTo>
                <a:lnTo>
                  <a:pt x="662505" y="0"/>
                </a:lnTo>
                <a:lnTo>
                  <a:pt x="662505" y="563957"/>
                </a:lnTo>
                <a:lnTo>
                  <a:pt x="0" y="563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657942" y="6998487"/>
            <a:ext cx="662505" cy="563957"/>
          </a:xfrm>
          <a:custGeom>
            <a:avLst/>
            <a:gdLst/>
            <a:ahLst/>
            <a:cxnLst/>
            <a:rect r="r" b="b" t="t" l="l"/>
            <a:pathLst>
              <a:path h="563957" w="662505">
                <a:moveTo>
                  <a:pt x="0" y="0"/>
                </a:moveTo>
                <a:lnTo>
                  <a:pt x="662504" y="0"/>
                </a:lnTo>
                <a:lnTo>
                  <a:pt x="662504" y="563957"/>
                </a:lnTo>
                <a:lnTo>
                  <a:pt x="0" y="563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657942" y="5752891"/>
            <a:ext cx="662505" cy="563957"/>
          </a:xfrm>
          <a:custGeom>
            <a:avLst/>
            <a:gdLst/>
            <a:ahLst/>
            <a:cxnLst/>
            <a:rect r="r" b="b" t="t" l="l"/>
            <a:pathLst>
              <a:path h="563957" w="662505">
                <a:moveTo>
                  <a:pt x="0" y="0"/>
                </a:moveTo>
                <a:lnTo>
                  <a:pt x="662504" y="0"/>
                </a:lnTo>
                <a:lnTo>
                  <a:pt x="662504" y="563957"/>
                </a:lnTo>
                <a:lnTo>
                  <a:pt x="0" y="563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56399" y="8197841"/>
            <a:ext cx="662505" cy="563957"/>
          </a:xfrm>
          <a:custGeom>
            <a:avLst/>
            <a:gdLst/>
            <a:ahLst/>
            <a:cxnLst/>
            <a:rect r="r" b="b" t="t" l="l"/>
            <a:pathLst>
              <a:path h="563957" w="662505">
                <a:moveTo>
                  <a:pt x="0" y="0"/>
                </a:moveTo>
                <a:lnTo>
                  <a:pt x="662504" y="0"/>
                </a:lnTo>
                <a:lnTo>
                  <a:pt x="662504" y="563958"/>
                </a:lnTo>
                <a:lnTo>
                  <a:pt x="0" y="563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59502" y="5810331"/>
            <a:ext cx="662505" cy="563957"/>
          </a:xfrm>
          <a:custGeom>
            <a:avLst/>
            <a:gdLst/>
            <a:ahLst/>
            <a:cxnLst/>
            <a:rect r="r" b="b" t="t" l="l"/>
            <a:pathLst>
              <a:path h="563957" w="662505">
                <a:moveTo>
                  <a:pt x="0" y="0"/>
                </a:moveTo>
                <a:lnTo>
                  <a:pt x="662505" y="0"/>
                </a:lnTo>
                <a:lnTo>
                  <a:pt x="662505" y="563957"/>
                </a:lnTo>
                <a:lnTo>
                  <a:pt x="0" y="563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59502" y="6998860"/>
            <a:ext cx="662505" cy="563957"/>
          </a:xfrm>
          <a:custGeom>
            <a:avLst/>
            <a:gdLst/>
            <a:ahLst/>
            <a:cxnLst/>
            <a:rect r="r" b="b" t="t" l="l"/>
            <a:pathLst>
              <a:path h="563957" w="662505">
                <a:moveTo>
                  <a:pt x="0" y="0"/>
                </a:moveTo>
                <a:lnTo>
                  <a:pt x="662505" y="0"/>
                </a:lnTo>
                <a:lnTo>
                  <a:pt x="662505" y="563958"/>
                </a:lnTo>
                <a:lnTo>
                  <a:pt x="0" y="563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59502" y="4633373"/>
            <a:ext cx="662505" cy="563957"/>
          </a:xfrm>
          <a:custGeom>
            <a:avLst/>
            <a:gdLst/>
            <a:ahLst/>
            <a:cxnLst/>
            <a:rect r="r" b="b" t="t" l="l"/>
            <a:pathLst>
              <a:path h="563957" w="662505">
                <a:moveTo>
                  <a:pt x="0" y="0"/>
                </a:moveTo>
                <a:lnTo>
                  <a:pt x="662505" y="0"/>
                </a:lnTo>
                <a:lnTo>
                  <a:pt x="662505" y="563957"/>
                </a:lnTo>
                <a:lnTo>
                  <a:pt x="0" y="563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046493" y="7780220"/>
            <a:ext cx="1288523" cy="1269196"/>
          </a:xfrm>
          <a:custGeom>
            <a:avLst/>
            <a:gdLst/>
            <a:ahLst/>
            <a:cxnLst/>
            <a:rect r="r" b="b" t="t" l="l"/>
            <a:pathLst>
              <a:path h="1269196" w="1288523">
                <a:moveTo>
                  <a:pt x="0" y="0"/>
                </a:moveTo>
                <a:lnTo>
                  <a:pt x="1288523" y="0"/>
                </a:lnTo>
                <a:lnTo>
                  <a:pt x="1288523" y="1269196"/>
                </a:lnTo>
                <a:lnTo>
                  <a:pt x="0" y="1269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606067" y="1754243"/>
            <a:ext cx="13676457" cy="76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8"/>
              </a:lnSpc>
            </a:pPr>
            <a:r>
              <a:rPr lang="en-US" b="true" sz="4555" spc="21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Meta is Uniquely Positioned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234587" y="6168701"/>
            <a:ext cx="434751" cy="394380"/>
          </a:xfrm>
          <a:custGeom>
            <a:avLst/>
            <a:gdLst/>
            <a:ahLst/>
            <a:cxnLst/>
            <a:rect r="r" b="b" t="t" l="l"/>
            <a:pathLst>
              <a:path h="394380" w="434751">
                <a:moveTo>
                  <a:pt x="0" y="0"/>
                </a:moveTo>
                <a:lnTo>
                  <a:pt x="434752" y="0"/>
                </a:lnTo>
                <a:lnTo>
                  <a:pt x="434752" y="394379"/>
                </a:lnTo>
                <a:lnTo>
                  <a:pt x="0" y="3943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823" t="0" r="-17823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597511" y="3761943"/>
            <a:ext cx="1569019" cy="76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b="true" sz="1460" spc="68">
                <a:solidFill>
                  <a:srgbClr val="A2B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Ray-Ban Stories and MetaQuest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97511" y="6100683"/>
            <a:ext cx="1569019" cy="76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b="true" sz="1460" spc="68">
                <a:solidFill>
                  <a:srgbClr val="A2B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Vast Social Media Presence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20543" y="7560268"/>
            <a:ext cx="1569019" cy="76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b="true" sz="1460" spc="68">
                <a:solidFill>
                  <a:srgbClr val="A2B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Engine and high tech capabilities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69339" y="3673031"/>
            <a:ext cx="2005476" cy="102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b="true" sz="1460" spc="68">
                <a:solidFill>
                  <a:srgbClr val="E229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POV Streaming, AR overlays + drone footage in games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771448" y="6100683"/>
            <a:ext cx="1569019" cy="76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b="true" sz="1460" spc="68">
                <a:solidFill>
                  <a:srgbClr val="E229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Seamless uploading and posting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71448" y="7301306"/>
            <a:ext cx="1569019" cy="102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b="true" sz="1460" spc="68">
                <a:solidFill>
                  <a:srgbClr val="E229C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 detection, tracking, 3D mapping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234587" y="4068646"/>
            <a:ext cx="434751" cy="394380"/>
          </a:xfrm>
          <a:custGeom>
            <a:avLst/>
            <a:gdLst/>
            <a:ahLst/>
            <a:cxnLst/>
            <a:rect r="r" b="b" t="t" l="l"/>
            <a:pathLst>
              <a:path h="394380" w="434751">
                <a:moveTo>
                  <a:pt x="0" y="0"/>
                </a:moveTo>
                <a:lnTo>
                  <a:pt x="434752" y="0"/>
                </a:lnTo>
                <a:lnTo>
                  <a:pt x="434752" y="394380"/>
                </a:lnTo>
                <a:lnTo>
                  <a:pt x="0" y="3943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823" t="0" r="-17823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263129" y="7761554"/>
            <a:ext cx="434751" cy="394380"/>
          </a:xfrm>
          <a:custGeom>
            <a:avLst/>
            <a:gdLst/>
            <a:ahLst/>
            <a:cxnLst/>
            <a:rect r="r" b="b" t="t" l="l"/>
            <a:pathLst>
              <a:path h="394380" w="434751">
                <a:moveTo>
                  <a:pt x="0" y="0"/>
                </a:moveTo>
                <a:lnTo>
                  <a:pt x="434752" y="0"/>
                </a:lnTo>
                <a:lnTo>
                  <a:pt x="434752" y="394379"/>
                </a:lnTo>
                <a:lnTo>
                  <a:pt x="0" y="3943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823" t="0" r="-17823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620543" y="4832859"/>
            <a:ext cx="1569019" cy="102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b="true" sz="1460" spc="68">
                <a:solidFill>
                  <a:srgbClr val="A2B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Past VR/AR Success and Investment into the future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5234587" y="5119468"/>
            <a:ext cx="434751" cy="394380"/>
          </a:xfrm>
          <a:custGeom>
            <a:avLst/>
            <a:gdLst/>
            <a:ahLst/>
            <a:cxnLst/>
            <a:rect r="r" b="b" t="t" l="l"/>
            <a:pathLst>
              <a:path h="394380" w="434751">
                <a:moveTo>
                  <a:pt x="0" y="0"/>
                </a:moveTo>
                <a:lnTo>
                  <a:pt x="434752" y="0"/>
                </a:lnTo>
                <a:lnTo>
                  <a:pt x="434752" y="394380"/>
                </a:lnTo>
                <a:lnTo>
                  <a:pt x="0" y="3943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823" t="0" r="-17823" b="0"/>
            </a:stretch>
          </a:blipFill>
        </p:spPr>
      </p:sp>
      <p:sp>
        <p:nvSpPr>
          <p:cNvPr name="AutoShape 36" id="36"/>
          <p:cNvSpPr/>
          <p:nvPr/>
        </p:nvSpPr>
        <p:spPr>
          <a:xfrm>
            <a:off x="13597539" y="4776568"/>
            <a:ext cx="382584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13597539" y="5945063"/>
            <a:ext cx="382584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3597511" y="7250058"/>
            <a:ext cx="382584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3597539" y="8532634"/>
            <a:ext cx="382584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3620543" y="3544268"/>
            <a:ext cx="382584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 flipH="false" flipV="false" rot="-5400000">
            <a:off x="-2996138" y="7747903"/>
            <a:ext cx="6133137" cy="6140813"/>
          </a:xfrm>
          <a:custGeom>
            <a:avLst/>
            <a:gdLst/>
            <a:ahLst/>
            <a:cxnLst/>
            <a:rect r="r" b="b" t="t" l="l"/>
            <a:pathLst>
              <a:path h="6140813" w="6133137">
                <a:moveTo>
                  <a:pt x="0" y="0"/>
                </a:moveTo>
                <a:lnTo>
                  <a:pt x="6133137" y="0"/>
                </a:lnTo>
                <a:lnTo>
                  <a:pt x="6133137" y="6140813"/>
                </a:lnTo>
                <a:lnTo>
                  <a:pt x="0" y="6140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594720" y="1626056"/>
            <a:ext cx="1627955" cy="1312867"/>
          </a:xfrm>
          <a:custGeom>
            <a:avLst/>
            <a:gdLst/>
            <a:ahLst/>
            <a:cxnLst/>
            <a:rect r="r" b="b" t="t" l="l"/>
            <a:pathLst>
              <a:path h="1312867" w="1627955">
                <a:moveTo>
                  <a:pt x="0" y="0"/>
                </a:moveTo>
                <a:lnTo>
                  <a:pt x="1627955" y="0"/>
                </a:lnTo>
                <a:lnTo>
                  <a:pt x="1627955" y="1312867"/>
                </a:lnTo>
                <a:lnTo>
                  <a:pt x="0" y="13128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119" y="8434661"/>
            <a:ext cx="4686491" cy="43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b="true" sz="2524" spc="118">
                <a:solidFill>
                  <a:srgbClr val="A2B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Virtual Reality (VR)</a:t>
            </a:r>
          </a:p>
        </p:txBody>
      </p:sp>
      <p:sp>
        <p:nvSpPr>
          <p:cNvPr name="AutoShape 3" id="3"/>
          <p:cNvSpPr/>
          <p:nvPr/>
        </p:nvSpPr>
        <p:spPr>
          <a:xfrm flipH="true">
            <a:off x="4362640" y="8482286"/>
            <a:ext cx="0" cy="10753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48119" y="9017204"/>
            <a:ext cx="3949270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7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Fully immersive digital environments via headsets.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-112021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80913" y="955758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00331" y="-5508642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059078" y="7244284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83881" y="1126590"/>
            <a:ext cx="8515835" cy="5865281"/>
          </a:xfrm>
          <a:custGeom>
            <a:avLst/>
            <a:gdLst/>
            <a:ahLst/>
            <a:cxnLst/>
            <a:rect r="r" b="b" t="t" l="l"/>
            <a:pathLst>
              <a:path h="5865281" w="8515835">
                <a:moveTo>
                  <a:pt x="0" y="0"/>
                </a:moveTo>
                <a:lnTo>
                  <a:pt x="8515834" y="0"/>
                </a:lnTo>
                <a:lnTo>
                  <a:pt x="8515834" y="5865281"/>
                </a:lnTo>
                <a:lnTo>
                  <a:pt x="0" y="58652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6166" y="1126590"/>
            <a:ext cx="8515835" cy="5865281"/>
          </a:xfrm>
          <a:custGeom>
            <a:avLst/>
            <a:gdLst/>
            <a:ahLst/>
            <a:cxnLst/>
            <a:rect r="r" b="b" t="t" l="l"/>
            <a:pathLst>
              <a:path h="5865281" w="8515835">
                <a:moveTo>
                  <a:pt x="0" y="0"/>
                </a:moveTo>
                <a:lnTo>
                  <a:pt x="8515835" y="0"/>
                </a:lnTo>
                <a:lnTo>
                  <a:pt x="8515835" y="5865281"/>
                </a:lnTo>
                <a:lnTo>
                  <a:pt x="0" y="5865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1296" y="334375"/>
            <a:ext cx="9340029" cy="53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8"/>
              </a:lnSpc>
            </a:pPr>
            <a:r>
              <a:rPr lang="en-US" b="true" sz="3191" spc="15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Meta’s Dominance in AR/VR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97390" y="9017204"/>
            <a:ext cx="437461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7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Fully immersive digital environments via headsets.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97390" y="8415611"/>
            <a:ext cx="4686491" cy="43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b="true" sz="2524" spc="118">
                <a:solidFill>
                  <a:srgbClr val="A2B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Augmented Reality (AR)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1296" y="7064807"/>
            <a:ext cx="8560704" cy="68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  <a:spcBef>
                <a:spcPct val="0"/>
              </a:spcBef>
            </a:pPr>
            <a:r>
              <a:rPr lang="en-US" b="true" sz="1992" spc="93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MetaQuest offers the most affordable mainstream VR headset - broad adoption at low cost.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83881" y="7066056"/>
            <a:ext cx="8515835" cy="68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  <a:spcBef>
                <a:spcPct val="0"/>
              </a:spcBef>
            </a:pPr>
            <a:r>
              <a:rPr lang="en-US" b="true" sz="1992" spc="93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Meta maintains dominant market share and shipment volume in immersive tech.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2021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80913" y="955758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24800" y="-4847630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22955" y="1595352"/>
            <a:ext cx="1879507" cy="1879507"/>
          </a:xfrm>
          <a:custGeom>
            <a:avLst/>
            <a:gdLst/>
            <a:ahLst/>
            <a:cxnLst/>
            <a:rect r="r" b="b" t="t" l="l"/>
            <a:pathLst>
              <a:path h="1879507" w="1879507">
                <a:moveTo>
                  <a:pt x="0" y="0"/>
                </a:moveTo>
                <a:lnTo>
                  <a:pt x="1879506" y="0"/>
                </a:lnTo>
                <a:lnTo>
                  <a:pt x="1879506" y="1879506"/>
                </a:lnTo>
                <a:lnTo>
                  <a:pt x="0" y="18795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41692" y="1842661"/>
            <a:ext cx="1384887" cy="1384887"/>
          </a:xfrm>
          <a:custGeom>
            <a:avLst/>
            <a:gdLst/>
            <a:ahLst/>
            <a:cxnLst/>
            <a:rect r="r" b="b" t="t" l="l"/>
            <a:pathLst>
              <a:path h="1384887" w="1384887">
                <a:moveTo>
                  <a:pt x="0" y="0"/>
                </a:moveTo>
                <a:lnTo>
                  <a:pt x="1384887" y="0"/>
                </a:lnTo>
                <a:lnTo>
                  <a:pt x="1384887" y="1384888"/>
                </a:lnTo>
                <a:lnTo>
                  <a:pt x="0" y="13848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65810" y="1499589"/>
            <a:ext cx="1881437" cy="2071032"/>
            <a:chOff x="0" y="0"/>
            <a:chExt cx="2508583" cy="2761375"/>
          </a:xfrm>
        </p:grpSpPr>
        <p:sp>
          <p:nvSpPr>
            <p:cNvPr name="Freeform 8" id="8"/>
            <p:cNvSpPr/>
            <p:nvPr/>
          </p:nvSpPr>
          <p:spPr>
            <a:xfrm flipH="false" flipV="false" rot="693335">
              <a:off x="326039" y="642524"/>
              <a:ext cx="1856505" cy="1607890"/>
            </a:xfrm>
            <a:custGeom>
              <a:avLst/>
              <a:gdLst/>
              <a:ahLst/>
              <a:cxnLst/>
              <a:rect r="r" b="b" t="t" l="l"/>
              <a:pathLst>
                <a:path h="1607890" w="1856505">
                  <a:moveTo>
                    <a:pt x="0" y="0"/>
                  </a:moveTo>
                  <a:lnTo>
                    <a:pt x="1856505" y="0"/>
                  </a:lnTo>
                  <a:lnTo>
                    <a:pt x="1856505" y="1607890"/>
                  </a:lnTo>
                  <a:lnTo>
                    <a:pt x="0" y="1607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08583" cy="2761375"/>
            </a:xfrm>
            <a:custGeom>
              <a:avLst/>
              <a:gdLst/>
              <a:ahLst/>
              <a:cxnLst/>
              <a:rect r="r" b="b" t="t" l="l"/>
              <a:pathLst>
                <a:path h="2761375" w="2508583">
                  <a:moveTo>
                    <a:pt x="0" y="0"/>
                  </a:moveTo>
                  <a:lnTo>
                    <a:pt x="2508583" y="0"/>
                  </a:lnTo>
                  <a:lnTo>
                    <a:pt x="2508583" y="2761375"/>
                  </a:lnTo>
                  <a:lnTo>
                    <a:pt x="0" y="2761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5048" t="0" r="-116533" b="-1509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-1260399"/>
            <a:ext cx="8274515" cy="11553097"/>
          </a:xfrm>
          <a:custGeom>
            <a:avLst/>
            <a:gdLst/>
            <a:ahLst/>
            <a:cxnLst/>
            <a:rect r="r" b="b" t="t" l="l"/>
            <a:pathLst>
              <a:path h="11553097" w="8274515">
                <a:moveTo>
                  <a:pt x="0" y="0"/>
                </a:moveTo>
                <a:lnTo>
                  <a:pt x="8274515" y="0"/>
                </a:lnTo>
                <a:lnTo>
                  <a:pt x="8274515" y="11553096"/>
                </a:lnTo>
                <a:lnTo>
                  <a:pt x="0" y="115530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7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173760" y="1937920"/>
            <a:ext cx="8756645" cy="5823169"/>
          </a:xfrm>
          <a:custGeom>
            <a:avLst/>
            <a:gdLst/>
            <a:ahLst/>
            <a:cxnLst/>
            <a:rect r="r" b="b" t="t" l="l"/>
            <a:pathLst>
              <a:path h="5823169" w="8756645">
                <a:moveTo>
                  <a:pt x="0" y="0"/>
                </a:moveTo>
                <a:lnTo>
                  <a:pt x="8756645" y="0"/>
                </a:lnTo>
                <a:lnTo>
                  <a:pt x="8756645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002600" y="4459965"/>
            <a:ext cx="4904481" cy="4414089"/>
            <a:chOff x="0" y="0"/>
            <a:chExt cx="1291715" cy="1162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1715" cy="1162558"/>
            </a:xfrm>
            <a:custGeom>
              <a:avLst/>
              <a:gdLst/>
              <a:ahLst/>
              <a:cxnLst/>
              <a:rect r="r" b="b" t="t" l="l"/>
              <a:pathLst>
                <a:path h="1162558" w="1291715">
                  <a:moveTo>
                    <a:pt x="37885" y="0"/>
                  </a:moveTo>
                  <a:lnTo>
                    <a:pt x="1253830" y="0"/>
                  </a:lnTo>
                  <a:cubicBezTo>
                    <a:pt x="1263878" y="0"/>
                    <a:pt x="1273514" y="3991"/>
                    <a:pt x="1280619" y="11096"/>
                  </a:cubicBezTo>
                  <a:cubicBezTo>
                    <a:pt x="1287724" y="18201"/>
                    <a:pt x="1291715" y="27837"/>
                    <a:pt x="1291715" y="37885"/>
                  </a:cubicBezTo>
                  <a:lnTo>
                    <a:pt x="1291715" y="1124673"/>
                  </a:lnTo>
                  <a:cubicBezTo>
                    <a:pt x="1291715" y="1134721"/>
                    <a:pt x="1287724" y="1144357"/>
                    <a:pt x="1280619" y="1151462"/>
                  </a:cubicBezTo>
                  <a:cubicBezTo>
                    <a:pt x="1273514" y="1158567"/>
                    <a:pt x="1263878" y="1162558"/>
                    <a:pt x="1253830" y="1162558"/>
                  </a:cubicBezTo>
                  <a:lnTo>
                    <a:pt x="37885" y="1162558"/>
                  </a:lnTo>
                  <a:cubicBezTo>
                    <a:pt x="27837" y="1162558"/>
                    <a:pt x="18201" y="1158567"/>
                    <a:pt x="11096" y="1151462"/>
                  </a:cubicBezTo>
                  <a:cubicBezTo>
                    <a:pt x="3991" y="1144357"/>
                    <a:pt x="0" y="1134721"/>
                    <a:pt x="0" y="1124673"/>
                  </a:cubicBezTo>
                  <a:lnTo>
                    <a:pt x="0" y="37885"/>
                  </a:lnTo>
                  <a:cubicBezTo>
                    <a:pt x="0" y="27837"/>
                    <a:pt x="3991" y="18201"/>
                    <a:pt x="11096" y="11096"/>
                  </a:cubicBezTo>
                  <a:cubicBezTo>
                    <a:pt x="18201" y="3991"/>
                    <a:pt x="27837" y="0"/>
                    <a:pt x="37885" y="0"/>
                  </a:cubicBezTo>
                  <a:close/>
                </a:path>
              </a:pathLst>
            </a:custGeom>
            <a:solidFill>
              <a:srgbClr val="000000">
                <a:alpha val="76863"/>
              </a:srgbClr>
            </a:solidFill>
            <a:ln w="19050" cap="rnd">
              <a:solidFill>
                <a:srgbClr val="FFFFFF">
                  <a:alpha val="76863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91715" cy="1200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7"/>
                </a:lnSpc>
              </a:pP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147331" y="4578087"/>
          <a:ext cx="4609600" cy="4143375"/>
        </p:xfrm>
        <a:graphic>
          <a:graphicData uri="http://schemas.openxmlformats.org/drawingml/2006/table">
            <a:tbl>
              <a:tblPr/>
              <a:tblGrid>
                <a:gridCol w="2743765"/>
                <a:gridCol w="1865836"/>
              </a:tblGrid>
              <a:tr h="591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DJI Drone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Retail Price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591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DJI Inspire 3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16,499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591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DJI Mavic 3 Pro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2,199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591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DJI Mavic 3 Classic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1,279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591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DJI Air 3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1,099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591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DJI Avata 2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999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591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DJI Mini 4 Pro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15"/>
                        </a:lnSpc>
                        <a:defRPr/>
                      </a:pPr>
                      <a:r>
                        <a:rPr lang="en-US" sz="2055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759</a:t>
                      </a:r>
                      <a:endParaRPr lang="en-US" sz="1100"/>
                    </a:p>
                  </a:txBody>
                  <a:tcPr marL="66675" marR="66675" marT="66675" marB="66675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Freeform 16" id="16"/>
          <p:cNvSpPr/>
          <p:nvPr/>
        </p:nvSpPr>
        <p:spPr>
          <a:xfrm flipH="false" flipV="false" rot="0">
            <a:off x="157408" y="8169453"/>
            <a:ext cx="2039652" cy="1633054"/>
          </a:xfrm>
          <a:custGeom>
            <a:avLst/>
            <a:gdLst/>
            <a:ahLst/>
            <a:cxnLst/>
            <a:rect r="r" b="b" t="t" l="l"/>
            <a:pathLst>
              <a:path h="1633054" w="2039652">
                <a:moveTo>
                  <a:pt x="0" y="0"/>
                </a:moveTo>
                <a:lnTo>
                  <a:pt x="2039652" y="0"/>
                </a:lnTo>
                <a:lnTo>
                  <a:pt x="2039652" y="1633054"/>
                </a:lnTo>
                <a:lnTo>
                  <a:pt x="0" y="16330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386913" y="7946173"/>
            <a:ext cx="6570566" cy="1039807"/>
            <a:chOff x="0" y="0"/>
            <a:chExt cx="1730519" cy="2738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30519" cy="273859"/>
            </a:xfrm>
            <a:custGeom>
              <a:avLst/>
              <a:gdLst/>
              <a:ahLst/>
              <a:cxnLst/>
              <a:rect r="r" b="b" t="t" l="l"/>
              <a:pathLst>
                <a:path h="273859" w="1730519">
                  <a:moveTo>
                    <a:pt x="60092" y="0"/>
                  </a:moveTo>
                  <a:lnTo>
                    <a:pt x="1670427" y="0"/>
                  </a:lnTo>
                  <a:cubicBezTo>
                    <a:pt x="1686365" y="0"/>
                    <a:pt x="1701649" y="6331"/>
                    <a:pt x="1712919" y="17601"/>
                  </a:cubicBezTo>
                  <a:cubicBezTo>
                    <a:pt x="1724188" y="28870"/>
                    <a:pt x="1730519" y="44155"/>
                    <a:pt x="1730519" y="60092"/>
                  </a:cubicBezTo>
                  <a:lnTo>
                    <a:pt x="1730519" y="213767"/>
                  </a:lnTo>
                  <a:cubicBezTo>
                    <a:pt x="1730519" y="229704"/>
                    <a:pt x="1724188" y="244989"/>
                    <a:pt x="1712919" y="256258"/>
                  </a:cubicBezTo>
                  <a:cubicBezTo>
                    <a:pt x="1701649" y="267528"/>
                    <a:pt x="1686365" y="273859"/>
                    <a:pt x="1670427" y="273859"/>
                  </a:cubicBezTo>
                  <a:lnTo>
                    <a:pt x="60092" y="273859"/>
                  </a:lnTo>
                  <a:cubicBezTo>
                    <a:pt x="44155" y="273859"/>
                    <a:pt x="28870" y="267528"/>
                    <a:pt x="17601" y="256258"/>
                  </a:cubicBezTo>
                  <a:cubicBezTo>
                    <a:pt x="6331" y="244989"/>
                    <a:pt x="0" y="229704"/>
                    <a:pt x="0" y="213767"/>
                  </a:cubicBezTo>
                  <a:lnTo>
                    <a:pt x="0" y="60092"/>
                  </a:lnTo>
                  <a:cubicBezTo>
                    <a:pt x="0" y="44155"/>
                    <a:pt x="6331" y="28870"/>
                    <a:pt x="17601" y="17601"/>
                  </a:cubicBezTo>
                  <a:cubicBezTo>
                    <a:pt x="28870" y="6331"/>
                    <a:pt x="44155" y="0"/>
                    <a:pt x="60092" y="0"/>
                  </a:cubicBezTo>
                  <a:close/>
                </a:path>
              </a:pathLst>
            </a:custGeom>
            <a:solidFill>
              <a:srgbClr val="006A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730519" cy="302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22021" y="3544310"/>
            <a:ext cx="5525226" cy="642576"/>
            <a:chOff x="0" y="0"/>
            <a:chExt cx="1455204" cy="1692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55204" cy="169238"/>
            </a:xfrm>
            <a:custGeom>
              <a:avLst/>
              <a:gdLst/>
              <a:ahLst/>
              <a:cxnLst/>
              <a:rect r="r" b="b" t="t" l="l"/>
              <a:pathLst>
                <a:path h="169238" w="1455204">
                  <a:moveTo>
                    <a:pt x="71461" y="0"/>
                  </a:moveTo>
                  <a:lnTo>
                    <a:pt x="1383743" y="0"/>
                  </a:lnTo>
                  <a:cubicBezTo>
                    <a:pt x="1402695" y="0"/>
                    <a:pt x="1420872" y="7529"/>
                    <a:pt x="1434273" y="20930"/>
                  </a:cubicBezTo>
                  <a:cubicBezTo>
                    <a:pt x="1447675" y="34332"/>
                    <a:pt x="1455204" y="52508"/>
                    <a:pt x="1455204" y="71461"/>
                  </a:cubicBezTo>
                  <a:lnTo>
                    <a:pt x="1455204" y="97777"/>
                  </a:lnTo>
                  <a:cubicBezTo>
                    <a:pt x="1455204" y="137244"/>
                    <a:pt x="1423209" y="169238"/>
                    <a:pt x="1383743" y="169238"/>
                  </a:cubicBezTo>
                  <a:lnTo>
                    <a:pt x="71461" y="169238"/>
                  </a:lnTo>
                  <a:cubicBezTo>
                    <a:pt x="31994" y="169238"/>
                    <a:pt x="0" y="137244"/>
                    <a:pt x="0" y="97777"/>
                  </a:cubicBezTo>
                  <a:lnTo>
                    <a:pt x="0" y="71461"/>
                  </a:lnTo>
                  <a:cubicBezTo>
                    <a:pt x="0" y="31994"/>
                    <a:pt x="31994" y="0"/>
                    <a:pt x="71461" y="0"/>
                  </a:cubicBezTo>
                  <a:close/>
                </a:path>
              </a:pathLst>
            </a:custGeom>
            <a:solidFill>
              <a:srgbClr val="006A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455204" cy="197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  <a:r>
                <a:rPr lang="en-US" b="true" sz="1992" spc="93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Current Drone Market Landscape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43932" y="588672"/>
            <a:ext cx="12480868" cy="5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8"/>
              </a:lnSpc>
            </a:pPr>
            <a:r>
              <a:rPr lang="en-US" b="true" sz="3491" spc="16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Advantage of being a Social Superpower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03103" y="8047522"/>
            <a:ext cx="5882916" cy="78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b="true" sz="2292" spc="10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Facebook leads globally, and Meta owns 3 of the top 5 platforms.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57636" y="9472128"/>
            <a:ext cx="14856768" cy="33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  <a:spcBef>
                <a:spcPct val="0"/>
              </a:spcBef>
            </a:pPr>
            <a:r>
              <a:rPr lang="en-US" b="true" sz="1992" spc="9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Meta’s social dominance + drone innovation = new revenue streams from content creators and beyond.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43" y="4668897"/>
            <a:ext cx="3238500" cy="4434853"/>
            <a:chOff x="0" y="0"/>
            <a:chExt cx="1006949" cy="1378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949" cy="1378932"/>
            </a:xfrm>
            <a:custGeom>
              <a:avLst/>
              <a:gdLst/>
              <a:ahLst/>
              <a:cxnLst/>
              <a:rect r="r" b="b" t="t" l="l"/>
              <a:pathLst>
                <a:path h="1378932" w="1006949">
                  <a:moveTo>
                    <a:pt x="28687" y="0"/>
                  </a:moveTo>
                  <a:lnTo>
                    <a:pt x="978262" y="0"/>
                  </a:lnTo>
                  <a:cubicBezTo>
                    <a:pt x="985870" y="0"/>
                    <a:pt x="993167" y="3022"/>
                    <a:pt x="998547" y="8402"/>
                  </a:cubicBezTo>
                  <a:cubicBezTo>
                    <a:pt x="1003927" y="13782"/>
                    <a:pt x="1006949" y="21079"/>
                    <a:pt x="1006949" y="28687"/>
                  </a:cubicBezTo>
                  <a:lnTo>
                    <a:pt x="1006949" y="1350245"/>
                  </a:lnTo>
                  <a:cubicBezTo>
                    <a:pt x="1006949" y="1366089"/>
                    <a:pt x="994106" y="1378932"/>
                    <a:pt x="978262" y="1378932"/>
                  </a:cubicBezTo>
                  <a:lnTo>
                    <a:pt x="28687" y="1378932"/>
                  </a:lnTo>
                  <a:cubicBezTo>
                    <a:pt x="21079" y="1378932"/>
                    <a:pt x="13782" y="1375910"/>
                    <a:pt x="8402" y="1370530"/>
                  </a:cubicBezTo>
                  <a:cubicBezTo>
                    <a:pt x="3022" y="1365150"/>
                    <a:pt x="0" y="1357853"/>
                    <a:pt x="0" y="1350245"/>
                  </a:cubicBezTo>
                  <a:lnTo>
                    <a:pt x="0" y="28687"/>
                  </a:lnTo>
                  <a:cubicBezTo>
                    <a:pt x="0" y="12844"/>
                    <a:pt x="12844" y="0"/>
                    <a:pt x="28687" y="0"/>
                  </a:cubicBezTo>
                  <a:close/>
                </a:path>
              </a:pathLst>
            </a:custGeom>
            <a:solidFill>
              <a:srgbClr val="CBE0D5">
                <a:alpha val="2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06949" cy="1407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30218" y="4668897"/>
            <a:ext cx="3238500" cy="3805862"/>
            <a:chOff x="0" y="0"/>
            <a:chExt cx="1006949" cy="11833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6949" cy="1183359"/>
            </a:xfrm>
            <a:custGeom>
              <a:avLst/>
              <a:gdLst/>
              <a:ahLst/>
              <a:cxnLst/>
              <a:rect r="r" b="b" t="t" l="l"/>
              <a:pathLst>
                <a:path h="1183359" w="1006949">
                  <a:moveTo>
                    <a:pt x="28687" y="0"/>
                  </a:moveTo>
                  <a:lnTo>
                    <a:pt x="978262" y="0"/>
                  </a:lnTo>
                  <a:cubicBezTo>
                    <a:pt x="985870" y="0"/>
                    <a:pt x="993167" y="3022"/>
                    <a:pt x="998547" y="8402"/>
                  </a:cubicBezTo>
                  <a:cubicBezTo>
                    <a:pt x="1003927" y="13782"/>
                    <a:pt x="1006949" y="21079"/>
                    <a:pt x="1006949" y="28687"/>
                  </a:cubicBezTo>
                  <a:lnTo>
                    <a:pt x="1006949" y="1154672"/>
                  </a:lnTo>
                  <a:cubicBezTo>
                    <a:pt x="1006949" y="1170516"/>
                    <a:pt x="994106" y="1183359"/>
                    <a:pt x="978262" y="1183359"/>
                  </a:cubicBezTo>
                  <a:lnTo>
                    <a:pt x="28687" y="1183359"/>
                  </a:lnTo>
                  <a:cubicBezTo>
                    <a:pt x="21079" y="1183359"/>
                    <a:pt x="13782" y="1180337"/>
                    <a:pt x="8402" y="1174957"/>
                  </a:cubicBezTo>
                  <a:cubicBezTo>
                    <a:pt x="3022" y="1169577"/>
                    <a:pt x="0" y="1162281"/>
                    <a:pt x="0" y="1154672"/>
                  </a:cubicBezTo>
                  <a:lnTo>
                    <a:pt x="0" y="28687"/>
                  </a:lnTo>
                  <a:cubicBezTo>
                    <a:pt x="0" y="12844"/>
                    <a:pt x="12844" y="0"/>
                    <a:pt x="286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23000"/>
                  </a:srgbClr>
                </a:gs>
                <a:gs pos="100000">
                  <a:srgbClr val="5700D8">
                    <a:alpha val="23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06949" cy="121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83993" y="4668897"/>
            <a:ext cx="3238500" cy="3805862"/>
            <a:chOff x="0" y="0"/>
            <a:chExt cx="1006949" cy="1183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949" cy="1183359"/>
            </a:xfrm>
            <a:custGeom>
              <a:avLst/>
              <a:gdLst/>
              <a:ahLst/>
              <a:cxnLst/>
              <a:rect r="r" b="b" t="t" l="l"/>
              <a:pathLst>
                <a:path h="1183359" w="1006949">
                  <a:moveTo>
                    <a:pt x="28687" y="0"/>
                  </a:moveTo>
                  <a:lnTo>
                    <a:pt x="978262" y="0"/>
                  </a:lnTo>
                  <a:cubicBezTo>
                    <a:pt x="985870" y="0"/>
                    <a:pt x="993167" y="3022"/>
                    <a:pt x="998547" y="8402"/>
                  </a:cubicBezTo>
                  <a:cubicBezTo>
                    <a:pt x="1003927" y="13782"/>
                    <a:pt x="1006949" y="21079"/>
                    <a:pt x="1006949" y="28687"/>
                  </a:cubicBezTo>
                  <a:lnTo>
                    <a:pt x="1006949" y="1154672"/>
                  </a:lnTo>
                  <a:cubicBezTo>
                    <a:pt x="1006949" y="1170516"/>
                    <a:pt x="994106" y="1183359"/>
                    <a:pt x="978262" y="1183359"/>
                  </a:cubicBezTo>
                  <a:lnTo>
                    <a:pt x="28687" y="1183359"/>
                  </a:lnTo>
                  <a:cubicBezTo>
                    <a:pt x="21079" y="1183359"/>
                    <a:pt x="13782" y="1180337"/>
                    <a:pt x="8402" y="1174957"/>
                  </a:cubicBezTo>
                  <a:cubicBezTo>
                    <a:pt x="3022" y="1169577"/>
                    <a:pt x="0" y="1162281"/>
                    <a:pt x="0" y="1154672"/>
                  </a:cubicBezTo>
                  <a:lnTo>
                    <a:pt x="0" y="28687"/>
                  </a:lnTo>
                  <a:cubicBezTo>
                    <a:pt x="0" y="12844"/>
                    <a:pt x="12844" y="0"/>
                    <a:pt x="286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23000"/>
                  </a:srgbClr>
                </a:gs>
                <a:gs pos="100000">
                  <a:srgbClr val="5700D8">
                    <a:alpha val="23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06949" cy="121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6055" y="4786534"/>
            <a:ext cx="3048000" cy="809625"/>
            <a:chOff x="0" y="0"/>
            <a:chExt cx="947717" cy="2517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7717" cy="251737"/>
            </a:xfrm>
            <a:custGeom>
              <a:avLst/>
              <a:gdLst/>
              <a:ahLst/>
              <a:cxnLst/>
              <a:rect r="r" b="b" t="t" l="l"/>
              <a:pathLst>
                <a:path h="251737" w="947717">
                  <a:moveTo>
                    <a:pt x="30480" y="0"/>
                  </a:moveTo>
                  <a:lnTo>
                    <a:pt x="917237" y="0"/>
                  </a:lnTo>
                  <a:cubicBezTo>
                    <a:pt x="925321" y="0"/>
                    <a:pt x="933073" y="3211"/>
                    <a:pt x="938790" y="8927"/>
                  </a:cubicBezTo>
                  <a:cubicBezTo>
                    <a:pt x="944506" y="14643"/>
                    <a:pt x="947717" y="22396"/>
                    <a:pt x="947717" y="30480"/>
                  </a:cubicBezTo>
                  <a:lnTo>
                    <a:pt x="947717" y="221257"/>
                  </a:lnTo>
                  <a:cubicBezTo>
                    <a:pt x="947717" y="238091"/>
                    <a:pt x="934071" y="251737"/>
                    <a:pt x="917237" y="251737"/>
                  </a:cubicBezTo>
                  <a:lnTo>
                    <a:pt x="30480" y="251737"/>
                  </a:lnTo>
                  <a:cubicBezTo>
                    <a:pt x="22396" y="251737"/>
                    <a:pt x="14643" y="248526"/>
                    <a:pt x="8927" y="242810"/>
                  </a:cubicBezTo>
                  <a:cubicBezTo>
                    <a:pt x="3211" y="237094"/>
                    <a:pt x="0" y="229341"/>
                    <a:pt x="0" y="221257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BAC6">
                    <a:alpha val="100000"/>
                  </a:srgbClr>
                </a:gs>
                <a:gs pos="50000">
                  <a:srgbClr val="008AD8">
                    <a:alpha val="100000"/>
                  </a:srgbClr>
                </a:gs>
                <a:gs pos="100000">
                  <a:srgbClr val="71D1B3">
                    <a:alpha val="755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47717" cy="28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97559" y="4786534"/>
            <a:ext cx="3048000" cy="809625"/>
            <a:chOff x="0" y="0"/>
            <a:chExt cx="947717" cy="2517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7717" cy="251737"/>
            </a:xfrm>
            <a:custGeom>
              <a:avLst/>
              <a:gdLst/>
              <a:ahLst/>
              <a:cxnLst/>
              <a:rect r="r" b="b" t="t" l="l"/>
              <a:pathLst>
                <a:path h="251737" w="947717">
                  <a:moveTo>
                    <a:pt x="30480" y="0"/>
                  </a:moveTo>
                  <a:lnTo>
                    <a:pt x="917237" y="0"/>
                  </a:lnTo>
                  <a:cubicBezTo>
                    <a:pt x="925321" y="0"/>
                    <a:pt x="933073" y="3211"/>
                    <a:pt x="938790" y="8927"/>
                  </a:cubicBezTo>
                  <a:cubicBezTo>
                    <a:pt x="944506" y="14643"/>
                    <a:pt x="947717" y="22396"/>
                    <a:pt x="947717" y="30480"/>
                  </a:cubicBezTo>
                  <a:lnTo>
                    <a:pt x="947717" y="221257"/>
                  </a:lnTo>
                  <a:cubicBezTo>
                    <a:pt x="947717" y="238091"/>
                    <a:pt x="934071" y="251737"/>
                    <a:pt x="917237" y="251737"/>
                  </a:cubicBezTo>
                  <a:lnTo>
                    <a:pt x="30480" y="251737"/>
                  </a:lnTo>
                  <a:cubicBezTo>
                    <a:pt x="22396" y="251737"/>
                    <a:pt x="14643" y="248526"/>
                    <a:pt x="8927" y="242810"/>
                  </a:cubicBezTo>
                  <a:cubicBezTo>
                    <a:pt x="3211" y="237094"/>
                    <a:pt x="0" y="229341"/>
                    <a:pt x="0" y="221257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47717" cy="28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39063" y="4786534"/>
            <a:ext cx="3048000" cy="809625"/>
            <a:chOff x="0" y="0"/>
            <a:chExt cx="947717" cy="2517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7717" cy="251737"/>
            </a:xfrm>
            <a:custGeom>
              <a:avLst/>
              <a:gdLst/>
              <a:ahLst/>
              <a:cxnLst/>
              <a:rect r="r" b="b" t="t" l="l"/>
              <a:pathLst>
                <a:path h="251737" w="947717">
                  <a:moveTo>
                    <a:pt x="30480" y="0"/>
                  </a:moveTo>
                  <a:lnTo>
                    <a:pt x="917237" y="0"/>
                  </a:lnTo>
                  <a:cubicBezTo>
                    <a:pt x="925321" y="0"/>
                    <a:pt x="933073" y="3211"/>
                    <a:pt x="938790" y="8927"/>
                  </a:cubicBezTo>
                  <a:cubicBezTo>
                    <a:pt x="944506" y="14643"/>
                    <a:pt x="947717" y="22396"/>
                    <a:pt x="947717" y="30480"/>
                  </a:cubicBezTo>
                  <a:lnTo>
                    <a:pt x="947717" y="221257"/>
                  </a:lnTo>
                  <a:cubicBezTo>
                    <a:pt x="947717" y="238091"/>
                    <a:pt x="934071" y="251737"/>
                    <a:pt x="917237" y="251737"/>
                  </a:cubicBezTo>
                  <a:lnTo>
                    <a:pt x="30480" y="251737"/>
                  </a:lnTo>
                  <a:cubicBezTo>
                    <a:pt x="22396" y="251737"/>
                    <a:pt x="14643" y="248526"/>
                    <a:pt x="8927" y="242810"/>
                  </a:cubicBezTo>
                  <a:cubicBezTo>
                    <a:pt x="3211" y="237094"/>
                    <a:pt x="0" y="229341"/>
                    <a:pt x="0" y="221257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47717" cy="28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6055" y="2954791"/>
            <a:ext cx="3028771" cy="1555899"/>
            <a:chOff x="0" y="0"/>
            <a:chExt cx="553964" cy="2845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3964" cy="284575"/>
            </a:xfrm>
            <a:custGeom>
              <a:avLst/>
              <a:gdLst/>
              <a:ahLst/>
              <a:cxnLst/>
              <a:rect r="r" b="b" t="t" l="l"/>
              <a:pathLst>
                <a:path h="284575" w="553964">
                  <a:moveTo>
                    <a:pt x="35786" y="0"/>
                  </a:moveTo>
                  <a:lnTo>
                    <a:pt x="518178" y="0"/>
                  </a:lnTo>
                  <a:cubicBezTo>
                    <a:pt x="537942" y="0"/>
                    <a:pt x="553964" y="16022"/>
                    <a:pt x="553964" y="35786"/>
                  </a:cubicBezTo>
                  <a:lnTo>
                    <a:pt x="553964" y="248789"/>
                  </a:lnTo>
                  <a:cubicBezTo>
                    <a:pt x="553964" y="268553"/>
                    <a:pt x="537942" y="284575"/>
                    <a:pt x="518178" y="284575"/>
                  </a:cubicBezTo>
                  <a:lnTo>
                    <a:pt x="35786" y="284575"/>
                  </a:lnTo>
                  <a:cubicBezTo>
                    <a:pt x="16022" y="284575"/>
                    <a:pt x="0" y="268553"/>
                    <a:pt x="0" y="248789"/>
                  </a:cubicBezTo>
                  <a:lnTo>
                    <a:pt x="0" y="35786"/>
                  </a:lnTo>
                  <a:cubicBezTo>
                    <a:pt x="0" y="16022"/>
                    <a:pt x="16022" y="0"/>
                    <a:pt x="3578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8439" r="0" b="-5622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198699" y="2954791"/>
            <a:ext cx="3076232" cy="1517941"/>
            <a:chOff x="0" y="0"/>
            <a:chExt cx="553964" cy="2733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3964" cy="273349"/>
            </a:xfrm>
            <a:custGeom>
              <a:avLst/>
              <a:gdLst/>
              <a:ahLst/>
              <a:cxnLst/>
              <a:rect r="r" b="b" t="t" l="l"/>
              <a:pathLst>
                <a:path h="273349" w="553964">
                  <a:moveTo>
                    <a:pt x="35234" y="0"/>
                  </a:moveTo>
                  <a:lnTo>
                    <a:pt x="518730" y="0"/>
                  </a:lnTo>
                  <a:cubicBezTo>
                    <a:pt x="538189" y="0"/>
                    <a:pt x="553964" y="15775"/>
                    <a:pt x="553964" y="35234"/>
                  </a:cubicBezTo>
                  <a:lnTo>
                    <a:pt x="553964" y="238115"/>
                  </a:lnTo>
                  <a:cubicBezTo>
                    <a:pt x="553964" y="257574"/>
                    <a:pt x="538189" y="273349"/>
                    <a:pt x="518730" y="273349"/>
                  </a:cubicBezTo>
                  <a:lnTo>
                    <a:pt x="35234" y="273349"/>
                  </a:lnTo>
                  <a:cubicBezTo>
                    <a:pt x="15775" y="273349"/>
                    <a:pt x="0" y="257574"/>
                    <a:pt x="0" y="238115"/>
                  </a:cubicBezTo>
                  <a:lnTo>
                    <a:pt x="0" y="35234"/>
                  </a:lnTo>
                  <a:cubicBezTo>
                    <a:pt x="0" y="15775"/>
                    <a:pt x="15775" y="0"/>
                    <a:pt x="35234" y="0"/>
                  </a:cubicBezTo>
                  <a:close/>
                </a:path>
              </a:pathLst>
            </a:custGeom>
            <a:blipFill>
              <a:blip r:embed="rId3"/>
              <a:stretch>
                <a:fillRect l="-4412" t="0" r="-4412" b="-9545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788803" y="2849917"/>
            <a:ext cx="3076232" cy="1622815"/>
            <a:chOff x="0" y="0"/>
            <a:chExt cx="553964" cy="2922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3964" cy="292234"/>
            </a:xfrm>
            <a:custGeom>
              <a:avLst/>
              <a:gdLst/>
              <a:ahLst/>
              <a:cxnLst/>
              <a:rect r="r" b="b" t="t" l="l"/>
              <a:pathLst>
                <a:path h="292234" w="553964">
                  <a:moveTo>
                    <a:pt x="35234" y="0"/>
                  </a:moveTo>
                  <a:lnTo>
                    <a:pt x="518730" y="0"/>
                  </a:lnTo>
                  <a:cubicBezTo>
                    <a:pt x="538189" y="0"/>
                    <a:pt x="553964" y="15775"/>
                    <a:pt x="553964" y="35234"/>
                  </a:cubicBezTo>
                  <a:lnTo>
                    <a:pt x="553964" y="257001"/>
                  </a:lnTo>
                  <a:cubicBezTo>
                    <a:pt x="553964" y="276460"/>
                    <a:pt x="538189" y="292234"/>
                    <a:pt x="518730" y="292234"/>
                  </a:cubicBezTo>
                  <a:lnTo>
                    <a:pt x="35234" y="292234"/>
                  </a:lnTo>
                  <a:cubicBezTo>
                    <a:pt x="15775" y="292234"/>
                    <a:pt x="0" y="276460"/>
                    <a:pt x="0" y="257001"/>
                  </a:cubicBezTo>
                  <a:lnTo>
                    <a:pt x="0" y="35234"/>
                  </a:lnTo>
                  <a:cubicBezTo>
                    <a:pt x="0" y="15775"/>
                    <a:pt x="15775" y="0"/>
                    <a:pt x="35234" y="0"/>
                  </a:cubicBezTo>
                  <a:close/>
                </a:path>
              </a:pathLst>
            </a:custGeom>
            <a:blipFill>
              <a:blip r:embed="rId4"/>
              <a:stretch>
                <a:fillRect l="-10400" t="0" r="-10400" b="-33674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62561" y="5740583"/>
            <a:ext cx="3041494" cy="334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8964" indent="-189482" lvl="1">
              <a:lnSpc>
                <a:spcPts val="2457"/>
              </a:lnSpc>
              <a:buFont typeface="Arial"/>
              <a:buChar char="•"/>
            </a:pP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Syncs drone footage with POV content</a:t>
            </a:r>
          </a:p>
          <a:p>
            <a:pPr algn="l" marL="378964" indent="-189482" lvl="1">
              <a:lnSpc>
                <a:spcPts val="2457"/>
              </a:lnSpc>
              <a:buFont typeface="Arial"/>
              <a:buChar char="•"/>
            </a:pP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Instant</a:t>
            </a: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uploads to social platforms</a:t>
            </a:r>
          </a:p>
          <a:p>
            <a:pPr algn="l" marL="378964" indent="-189482" lvl="1">
              <a:lnSpc>
                <a:spcPts val="2457"/>
              </a:lnSpc>
              <a:buFont typeface="Arial"/>
              <a:buChar char="•"/>
            </a:pP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formats for vlogs, travel, and events</a:t>
            </a:r>
          </a:p>
          <a:p>
            <a:pPr algn="l" marL="378964" indent="-189482" lvl="1">
              <a:lnSpc>
                <a:spcPts val="2457"/>
              </a:lnSpc>
              <a:buFont typeface="Arial"/>
              <a:buChar char="•"/>
            </a:pP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Higher engagement with multi-angle streaming</a:t>
            </a:r>
          </a:p>
          <a:p>
            <a:pPr algn="l">
              <a:lnSpc>
                <a:spcPts val="245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086485" y="754261"/>
            <a:ext cx="12480868" cy="77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8"/>
              </a:lnSpc>
            </a:pPr>
            <a:r>
              <a:rPr lang="en-US" b="true" sz="4591" spc="21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MetaSky in Action: Who Benefits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0" y="-112021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512290" y="8893859"/>
            <a:ext cx="715559" cy="1823081"/>
          </a:xfrm>
          <a:custGeom>
            <a:avLst/>
            <a:gdLst/>
            <a:ahLst/>
            <a:cxnLst/>
            <a:rect r="r" b="b" t="t" l="l"/>
            <a:pathLst>
              <a:path h="1823081" w="715559">
                <a:moveTo>
                  <a:pt x="0" y="0"/>
                </a:moveTo>
                <a:lnTo>
                  <a:pt x="715559" y="0"/>
                </a:lnTo>
                <a:lnTo>
                  <a:pt x="715559" y="1823081"/>
                </a:lnTo>
                <a:lnTo>
                  <a:pt x="0" y="18230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74730" y="-5508642"/>
            <a:ext cx="8348111" cy="8358560"/>
          </a:xfrm>
          <a:custGeom>
            <a:avLst/>
            <a:gdLst/>
            <a:ahLst/>
            <a:cxnLst/>
            <a:rect r="r" b="b" t="t" l="l"/>
            <a:pathLst>
              <a:path h="8358560" w="8348111">
                <a:moveTo>
                  <a:pt x="0" y="0"/>
                </a:moveTo>
                <a:lnTo>
                  <a:pt x="8348111" y="0"/>
                </a:lnTo>
                <a:lnTo>
                  <a:pt x="8348111" y="8358559"/>
                </a:lnTo>
                <a:lnTo>
                  <a:pt x="0" y="8358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4630133" y="7038660"/>
            <a:ext cx="7590139" cy="7599638"/>
          </a:xfrm>
          <a:custGeom>
            <a:avLst/>
            <a:gdLst/>
            <a:ahLst/>
            <a:cxnLst/>
            <a:rect r="r" b="b" t="t" l="l"/>
            <a:pathLst>
              <a:path h="7599638" w="7590139">
                <a:moveTo>
                  <a:pt x="0" y="0"/>
                </a:moveTo>
                <a:lnTo>
                  <a:pt x="7590139" y="0"/>
                </a:lnTo>
                <a:lnTo>
                  <a:pt x="7590139" y="7599639"/>
                </a:lnTo>
                <a:lnTo>
                  <a:pt x="0" y="7599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1237769" y="4668897"/>
            <a:ext cx="3238500" cy="3805862"/>
            <a:chOff x="0" y="0"/>
            <a:chExt cx="1006949" cy="11833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6949" cy="1183359"/>
            </a:xfrm>
            <a:custGeom>
              <a:avLst/>
              <a:gdLst/>
              <a:ahLst/>
              <a:cxnLst/>
              <a:rect r="r" b="b" t="t" l="l"/>
              <a:pathLst>
                <a:path h="1183359" w="1006949">
                  <a:moveTo>
                    <a:pt x="28687" y="0"/>
                  </a:moveTo>
                  <a:lnTo>
                    <a:pt x="978262" y="0"/>
                  </a:lnTo>
                  <a:cubicBezTo>
                    <a:pt x="985870" y="0"/>
                    <a:pt x="993167" y="3022"/>
                    <a:pt x="998547" y="8402"/>
                  </a:cubicBezTo>
                  <a:cubicBezTo>
                    <a:pt x="1003927" y="13782"/>
                    <a:pt x="1006949" y="21079"/>
                    <a:pt x="1006949" y="28687"/>
                  </a:cubicBezTo>
                  <a:lnTo>
                    <a:pt x="1006949" y="1154672"/>
                  </a:lnTo>
                  <a:cubicBezTo>
                    <a:pt x="1006949" y="1170516"/>
                    <a:pt x="994106" y="1183359"/>
                    <a:pt x="978262" y="1183359"/>
                  </a:cubicBezTo>
                  <a:lnTo>
                    <a:pt x="28687" y="1183359"/>
                  </a:lnTo>
                  <a:cubicBezTo>
                    <a:pt x="21079" y="1183359"/>
                    <a:pt x="13782" y="1180337"/>
                    <a:pt x="8402" y="1174957"/>
                  </a:cubicBezTo>
                  <a:cubicBezTo>
                    <a:pt x="3022" y="1169577"/>
                    <a:pt x="0" y="1162281"/>
                    <a:pt x="0" y="1154672"/>
                  </a:cubicBezTo>
                  <a:lnTo>
                    <a:pt x="0" y="28687"/>
                  </a:lnTo>
                  <a:cubicBezTo>
                    <a:pt x="0" y="12844"/>
                    <a:pt x="12844" y="0"/>
                    <a:pt x="286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23000"/>
                  </a:srgbClr>
                </a:gs>
                <a:gs pos="100000">
                  <a:srgbClr val="5700D8">
                    <a:alpha val="23000"/>
                  </a:srgbClr>
                </a:gs>
              </a:gsLst>
              <a:lin ang="270000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006949" cy="121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91544" y="4668897"/>
            <a:ext cx="3238500" cy="3805862"/>
            <a:chOff x="0" y="0"/>
            <a:chExt cx="1006949" cy="11833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949" cy="1183359"/>
            </a:xfrm>
            <a:custGeom>
              <a:avLst/>
              <a:gdLst/>
              <a:ahLst/>
              <a:cxnLst/>
              <a:rect r="r" b="b" t="t" l="l"/>
              <a:pathLst>
                <a:path h="1183359" w="1006949">
                  <a:moveTo>
                    <a:pt x="28687" y="0"/>
                  </a:moveTo>
                  <a:lnTo>
                    <a:pt x="978262" y="0"/>
                  </a:lnTo>
                  <a:cubicBezTo>
                    <a:pt x="985870" y="0"/>
                    <a:pt x="993167" y="3022"/>
                    <a:pt x="998547" y="8402"/>
                  </a:cubicBezTo>
                  <a:cubicBezTo>
                    <a:pt x="1003927" y="13782"/>
                    <a:pt x="1006949" y="21079"/>
                    <a:pt x="1006949" y="28687"/>
                  </a:cubicBezTo>
                  <a:lnTo>
                    <a:pt x="1006949" y="1154672"/>
                  </a:lnTo>
                  <a:cubicBezTo>
                    <a:pt x="1006949" y="1170516"/>
                    <a:pt x="994106" y="1183359"/>
                    <a:pt x="978262" y="1183359"/>
                  </a:cubicBezTo>
                  <a:lnTo>
                    <a:pt x="28687" y="1183359"/>
                  </a:lnTo>
                  <a:cubicBezTo>
                    <a:pt x="21079" y="1183359"/>
                    <a:pt x="13782" y="1180337"/>
                    <a:pt x="8402" y="1174957"/>
                  </a:cubicBezTo>
                  <a:cubicBezTo>
                    <a:pt x="3022" y="1169577"/>
                    <a:pt x="0" y="1162281"/>
                    <a:pt x="0" y="1154672"/>
                  </a:cubicBezTo>
                  <a:lnTo>
                    <a:pt x="0" y="28687"/>
                  </a:lnTo>
                  <a:cubicBezTo>
                    <a:pt x="0" y="12844"/>
                    <a:pt x="12844" y="0"/>
                    <a:pt x="286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23000"/>
                  </a:srgbClr>
                </a:gs>
                <a:gs pos="100000">
                  <a:srgbClr val="5700D8">
                    <a:alpha val="23000"/>
                  </a:srgbClr>
                </a:gs>
              </a:gsLst>
              <a:lin ang="27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06949" cy="1211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51118" y="4786534"/>
            <a:ext cx="3048000" cy="809625"/>
            <a:chOff x="0" y="0"/>
            <a:chExt cx="947717" cy="25173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47717" cy="251737"/>
            </a:xfrm>
            <a:custGeom>
              <a:avLst/>
              <a:gdLst/>
              <a:ahLst/>
              <a:cxnLst/>
              <a:rect r="r" b="b" t="t" l="l"/>
              <a:pathLst>
                <a:path h="251737" w="947717">
                  <a:moveTo>
                    <a:pt x="30480" y="0"/>
                  </a:moveTo>
                  <a:lnTo>
                    <a:pt x="917237" y="0"/>
                  </a:lnTo>
                  <a:cubicBezTo>
                    <a:pt x="925321" y="0"/>
                    <a:pt x="933073" y="3211"/>
                    <a:pt x="938790" y="8927"/>
                  </a:cubicBezTo>
                  <a:cubicBezTo>
                    <a:pt x="944506" y="14643"/>
                    <a:pt x="947717" y="22396"/>
                    <a:pt x="947717" y="30480"/>
                  </a:cubicBezTo>
                  <a:lnTo>
                    <a:pt x="947717" y="221257"/>
                  </a:lnTo>
                  <a:cubicBezTo>
                    <a:pt x="947717" y="238091"/>
                    <a:pt x="934071" y="251737"/>
                    <a:pt x="917237" y="251737"/>
                  </a:cubicBezTo>
                  <a:lnTo>
                    <a:pt x="30480" y="251737"/>
                  </a:lnTo>
                  <a:cubicBezTo>
                    <a:pt x="22396" y="251737"/>
                    <a:pt x="14643" y="248526"/>
                    <a:pt x="8927" y="242810"/>
                  </a:cubicBezTo>
                  <a:cubicBezTo>
                    <a:pt x="3211" y="237094"/>
                    <a:pt x="0" y="229341"/>
                    <a:pt x="0" y="221257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47717" cy="28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822070" y="4786534"/>
            <a:ext cx="3048000" cy="809625"/>
            <a:chOff x="0" y="0"/>
            <a:chExt cx="947717" cy="25173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47717" cy="251737"/>
            </a:xfrm>
            <a:custGeom>
              <a:avLst/>
              <a:gdLst/>
              <a:ahLst/>
              <a:cxnLst/>
              <a:rect r="r" b="b" t="t" l="l"/>
              <a:pathLst>
                <a:path h="251737" w="947717">
                  <a:moveTo>
                    <a:pt x="30480" y="0"/>
                  </a:moveTo>
                  <a:lnTo>
                    <a:pt x="917237" y="0"/>
                  </a:lnTo>
                  <a:cubicBezTo>
                    <a:pt x="925321" y="0"/>
                    <a:pt x="933073" y="3211"/>
                    <a:pt x="938790" y="8927"/>
                  </a:cubicBezTo>
                  <a:cubicBezTo>
                    <a:pt x="944506" y="14643"/>
                    <a:pt x="947717" y="22396"/>
                    <a:pt x="947717" y="30480"/>
                  </a:cubicBezTo>
                  <a:lnTo>
                    <a:pt x="947717" y="221257"/>
                  </a:lnTo>
                  <a:cubicBezTo>
                    <a:pt x="947717" y="238091"/>
                    <a:pt x="934071" y="251737"/>
                    <a:pt x="917237" y="251737"/>
                  </a:cubicBezTo>
                  <a:lnTo>
                    <a:pt x="30480" y="251737"/>
                  </a:lnTo>
                  <a:cubicBezTo>
                    <a:pt x="22396" y="251737"/>
                    <a:pt x="14643" y="248526"/>
                    <a:pt x="8927" y="242810"/>
                  </a:cubicBezTo>
                  <a:cubicBezTo>
                    <a:pt x="3211" y="237094"/>
                    <a:pt x="0" y="229341"/>
                    <a:pt x="0" y="221257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47717" cy="280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283509" y="2849917"/>
            <a:ext cx="3076232" cy="1622815"/>
            <a:chOff x="0" y="0"/>
            <a:chExt cx="553964" cy="2922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53964" cy="292234"/>
            </a:xfrm>
            <a:custGeom>
              <a:avLst/>
              <a:gdLst/>
              <a:ahLst/>
              <a:cxnLst/>
              <a:rect r="r" b="b" t="t" l="l"/>
              <a:pathLst>
                <a:path h="292234" w="553964">
                  <a:moveTo>
                    <a:pt x="35234" y="0"/>
                  </a:moveTo>
                  <a:lnTo>
                    <a:pt x="518730" y="0"/>
                  </a:lnTo>
                  <a:cubicBezTo>
                    <a:pt x="538189" y="0"/>
                    <a:pt x="553964" y="15775"/>
                    <a:pt x="553964" y="35234"/>
                  </a:cubicBezTo>
                  <a:lnTo>
                    <a:pt x="553964" y="257001"/>
                  </a:lnTo>
                  <a:cubicBezTo>
                    <a:pt x="553964" y="276460"/>
                    <a:pt x="538189" y="292234"/>
                    <a:pt x="518730" y="292234"/>
                  </a:cubicBezTo>
                  <a:lnTo>
                    <a:pt x="35234" y="292234"/>
                  </a:lnTo>
                  <a:cubicBezTo>
                    <a:pt x="15775" y="292234"/>
                    <a:pt x="0" y="276460"/>
                    <a:pt x="0" y="257001"/>
                  </a:cubicBezTo>
                  <a:lnTo>
                    <a:pt x="0" y="35234"/>
                  </a:lnTo>
                  <a:cubicBezTo>
                    <a:pt x="0" y="15775"/>
                    <a:pt x="15775" y="0"/>
                    <a:pt x="35234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3147" r="0" b="-13147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778842" y="2849917"/>
            <a:ext cx="3076232" cy="1622815"/>
            <a:chOff x="0" y="0"/>
            <a:chExt cx="553964" cy="2922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53964" cy="292234"/>
            </a:xfrm>
            <a:custGeom>
              <a:avLst/>
              <a:gdLst/>
              <a:ahLst/>
              <a:cxnLst/>
              <a:rect r="r" b="b" t="t" l="l"/>
              <a:pathLst>
                <a:path h="292234" w="553964">
                  <a:moveTo>
                    <a:pt x="35234" y="0"/>
                  </a:moveTo>
                  <a:lnTo>
                    <a:pt x="518730" y="0"/>
                  </a:lnTo>
                  <a:cubicBezTo>
                    <a:pt x="538189" y="0"/>
                    <a:pt x="553964" y="15775"/>
                    <a:pt x="553964" y="35234"/>
                  </a:cubicBezTo>
                  <a:lnTo>
                    <a:pt x="553964" y="257001"/>
                  </a:lnTo>
                  <a:cubicBezTo>
                    <a:pt x="553964" y="276460"/>
                    <a:pt x="538189" y="292234"/>
                    <a:pt x="518730" y="292234"/>
                  </a:cubicBezTo>
                  <a:lnTo>
                    <a:pt x="35234" y="292234"/>
                  </a:lnTo>
                  <a:cubicBezTo>
                    <a:pt x="15775" y="292234"/>
                    <a:pt x="0" y="276460"/>
                    <a:pt x="0" y="257001"/>
                  </a:cubicBezTo>
                  <a:lnTo>
                    <a:pt x="0" y="35234"/>
                  </a:lnTo>
                  <a:cubicBezTo>
                    <a:pt x="0" y="15775"/>
                    <a:pt x="15775" y="0"/>
                    <a:pt x="35234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21335" r="0" b="-6822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62561" y="1816367"/>
            <a:ext cx="3041494" cy="957449"/>
            <a:chOff x="0" y="0"/>
            <a:chExt cx="945694" cy="2977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45694" cy="297700"/>
            </a:xfrm>
            <a:custGeom>
              <a:avLst/>
              <a:gdLst/>
              <a:ahLst/>
              <a:cxnLst/>
              <a:rect r="r" b="b" t="t" l="l"/>
              <a:pathLst>
                <a:path h="297700" w="945694">
                  <a:moveTo>
                    <a:pt x="30545" y="0"/>
                  </a:moveTo>
                  <a:lnTo>
                    <a:pt x="915149" y="0"/>
                  </a:lnTo>
                  <a:cubicBezTo>
                    <a:pt x="923250" y="0"/>
                    <a:pt x="931019" y="3218"/>
                    <a:pt x="936748" y="8946"/>
                  </a:cubicBezTo>
                  <a:cubicBezTo>
                    <a:pt x="942476" y="14675"/>
                    <a:pt x="945694" y="22444"/>
                    <a:pt x="945694" y="30545"/>
                  </a:cubicBezTo>
                  <a:lnTo>
                    <a:pt x="945694" y="267155"/>
                  </a:lnTo>
                  <a:cubicBezTo>
                    <a:pt x="945694" y="275256"/>
                    <a:pt x="942476" y="283026"/>
                    <a:pt x="936748" y="288754"/>
                  </a:cubicBezTo>
                  <a:cubicBezTo>
                    <a:pt x="931019" y="294482"/>
                    <a:pt x="923250" y="297700"/>
                    <a:pt x="915149" y="297700"/>
                  </a:cubicBezTo>
                  <a:lnTo>
                    <a:pt x="30545" y="297700"/>
                  </a:lnTo>
                  <a:cubicBezTo>
                    <a:pt x="22444" y="297700"/>
                    <a:pt x="14675" y="294482"/>
                    <a:pt x="8946" y="288754"/>
                  </a:cubicBezTo>
                  <a:cubicBezTo>
                    <a:pt x="3218" y="283026"/>
                    <a:pt x="0" y="275256"/>
                    <a:pt x="0" y="267155"/>
                  </a:cubicBezTo>
                  <a:lnTo>
                    <a:pt x="0" y="30545"/>
                  </a:lnTo>
                  <a:cubicBezTo>
                    <a:pt x="0" y="22444"/>
                    <a:pt x="3218" y="14675"/>
                    <a:pt x="8946" y="8946"/>
                  </a:cubicBezTo>
                  <a:cubicBezTo>
                    <a:pt x="14675" y="3218"/>
                    <a:pt x="22444" y="0"/>
                    <a:pt x="30545" y="0"/>
                  </a:cubicBezTo>
                  <a:close/>
                </a:path>
              </a:pathLst>
            </a:custGeom>
            <a:solidFill>
              <a:srgbClr val="CBE0D5">
                <a:alpha val="22745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45694" cy="32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130218" y="8890792"/>
            <a:ext cx="12139135" cy="1183250"/>
            <a:chOff x="0" y="0"/>
            <a:chExt cx="3197138" cy="3116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97139" cy="311638"/>
            </a:xfrm>
            <a:custGeom>
              <a:avLst/>
              <a:gdLst/>
              <a:ahLst/>
              <a:cxnLst/>
              <a:rect r="r" b="b" t="t" l="l"/>
              <a:pathLst>
                <a:path h="311638" w="3197139">
                  <a:moveTo>
                    <a:pt x="32526" y="0"/>
                  </a:moveTo>
                  <a:lnTo>
                    <a:pt x="3164612" y="0"/>
                  </a:lnTo>
                  <a:cubicBezTo>
                    <a:pt x="3173239" y="0"/>
                    <a:pt x="3181512" y="3427"/>
                    <a:pt x="3187612" y="9527"/>
                  </a:cubicBezTo>
                  <a:cubicBezTo>
                    <a:pt x="3193712" y="15626"/>
                    <a:pt x="3197139" y="23900"/>
                    <a:pt x="3197139" y="32526"/>
                  </a:cubicBezTo>
                  <a:lnTo>
                    <a:pt x="3197139" y="279112"/>
                  </a:lnTo>
                  <a:cubicBezTo>
                    <a:pt x="3197139" y="287738"/>
                    <a:pt x="3193712" y="296011"/>
                    <a:pt x="3187612" y="302111"/>
                  </a:cubicBezTo>
                  <a:cubicBezTo>
                    <a:pt x="3181512" y="308211"/>
                    <a:pt x="3173239" y="311638"/>
                    <a:pt x="3164612" y="311638"/>
                  </a:cubicBezTo>
                  <a:lnTo>
                    <a:pt x="32526" y="311638"/>
                  </a:lnTo>
                  <a:cubicBezTo>
                    <a:pt x="14562" y="311638"/>
                    <a:pt x="0" y="297075"/>
                    <a:pt x="0" y="279112"/>
                  </a:cubicBezTo>
                  <a:lnTo>
                    <a:pt x="0" y="32526"/>
                  </a:lnTo>
                  <a:cubicBezTo>
                    <a:pt x="0" y="23900"/>
                    <a:pt x="3427" y="15626"/>
                    <a:pt x="9527" y="9527"/>
                  </a:cubicBezTo>
                  <a:cubicBezTo>
                    <a:pt x="15626" y="3427"/>
                    <a:pt x="23900" y="0"/>
                    <a:pt x="32526" y="0"/>
                  </a:cubicBezTo>
                  <a:close/>
                </a:path>
              </a:pathLst>
            </a:custGeom>
            <a:solidFill>
              <a:srgbClr val="8D2C9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3197138" cy="36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57"/>
                </a:lnSpc>
              </a:pPr>
              <a:r>
                <a:rPr lang="en-US" b="true" sz="2755" spc="12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MetaSky expands Meta’s impact - from creators to communities, entertainment to emergency response.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4426173" y="5892983"/>
            <a:ext cx="2707668" cy="258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Thermal imaging and live aerial views</a:t>
            </a:r>
          </a:p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Real-time object tagging a</a:t>
            </a: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nd tracking</a:t>
            </a:r>
          </a:p>
          <a:p>
            <a:pPr algn="l">
              <a:lnSpc>
                <a:spcPts val="2597"/>
              </a:lnSpc>
            </a:pPr>
          </a:p>
          <a:p>
            <a:pPr algn="l">
              <a:lnSpc>
                <a:spcPts val="2597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7797343" y="5892983"/>
            <a:ext cx="2869529" cy="1610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Crop monitoring</a:t>
            </a:r>
          </a:p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Animal tracking</a:t>
            </a:r>
          </a:p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Irrigation</a:t>
            </a: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analysis </a:t>
            </a:r>
          </a:p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Wildfire detection</a:t>
            </a:r>
          </a:p>
          <a:p>
            <a:pPr algn="l">
              <a:lnSpc>
                <a:spcPts val="2597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773449" y="4870864"/>
            <a:ext cx="2670969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Influencers, Creators, &amp; Leisure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404825" y="4888614"/>
            <a:ext cx="272901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Search &amp; Rescue Teams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981708" y="4870864"/>
            <a:ext cx="268516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Farmers &amp; Environmentalists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532093" y="5892983"/>
            <a:ext cx="2421178" cy="225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3D mapping</a:t>
            </a:r>
          </a:p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Construction tracking</a:t>
            </a:r>
          </a:p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 simulatio</a:t>
            </a: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ns of future builds</a:t>
            </a:r>
          </a:p>
          <a:p>
            <a:pPr algn="l">
              <a:lnSpc>
                <a:spcPts val="2597"/>
              </a:lnSpc>
            </a:pPr>
          </a:p>
          <a:p>
            <a:pPr algn="l">
              <a:lnSpc>
                <a:spcPts val="2597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15200169" y="5892983"/>
            <a:ext cx="2573624" cy="258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Drone-guided tours</a:t>
            </a: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AR overlays</a:t>
            </a:r>
          </a:p>
          <a:p>
            <a:pPr algn="l" marL="400554" indent="-200277" lvl="1">
              <a:lnSpc>
                <a:spcPts val="2597"/>
              </a:lnSpc>
              <a:buFont typeface="Arial"/>
              <a:buChar char="•"/>
            </a:pPr>
            <a:r>
              <a:rPr lang="en-US" sz="1855" spc="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Live-streamed lessons and immersive learning</a:t>
            </a:r>
          </a:p>
          <a:p>
            <a:pPr algn="l">
              <a:lnSpc>
                <a:spcPts val="2597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11514437" y="4888644"/>
            <a:ext cx="268516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Urban Planners &amp; Developers 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047769" y="4888644"/>
            <a:ext cx="275075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8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Tourists, Educators, &amp; AR Explorers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73449" y="1315221"/>
            <a:ext cx="266566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B4E4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</a:t>
            </a:r>
            <a:r>
              <a:rPr lang="en-US" b="true" sz="2199">
                <a:solidFill>
                  <a:srgbClr val="B4E4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sting Meta Users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769333" y="1780627"/>
            <a:ext cx="10419096" cy="6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2"/>
              </a:lnSpc>
            </a:pPr>
            <a:r>
              <a:rPr lang="en-US" sz="3851" b="true">
                <a:solidFill>
                  <a:srgbClr val="B4E4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</a:t>
            </a:r>
            <a:r>
              <a:rPr lang="en-US" b="true" sz="3851">
                <a:solidFill>
                  <a:srgbClr val="B4E4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Target User Segments &amp; Impact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33652" y="1822084"/>
            <a:ext cx="2788363" cy="9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Seamless integration</a:t>
            </a: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into Meta’s immersive ecosystem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34011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5718" y="-852037"/>
            <a:ext cx="8274515" cy="11553097"/>
          </a:xfrm>
          <a:custGeom>
            <a:avLst/>
            <a:gdLst/>
            <a:ahLst/>
            <a:cxnLst/>
            <a:rect r="r" b="b" t="t" l="l"/>
            <a:pathLst>
              <a:path h="11553097" w="8274515">
                <a:moveTo>
                  <a:pt x="0" y="0"/>
                </a:moveTo>
                <a:lnTo>
                  <a:pt x="8274515" y="0"/>
                </a:lnTo>
                <a:lnTo>
                  <a:pt x="8274515" y="11553096"/>
                </a:lnTo>
                <a:lnTo>
                  <a:pt x="0" y="11553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604712" y="2736755"/>
            <a:ext cx="5598370" cy="5803142"/>
            <a:chOff x="0" y="0"/>
            <a:chExt cx="1474468" cy="152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4468" cy="1528400"/>
            </a:xfrm>
            <a:custGeom>
              <a:avLst/>
              <a:gdLst/>
              <a:ahLst/>
              <a:cxnLst/>
              <a:rect r="r" b="b" t="t" l="l"/>
              <a:pathLst>
                <a:path h="1528400" w="1474468">
                  <a:moveTo>
                    <a:pt x="33189" y="0"/>
                  </a:moveTo>
                  <a:lnTo>
                    <a:pt x="1441278" y="0"/>
                  </a:lnTo>
                  <a:cubicBezTo>
                    <a:pt x="1450081" y="0"/>
                    <a:pt x="1458523" y="3497"/>
                    <a:pt x="1464747" y="9721"/>
                  </a:cubicBezTo>
                  <a:cubicBezTo>
                    <a:pt x="1470971" y="15945"/>
                    <a:pt x="1474468" y="24387"/>
                    <a:pt x="1474468" y="33189"/>
                  </a:cubicBezTo>
                  <a:lnTo>
                    <a:pt x="1474468" y="1495210"/>
                  </a:lnTo>
                  <a:cubicBezTo>
                    <a:pt x="1474468" y="1504013"/>
                    <a:pt x="1470971" y="1512454"/>
                    <a:pt x="1464747" y="1518679"/>
                  </a:cubicBezTo>
                  <a:cubicBezTo>
                    <a:pt x="1458523" y="1524903"/>
                    <a:pt x="1450081" y="1528400"/>
                    <a:pt x="1441278" y="1528400"/>
                  </a:cubicBezTo>
                  <a:lnTo>
                    <a:pt x="33189" y="1528400"/>
                  </a:lnTo>
                  <a:cubicBezTo>
                    <a:pt x="14859" y="1528400"/>
                    <a:pt x="0" y="1513540"/>
                    <a:pt x="0" y="1495210"/>
                  </a:cubicBezTo>
                  <a:lnTo>
                    <a:pt x="0" y="33189"/>
                  </a:lnTo>
                  <a:cubicBezTo>
                    <a:pt x="0" y="24387"/>
                    <a:pt x="3497" y="15945"/>
                    <a:pt x="9721" y="9721"/>
                  </a:cubicBezTo>
                  <a:cubicBezTo>
                    <a:pt x="15945" y="3497"/>
                    <a:pt x="24387" y="0"/>
                    <a:pt x="33189" y="0"/>
                  </a:cubicBezTo>
                  <a:close/>
                </a:path>
              </a:pathLst>
            </a:custGeom>
            <a:solidFill>
              <a:srgbClr val="000000">
                <a:alpha val="76863"/>
              </a:srgbClr>
            </a:solidFill>
            <a:ln w="19050" cap="rnd">
              <a:solidFill>
                <a:srgbClr val="FFFFFF">
                  <a:alpha val="76863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74468" cy="156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64671" y="2989587"/>
            <a:ext cx="5078451" cy="5314331"/>
            <a:chOff x="0" y="0"/>
            <a:chExt cx="786785" cy="823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785" cy="823329"/>
            </a:xfrm>
            <a:custGeom>
              <a:avLst/>
              <a:gdLst/>
              <a:ahLst/>
              <a:cxnLst/>
              <a:rect r="r" b="b" t="t" l="l"/>
              <a:pathLst>
                <a:path h="823329" w="786785">
                  <a:moveTo>
                    <a:pt x="48783" y="0"/>
                  </a:moveTo>
                  <a:lnTo>
                    <a:pt x="738002" y="0"/>
                  </a:lnTo>
                  <a:cubicBezTo>
                    <a:pt x="750940" y="0"/>
                    <a:pt x="763348" y="5140"/>
                    <a:pt x="772497" y="14288"/>
                  </a:cubicBezTo>
                  <a:cubicBezTo>
                    <a:pt x="781645" y="23437"/>
                    <a:pt x="786785" y="35845"/>
                    <a:pt x="786785" y="48783"/>
                  </a:cubicBezTo>
                  <a:lnTo>
                    <a:pt x="786785" y="774546"/>
                  </a:lnTo>
                  <a:cubicBezTo>
                    <a:pt x="786785" y="787484"/>
                    <a:pt x="781645" y="799892"/>
                    <a:pt x="772497" y="809041"/>
                  </a:cubicBezTo>
                  <a:cubicBezTo>
                    <a:pt x="763348" y="818189"/>
                    <a:pt x="750940" y="823329"/>
                    <a:pt x="738002" y="823329"/>
                  </a:cubicBezTo>
                  <a:lnTo>
                    <a:pt x="48783" y="823329"/>
                  </a:lnTo>
                  <a:cubicBezTo>
                    <a:pt x="35845" y="823329"/>
                    <a:pt x="23437" y="818189"/>
                    <a:pt x="14288" y="809041"/>
                  </a:cubicBezTo>
                  <a:cubicBezTo>
                    <a:pt x="5140" y="799892"/>
                    <a:pt x="0" y="787484"/>
                    <a:pt x="0" y="774546"/>
                  </a:cubicBezTo>
                  <a:lnTo>
                    <a:pt x="0" y="48783"/>
                  </a:lnTo>
                  <a:cubicBezTo>
                    <a:pt x="0" y="35845"/>
                    <a:pt x="5140" y="23437"/>
                    <a:pt x="14288" y="14288"/>
                  </a:cubicBezTo>
                  <a:cubicBezTo>
                    <a:pt x="23437" y="5140"/>
                    <a:pt x="35845" y="0"/>
                    <a:pt x="48783" y="0"/>
                  </a:cubicBezTo>
                  <a:close/>
                </a:path>
              </a:pathLst>
            </a:custGeom>
            <a:blipFill>
              <a:blip r:embed="rId4"/>
              <a:stretch>
                <a:fillRect l="-43017" t="0" r="-4301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81347" y="2736755"/>
            <a:ext cx="4404083" cy="2805313"/>
            <a:chOff x="0" y="0"/>
            <a:chExt cx="1147771" cy="7311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7771" cy="731107"/>
            </a:xfrm>
            <a:custGeom>
              <a:avLst/>
              <a:gdLst/>
              <a:ahLst/>
              <a:cxnLst/>
              <a:rect r="r" b="b" t="t" l="l"/>
              <a:pathLst>
                <a:path h="731107" w="1147771">
                  <a:moveTo>
                    <a:pt x="35158" y="0"/>
                  </a:moveTo>
                  <a:lnTo>
                    <a:pt x="1112613" y="0"/>
                  </a:lnTo>
                  <a:cubicBezTo>
                    <a:pt x="1132030" y="0"/>
                    <a:pt x="1147771" y="15741"/>
                    <a:pt x="1147771" y="35158"/>
                  </a:cubicBezTo>
                  <a:lnTo>
                    <a:pt x="1147771" y="695949"/>
                  </a:lnTo>
                  <a:cubicBezTo>
                    <a:pt x="1147771" y="715366"/>
                    <a:pt x="1132030" y="731107"/>
                    <a:pt x="1112613" y="731107"/>
                  </a:cubicBezTo>
                  <a:lnTo>
                    <a:pt x="35158" y="731107"/>
                  </a:lnTo>
                  <a:cubicBezTo>
                    <a:pt x="15741" y="731107"/>
                    <a:pt x="0" y="715366"/>
                    <a:pt x="0" y="695949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47771" cy="769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81347" y="5734585"/>
            <a:ext cx="4404083" cy="2805313"/>
            <a:chOff x="0" y="0"/>
            <a:chExt cx="1147771" cy="7311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7771" cy="731107"/>
            </a:xfrm>
            <a:custGeom>
              <a:avLst/>
              <a:gdLst/>
              <a:ahLst/>
              <a:cxnLst/>
              <a:rect r="r" b="b" t="t" l="l"/>
              <a:pathLst>
                <a:path h="731107" w="1147771">
                  <a:moveTo>
                    <a:pt x="35158" y="0"/>
                  </a:moveTo>
                  <a:lnTo>
                    <a:pt x="1112613" y="0"/>
                  </a:lnTo>
                  <a:cubicBezTo>
                    <a:pt x="1132030" y="0"/>
                    <a:pt x="1147771" y="15741"/>
                    <a:pt x="1147771" y="35158"/>
                  </a:cubicBezTo>
                  <a:lnTo>
                    <a:pt x="1147771" y="695949"/>
                  </a:lnTo>
                  <a:cubicBezTo>
                    <a:pt x="1147771" y="715366"/>
                    <a:pt x="1132030" y="731107"/>
                    <a:pt x="1112613" y="731107"/>
                  </a:cubicBezTo>
                  <a:lnTo>
                    <a:pt x="35158" y="731107"/>
                  </a:lnTo>
                  <a:cubicBezTo>
                    <a:pt x="15741" y="731107"/>
                    <a:pt x="0" y="715366"/>
                    <a:pt x="0" y="695949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47771" cy="769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97927" y="2736755"/>
            <a:ext cx="4404083" cy="2805313"/>
            <a:chOff x="0" y="0"/>
            <a:chExt cx="1147771" cy="7311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7771" cy="731107"/>
            </a:xfrm>
            <a:custGeom>
              <a:avLst/>
              <a:gdLst/>
              <a:ahLst/>
              <a:cxnLst/>
              <a:rect r="r" b="b" t="t" l="l"/>
              <a:pathLst>
                <a:path h="731107" w="1147771">
                  <a:moveTo>
                    <a:pt x="35158" y="0"/>
                  </a:moveTo>
                  <a:lnTo>
                    <a:pt x="1112613" y="0"/>
                  </a:lnTo>
                  <a:cubicBezTo>
                    <a:pt x="1132030" y="0"/>
                    <a:pt x="1147771" y="15741"/>
                    <a:pt x="1147771" y="35158"/>
                  </a:cubicBezTo>
                  <a:lnTo>
                    <a:pt x="1147771" y="695949"/>
                  </a:lnTo>
                  <a:cubicBezTo>
                    <a:pt x="1147771" y="715366"/>
                    <a:pt x="1132030" y="731107"/>
                    <a:pt x="1112613" y="731107"/>
                  </a:cubicBezTo>
                  <a:lnTo>
                    <a:pt x="35158" y="731107"/>
                  </a:lnTo>
                  <a:cubicBezTo>
                    <a:pt x="15741" y="731107"/>
                    <a:pt x="0" y="715366"/>
                    <a:pt x="0" y="695949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47771" cy="769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97927" y="5734585"/>
            <a:ext cx="4404083" cy="2805313"/>
            <a:chOff x="0" y="0"/>
            <a:chExt cx="1147771" cy="7311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7771" cy="731107"/>
            </a:xfrm>
            <a:custGeom>
              <a:avLst/>
              <a:gdLst/>
              <a:ahLst/>
              <a:cxnLst/>
              <a:rect r="r" b="b" t="t" l="l"/>
              <a:pathLst>
                <a:path h="731107" w="1147771">
                  <a:moveTo>
                    <a:pt x="35158" y="0"/>
                  </a:moveTo>
                  <a:lnTo>
                    <a:pt x="1112613" y="0"/>
                  </a:lnTo>
                  <a:cubicBezTo>
                    <a:pt x="1132030" y="0"/>
                    <a:pt x="1147771" y="15741"/>
                    <a:pt x="1147771" y="35158"/>
                  </a:cubicBezTo>
                  <a:lnTo>
                    <a:pt x="1147771" y="695949"/>
                  </a:lnTo>
                  <a:cubicBezTo>
                    <a:pt x="1147771" y="715366"/>
                    <a:pt x="1132030" y="731107"/>
                    <a:pt x="1112613" y="731107"/>
                  </a:cubicBezTo>
                  <a:lnTo>
                    <a:pt x="35158" y="731107"/>
                  </a:lnTo>
                  <a:cubicBezTo>
                    <a:pt x="15741" y="731107"/>
                    <a:pt x="0" y="715366"/>
                    <a:pt x="0" y="695949"/>
                  </a:cubicBezTo>
                  <a:lnTo>
                    <a:pt x="0" y="35158"/>
                  </a:lnTo>
                  <a:cubicBezTo>
                    <a:pt x="0" y="15741"/>
                    <a:pt x="15741" y="0"/>
                    <a:pt x="35158" y="0"/>
                  </a:cubicBezTo>
                  <a:close/>
                </a:path>
              </a:pathLst>
            </a:custGeom>
            <a:solidFill>
              <a:srgbClr val="2C2227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47771" cy="769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7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129950" y="-4459921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5056461" y="6460279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967249" y="427545"/>
            <a:ext cx="1667423" cy="1661511"/>
          </a:xfrm>
          <a:custGeom>
            <a:avLst/>
            <a:gdLst/>
            <a:ahLst/>
            <a:cxnLst/>
            <a:rect r="r" b="b" t="t" l="l"/>
            <a:pathLst>
              <a:path h="1661511" w="1667423">
                <a:moveTo>
                  <a:pt x="0" y="0"/>
                </a:moveTo>
                <a:lnTo>
                  <a:pt x="1667424" y="0"/>
                </a:lnTo>
                <a:lnTo>
                  <a:pt x="1667424" y="1661510"/>
                </a:lnTo>
                <a:lnTo>
                  <a:pt x="0" y="16615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695432" y="1065664"/>
            <a:ext cx="2300144" cy="1004581"/>
          </a:xfrm>
          <a:custGeom>
            <a:avLst/>
            <a:gdLst/>
            <a:ahLst/>
            <a:cxnLst/>
            <a:rect r="r" b="b" t="t" l="l"/>
            <a:pathLst>
              <a:path h="1004581" w="2300144">
                <a:moveTo>
                  <a:pt x="0" y="0"/>
                </a:moveTo>
                <a:lnTo>
                  <a:pt x="2300144" y="0"/>
                </a:lnTo>
                <a:lnTo>
                  <a:pt x="2300144" y="1004580"/>
                </a:lnTo>
                <a:lnTo>
                  <a:pt x="0" y="1004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981347" y="8780668"/>
            <a:ext cx="9020664" cy="1191132"/>
            <a:chOff x="0" y="0"/>
            <a:chExt cx="2375813" cy="3137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75813" cy="313714"/>
            </a:xfrm>
            <a:custGeom>
              <a:avLst/>
              <a:gdLst/>
              <a:ahLst/>
              <a:cxnLst/>
              <a:rect r="r" b="b" t="t" l="l"/>
              <a:pathLst>
                <a:path h="313714" w="2375813">
                  <a:moveTo>
                    <a:pt x="43770" y="0"/>
                  </a:moveTo>
                  <a:lnTo>
                    <a:pt x="2332042" y="0"/>
                  </a:lnTo>
                  <a:cubicBezTo>
                    <a:pt x="2356216" y="0"/>
                    <a:pt x="2375813" y="19597"/>
                    <a:pt x="2375813" y="43770"/>
                  </a:cubicBezTo>
                  <a:lnTo>
                    <a:pt x="2375813" y="269943"/>
                  </a:lnTo>
                  <a:cubicBezTo>
                    <a:pt x="2375813" y="294117"/>
                    <a:pt x="2356216" y="313714"/>
                    <a:pt x="2332042" y="313714"/>
                  </a:cubicBezTo>
                  <a:lnTo>
                    <a:pt x="43770" y="313714"/>
                  </a:lnTo>
                  <a:cubicBezTo>
                    <a:pt x="19597" y="313714"/>
                    <a:pt x="0" y="294117"/>
                    <a:pt x="0" y="269943"/>
                  </a:cubicBezTo>
                  <a:lnTo>
                    <a:pt x="0" y="43770"/>
                  </a:lnTo>
                  <a:cubicBezTo>
                    <a:pt x="0" y="19597"/>
                    <a:pt x="19597" y="0"/>
                    <a:pt x="43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33CC6">
                    <a:alpha val="100000"/>
                  </a:srgbClr>
                </a:gs>
                <a:gs pos="100000">
                  <a:srgbClr val="5700D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375813" cy="370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37"/>
                </a:lnSpc>
              </a:pPr>
              <a:r>
                <a:rPr lang="en-US" b="true" sz="2955" spc="13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responsible rollout ensures trust, safety, and long-term value. 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217202" y="3424517"/>
            <a:ext cx="945650" cy="345162"/>
          </a:xfrm>
          <a:custGeom>
            <a:avLst/>
            <a:gdLst/>
            <a:ahLst/>
            <a:cxnLst/>
            <a:rect r="r" b="b" t="t" l="l"/>
            <a:pathLst>
              <a:path h="345162" w="945650">
                <a:moveTo>
                  <a:pt x="0" y="0"/>
                </a:moveTo>
                <a:lnTo>
                  <a:pt x="945650" y="0"/>
                </a:lnTo>
                <a:lnTo>
                  <a:pt x="945650" y="345162"/>
                </a:lnTo>
                <a:lnTo>
                  <a:pt x="0" y="3451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324762" y="3117414"/>
            <a:ext cx="967415" cy="55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848" spc="-1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24762" y="6104797"/>
            <a:ext cx="967415" cy="55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848" spc="-1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54091" y="3162204"/>
            <a:ext cx="967415" cy="55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848" spc="-1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54091" y="6104797"/>
            <a:ext cx="967415" cy="55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848" spc="-1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27337" y="3231720"/>
            <a:ext cx="2971708" cy="90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b="true" sz="2126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Fund MetaSky Research &amp; Development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027337" y="6085747"/>
            <a:ext cx="2925306" cy="90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126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Launch with </a:t>
            </a:r>
          </a:p>
          <a:p>
            <a:pPr algn="l">
              <a:lnSpc>
                <a:spcPts val="2423"/>
              </a:lnSpc>
            </a:pPr>
            <a:r>
              <a:rPr lang="en-US" b="true" sz="2126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Ray-Ban Stories 3 + MetaQuest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66556" y="3090373"/>
            <a:ext cx="3473051" cy="90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b="true" sz="2126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Test creator &amp; emergency pilot programs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00961" y="6219103"/>
            <a:ext cx="2982583" cy="30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b="true" sz="2126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Security and Safety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64671" y="1203690"/>
            <a:ext cx="8767411" cy="7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1"/>
              </a:lnSpc>
            </a:pPr>
            <a:r>
              <a:rPr lang="en-US" b="true" sz="493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Launch Plan and Roadmap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49943" y="4321395"/>
            <a:ext cx="3223921" cy="9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Leverage Reality Labs to</a:t>
            </a: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fast-track development od drone-AI integration.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61277" y="6629422"/>
            <a:ext cx="4240734" cy="16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5785" indent="-167893" lvl="1">
              <a:lnSpc>
                <a:spcPts val="2177"/>
              </a:lnSpc>
              <a:buFont typeface="Arial"/>
              <a:buChar char="•"/>
            </a:pPr>
            <a:r>
              <a:rPr lang="en-US" sz="1555" spc="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Transparent AI decisions</a:t>
            </a:r>
          </a:p>
          <a:p>
            <a:pPr algn="l" marL="335785" indent="-167893" lvl="1">
              <a:lnSpc>
                <a:spcPts val="2177"/>
              </a:lnSpc>
              <a:buFont typeface="Arial"/>
              <a:buChar char="•"/>
            </a:pPr>
            <a:r>
              <a:rPr lang="en-US" sz="1555" spc="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Fair and unbiased algorithms</a:t>
            </a:r>
          </a:p>
          <a:p>
            <a:pPr algn="l" marL="335785" indent="-167893" lvl="1">
              <a:lnSpc>
                <a:spcPts val="2177"/>
              </a:lnSpc>
              <a:buFont typeface="Arial"/>
              <a:buChar char="•"/>
            </a:pPr>
            <a:r>
              <a:rPr lang="en-US" sz="1555" spc="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555" spc="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ata security and privacy by design</a:t>
            </a:r>
          </a:p>
          <a:p>
            <a:pPr algn="l" marL="335785" indent="-167893" lvl="1">
              <a:lnSpc>
                <a:spcPts val="2177"/>
              </a:lnSpc>
              <a:buFont typeface="Arial"/>
              <a:buChar char="•"/>
            </a:pPr>
            <a:r>
              <a:rPr lang="en-US" sz="1555" spc="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Protection from misuse and unintended consequences</a:t>
            </a:r>
          </a:p>
          <a:p>
            <a:pPr algn="l">
              <a:lnSpc>
                <a:spcPts val="217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3269683" y="4235584"/>
            <a:ext cx="3223921" cy="90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Partner with influencers and crisis teams to</a:t>
            </a: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test real-world applications.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49943" y="7179605"/>
            <a:ext cx="3223921" cy="60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Maximize synergy with new</a:t>
            </a:r>
            <a:r>
              <a:rPr lang="en-US" sz="1755" spc="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hardware rollouts.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5618748" y="4186914"/>
            <a:ext cx="945650" cy="345162"/>
          </a:xfrm>
          <a:custGeom>
            <a:avLst/>
            <a:gdLst/>
            <a:ahLst/>
            <a:cxnLst/>
            <a:rect r="r" b="b" t="t" l="l"/>
            <a:pathLst>
              <a:path h="345162" w="945650">
                <a:moveTo>
                  <a:pt x="0" y="0"/>
                </a:moveTo>
                <a:lnTo>
                  <a:pt x="945650" y="0"/>
                </a:lnTo>
                <a:lnTo>
                  <a:pt x="945650" y="345162"/>
                </a:lnTo>
                <a:lnTo>
                  <a:pt x="0" y="3451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11556"/>
            <a:ext cx="8046744" cy="8046744"/>
          </a:xfrm>
          <a:custGeom>
            <a:avLst/>
            <a:gdLst/>
            <a:ahLst/>
            <a:cxnLst/>
            <a:rect r="r" b="b" t="t" l="l"/>
            <a:pathLst>
              <a:path h="8046744" w="8046744">
                <a:moveTo>
                  <a:pt x="0" y="0"/>
                </a:moveTo>
                <a:lnTo>
                  <a:pt x="8046744" y="0"/>
                </a:lnTo>
                <a:lnTo>
                  <a:pt x="8046744" y="8046744"/>
                </a:lnTo>
                <a:lnTo>
                  <a:pt x="0" y="8046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00450" y="-3726137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73978" y="6300850"/>
            <a:ext cx="10551506" cy="10551506"/>
          </a:xfrm>
          <a:custGeom>
            <a:avLst/>
            <a:gdLst/>
            <a:ahLst/>
            <a:cxnLst/>
            <a:rect r="r" b="b" t="t" l="l"/>
            <a:pathLst>
              <a:path h="10551506" w="10551506">
                <a:moveTo>
                  <a:pt x="0" y="0"/>
                </a:moveTo>
                <a:lnTo>
                  <a:pt x="10551506" y="0"/>
                </a:lnTo>
                <a:lnTo>
                  <a:pt x="10551506" y="10551506"/>
                </a:lnTo>
                <a:lnTo>
                  <a:pt x="0" y="105515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84656" y="-4544437"/>
            <a:ext cx="8355287" cy="8355287"/>
          </a:xfrm>
          <a:custGeom>
            <a:avLst/>
            <a:gdLst/>
            <a:ahLst/>
            <a:cxnLst/>
            <a:rect r="r" b="b" t="t" l="l"/>
            <a:pathLst>
              <a:path h="8355287" w="8355287">
                <a:moveTo>
                  <a:pt x="0" y="0"/>
                </a:moveTo>
                <a:lnTo>
                  <a:pt x="8355287" y="0"/>
                </a:lnTo>
                <a:lnTo>
                  <a:pt x="8355287" y="8355287"/>
                </a:lnTo>
                <a:lnTo>
                  <a:pt x="0" y="83552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97384" y="5737301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33903" y="4883900"/>
            <a:ext cx="972015" cy="711654"/>
          </a:xfrm>
          <a:custGeom>
            <a:avLst/>
            <a:gdLst/>
            <a:ahLst/>
            <a:cxnLst/>
            <a:rect r="r" b="b" t="t" l="l"/>
            <a:pathLst>
              <a:path h="711654" w="972015">
                <a:moveTo>
                  <a:pt x="0" y="0"/>
                </a:moveTo>
                <a:lnTo>
                  <a:pt x="972015" y="0"/>
                </a:lnTo>
                <a:lnTo>
                  <a:pt x="972015" y="711654"/>
                </a:lnTo>
                <a:lnTo>
                  <a:pt x="0" y="7116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33903" y="6424981"/>
            <a:ext cx="997063" cy="711654"/>
          </a:xfrm>
          <a:custGeom>
            <a:avLst/>
            <a:gdLst/>
            <a:ahLst/>
            <a:cxnLst/>
            <a:rect r="r" b="b" t="t" l="l"/>
            <a:pathLst>
              <a:path h="711654" w="997063">
                <a:moveTo>
                  <a:pt x="0" y="0"/>
                </a:moveTo>
                <a:lnTo>
                  <a:pt x="997063" y="0"/>
                </a:lnTo>
                <a:lnTo>
                  <a:pt x="997063" y="711654"/>
                </a:lnTo>
                <a:lnTo>
                  <a:pt x="0" y="7116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33903" y="7848045"/>
            <a:ext cx="853400" cy="956191"/>
          </a:xfrm>
          <a:custGeom>
            <a:avLst/>
            <a:gdLst/>
            <a:ahLst/>
            <a:cxnLst/>
            <a:rect r="r" b="b" t="t" l="l"/>
            <a:pathLst>
              <a:path h="956191" w="853400">
                <a:moveTo>
                  <a:pt x="0" y="0"/>
                </a:moveTo>
                <a:lnTo>
                  <a:pt x="853400" y="0"/>
                </a:lnTo>
                <a:lnTo>
                  <a:pt x="853400" y="956191"/>
                </a:lnTo>
                <a:lnTo>
                  <a:pt x="0" y="95619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88838" y="3892840"/>
            <a:ext cx="6438367" cy="322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b="true" sz="123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</a:t>
            </a:r>
          </a:p>
          <a:p>
            <a:pPr algn="ctr">
              <a:lnSpc>
                <a:spcPts val="12399"/>
              </a:lnSpc>
            </a:pPr>
            <a:r>
              <a:rPr lang="en-US" b="true" sz="123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YOU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98089" y="-206661"/>
            <a:ext cx="10700323" cy="10700323"/>
          </a:xfrm>
          <a:custGeom>
            <a:avLst/>
            <a:gdLst/>
            <a:ahLst/>
            <a:cxnLst/>
            <a:rect r="r" b="b" t="t" l="l"/>
            <a:pathLst>
              <a:path h="10700323" w="10700323">
                <a:moveTo>
                  <a:pt x="0" y="0"/>
                </a:moveTo>
                <a:lnTo>
                  <a:pt x="10700322" y="0"/>
                </a:lnTo>
                <a:lnTo>
                  <a:pt x="10700322" y="10700322"/>
                </a:lnTo>
                <a:lnTo>
                  <a:pt x="0" y="1070032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16974" y="7827606"/>
            <a:ext cx="2500174" cy="976630"/>
          </a:xfrm>
          <a:custGeom>
            <a:avLst/>
            <a:gdLst/>
            <a:ahLst/>
            <a:cxnLst/>
            <a:rect r="r" b="b" t="t" l="l"/>
            <a:pathLst>
              <a:path h="976630" w="2500174">
                <a:moveTo>
                  <a:pt x="0" y="0"/>
                </a:moveTo>
                <a:lnTo>
                  <a:pt x="2500173" y="0"/>
                </a:lnTo>
                <a:lnTo>
                  <a:pt x="2500173" y="976630"/>
                </a:lnTo>
                <a:lnTo>
                  <a:pt x="0" y="97663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411768" y="3820375"/>
            <a:ext cx="4910584" cy="43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3"/>
              </a:lnSpc>
            </a:pPr>
            <a:r>
              <a:rPr lang="en-US" b="true" sz="2911">
                <a:solidFill>
                  <a:srgbClr val="E9F4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16974" y="4872431"/>
            <a:ext cx="3204646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000">
                <a:solidFill>
                  <a:srgbClr val="006A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LinkedIn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42022" y="6372186"/>
            <a:ext cx="3204646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000">
                <a:solidFill>
                  <a:srgbClr val="006A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Email Address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16974" y="5261051"/>
            <a:ext cx="274231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@chloedbarker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42022" y="6760806"/>
            <a:ext cx="52558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chloebarker@smu.edu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8233" y="1645946"/>
            <a:ext cx="905979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Lets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Put Meta into 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Sky!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67152" y="990600"/>
            <a:ext cx="7835008" cy="395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0"/>
              </a:lnSpc>
              <a:spcBef>
                <a:spcPct val="0"/>
              </a:spcBef>
            </a:pPr>
            <a:r>
              <a:rPr lang="en-US" b="true" sz="2393" spc="112">
                <a:solidFill>
                  <a:srgbClr val="B4E4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future isn’t just immersive - it’s elevated.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2021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80913" y="9557589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16327" y="1076257"/>
            <a:ext cx="9322097" cy="969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b="true" sz="5699" spc="26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71541" y="-4887595"/>
            <a:ext cx="8219313" cy="8229600"/>
          </a:xfrm>
          <a:custGeom>
            <a:avLst/>
            <a:gdLst/>
            <a:ahLst/>
            <a:cxnLst/>
            <a:rect r="r" b="b" t="t" l="l"/>
            <a:pathLst>
              <a:path h="8229600" w="8219313">
                <a:moveTo>
                  <a:pt x="0" y="0"/>
                </a:moveTo>
                <a:lnTo>
                  <a:pt x="8219313" y="0"/>
                </a:lnTo>
                <a:lnTo>
                  <a:pt x="82193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73826" y="-772795"/>
            <a:ext cx="707087" cy="1801495"/>
          </a:xfrm>
          <a:custGeom>
            <a:avLst/>
            <a:gdLst/>
            <a:ahLst/>
            <a:cxnLst/>
            <a:rect r="r" b="b" t="t" l="l"/>
            <a:pathLst>
              <a:path h="1801495" w="707087">
                <a:moveTo>
                  <a:pt x="0" y="0"/>
                </a:moveTo>
                <a:lnTo>
                  <a:pt x="707087" y="0"/>
                </a:lnTo>
                <a:lnTo>
                  <a:pt x="707087" y="1801495"/>
                </a:lnTo>
                <a:lnTo>
                  <a:pt x="0" y="1801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830423"/>
            <a:ext cx="15845126" cy="576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513" spc="11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IDC. (June 18, 2025). Augmented reality (AR) and virtual reality (VR) headset companies shipment share worldwide from 2023 to 2025, by quarter [Graph]. In Statista. Retrieved July 24, 2025, from https://www-statista-com.proxy.libraries.smu.edu/statistics/1407105/ar-vr-headset-companies-shipment-share/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513" spc="11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Are Social, &amp; DataReportal, &amp; Meltwater. (February 5, 2025). Most popular social networks worldwide as of February 2025, by number of monthly active users (in millions) [Table]. In Statista. Retrieved July 24, 2025, from https://www-statista-com.proxy.libraries.smu.edu/statistics/272014/global-social-networks-ranked-by-number-of-users/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513" spc="11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VRcompare. (October 23, 2024). Comparison of virtual reality (VR) headsets worldwide in 2024, by price (in U.S. dollars) [Graph]. In Statista. Retrieved July 24, 2025, from https://www-statista-com.proxy.libraries.smu.edu/statistics/1337123/vr-headset-comparison-by-price/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DAGt-4ueoQg</dc:identifier>
  <dcterms:modified xsi:type="dcterms:W3CDTF">2011-08-01T06:04:30Z</dcterms:modified>
  <cp:revision>1</cp:revision>
  <dc:title>METASKY Presentation</dc:title>
</cp:coreProperties>
</file>