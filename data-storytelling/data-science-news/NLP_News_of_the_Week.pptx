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86" r:id="rId1"/>
  </p:sldMasterIdLst>
  <p:notesMasterIdLst>
    <p:notesMasterId r:id="rId10"/>
  </p:notesMasterIdLst>
  <p:sldIdLst>
    <p:sldId id="256" r:id="rId2"/>
    <p:sldId id="311" r:id="rId3"/>
    <p:sldId id="261" r:id="rId4"/>
    <p:sldId id="315" r:id="rId5"/>
    <p:sldId id="317" r:id="rId6"/>
    <p:sldId id="262" r:id="rId7"/>
    <p:sldId id="312" r:id="rId8"/>
    <p:sldId id="292" r:id="rId9"/>
  </p:sldIdLst>
  <p:sldSz cx="9144000" cy="5143500" type="screen16x9"/>
  <p:notesSz cx="6858000" cy="9144000"/>
  <p:embeddedFontLst>
    <p:embeddedFont>
      <p:font typeface="Nunito" pitchFamily="2" charset="77"/>
      <p:regular r:id="rId11"/>
      <p:bold r:id="rId12"/>
      <p:italic r:id="rId13"/>
      <p:boldItalic r:id="rId14"/>
    </p:embeddedFont>
    <p:embeddedFont>
      <p:font typeface="Nunito Light" pitchFamily="2" charset="77"/>
      <p:regular r:id="rId15"/>
      <p:italic r:id="rId16"/>
    </p:embeddedFont>
    <p:embeddedFont>
      <p:font typeface="Open Sans Light" pitchFamily="2" charset="0"/>
      <p:regular r:id="rId17"/>
      <p:italic r:id="rId18"/>
    </p:embeddedFont>
    <p:embeddedFont>
      <p:font typeface="Raleway" pitchFamily="2" charset="77"/>
      <p:regular r:id="rId19"/>
      <p:bold r:id="rId20"/>
      <p:italic r:id="rId21"/>
      <p:boldItalic r:id="rId22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751319B5-FB84-4F95-883F-B74734D480B2}">
  <a:tblStyle styleId="{751319B5-FB84-4F95-883F-B74734D480B2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55694B72-11A8-4BAF-9FB6-6B043C0E7F2E}" styleName="Table_1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343"/>
    <p:restoredTop sz="72287"/>
  </p:normalViewPr>
  <p:slideViewPr>
    <p:cSldViewPr snapToGrid="0">
      <p:cViewPr>
        <p:scale>
          <a:sx n="125" d="100"/>
          <a:sy n="125" d="100"/>
        </p:scale>
        <p:origin x="144" y="-1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3.fntdata"/><Relationship Id="rId18" Type="http://schemas.openxmlformats.org/officeDocument/2006/relationships/font" Target="fonts/font8.fntdata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font" Target="fonts/font11.fntdata"/><Relationship Id="rId7" Type="http://schemas.openxmlformats.org/officeDocument/2006/relationships/slide" Target="slides/slide6.xml"/><Relationship Id="rId12" Type="http://schemas.openxmlformats.org/officeDocument/2006/relationships/font" Target="fonts/font2.fntdata"/><Relationship Id="rId17" Type="http://schemas.openxmlformats.org/officeDocument/2006/relationships/font" Target="fonts/font7.fntdata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font" Target="fonts/font6.fntdata"/><Relationship Id="rId20" Type="http://schemas.openxmlformats.org/officeDocument/2006/relationships/font" Target="fonts/font10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1.fntdata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font" Target="fonts/font5.fntdata"/><Relationship Id="rId23" Type="http://schemas.openxmlformats.org/officeDocument/2006/relationships/presProps" Target="presProps.xml"/><Relationship Id="rId10" Type="http://schemas.openxmlformats.org/officeDocument/2006/relationships/notesMaster" Target="notesMasters/notesMaster1.xml"/><Relationship Id="rId19" Type="http://schemas.openxmlformats.org/officeDocument/2006/relationships/font" Target="fonts/font9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4.fntdata"/><Relationship Id="rId22" Type="http://schemas.openxmlformats.org/officeDocument/2006/relationships/font" Target="fonts/font12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g4dfce81f19_0_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1" name="Google Shape;301;g4dfce81f19_0_4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rtl="0"/>
            <a:endParaRPr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endParaRPr lang="en-US" b="0" i="0" u="none" strike="noStrike" dirty="0">
              <a:solidFill>
                <a:srgbClr val="000000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421480355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Google Shape;344;g14072739ea5_12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5" name="Google Shape;345;g14072739ea5_12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rtl="0"/>
            <a:endParaRPr dirty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0">
          <a:extLst>
            <a:ext uri="{FF2B5EF4-FFF2-40B4-BE49-F238E27FC236}">
              <a16:creationId xmlns:a16="http://schemas.microsoft.com/office/drawing/2014/main" id="{2F7BFB72-1355-9934-D339-02AFD8204B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Google Shape;351;g54dda1946d_6_322:notes">
            <a:extLst>
              <a:ext uri="{FF2B5EF4-FFF2-40B4-BE49-F238E27FC236}">
                <a16:creationId xmlns:a16="http://schemas.microsoft.com/office/drawing/2014/main" id="{48704FB7-24EA-A45C-FCDB-5BAAF83797D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2" name="Google Shape;352;g54dda1946d_6_322:notes">
            <a:extLst>
              <a:ext uri="{FF2B5EF4-FFF2-40B4-BE49-F238E27FC236}">
                <a16:creationId xmlns:a16="http://schemas.microsoft.com/office/drawing/2014/main" id="{C592859F-9CB9-B112-0717-73C0C7DF350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rtl="0"/>
            <a:endParaRPr lang="en-US" b="0" i="0" u="none" strike="noStrike" dirty="0">
              <a:solidFill>
                <a:srgbClr val="000000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23506369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8102250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Google Shape;351;g54dda1946d_6_3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2" name="Google Shape;352;g54dda1946d_6_3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rtl="0"/>
            <a:endParaRPr sz="1200" dirty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38975562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1" name="Google Shape;751;g2a8ca6384f6_0_9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2" name="Google Shape;752;g2a8ca6384f6_0_9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oogle Shape;9;p2"/>
          <p:cNvGrpSpPr/>
          <p:nvPr/>
        </p:nvGrpSpPr>
        <p:grpSpPr>
          <a:xfrm>
            <a:off x="-1850795" y="-2790360"/>
            <a:ext cx="12435573" cy="10677062"/>
            <a:chOff x="-1850795" y="-2790360"/>
            <a:chExt cx="12435573" cy="10677062"/>
          </a:xfrm>
        </p:grpSpPr>
        <p:pic>
          <p:nvPicPr>
            <p:cNvPr id="10" name="Google Shape;10;p2"/>
            <p:cNvPicPr preferRelativeResize="0"/>
            <p:nvPr/>
          </p:nvPicPr>
          <p:blipFill rotWithShape="1">
            <a:blip r:embed="rId2">
              <a:alphaModFix/>
            </a:blip>
            <a:srcRect/>
            <a:stretch/>
          </p:blipFill>
          <p:spPr>
            <a:xfrm>
              <a:off x="1440775" y="-2790360"/>
              <a:ext cx="9144003" cy="370582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1" name="Google Shape;11;p2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-1850795" y="2743200"/>
              <a:ext cx="6349542" cy="514350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2" name="Google Shape;12;p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5892952" y="2305050"/>
              <a:ext cx="4387547" cy="5143501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3" name="Google Shape;13;p2"/>
          <p:cNvSpPr txBox="1">
            <a:spLocks noGrp="1"/>
          </p:cNvSpPr>
          <p:nvPr>
            <p:ph type="ctrTitle"/>
          </p:nvPr>
        </p:nvSpPr>
        <p:spPr>
          <a:xfrm>
            <a:off x="713250" y="1525050"/>
            <a:ext cx="7717500" cy="166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48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ubTitle" idx="1"/>
          </p:nvPr>
        </p:nvSpPr>
        <p:spPr>
          <a:xfrm>
            <a:off x="2307700" y="3187350"/>
            <a:ext cx="4528800" cy="43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oogle Shape;23;p4"/>
          <p:cNvGrpSpPr/>
          <p:nvPr/>
        </p:nvGrpSpPr>
        <p:grpSpPr>
          <a:xfrm>
            <a:off x="-1480548" y="-2872300"/>
            <a:ext cx="14875201" cy="10883236"/>
            <a:chOff x="-1480548" y="-2872300"/>
            <a:chExt cx="14875201" cy="10883236"/>
          </a:xfrm>
        </p:grpSpPr>
        <p:pic>
          <p:nvPicPr>
            <p:cNvPr id="24" name="Google Shape;24;p4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 rot="10800000">
              <a:off x="-1480548" y="-2872300"/>
              <a:ext cx="4387547" cy="514350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5" name="Google Shape;25;p4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 rot="10800000" flipH="1">
              <a:off x="4250650" y="4305115"/>
              <a:ext cx="9144003" cy="3705821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6" name="Google Shape;26;p4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4"/>
          <p:cNvSpPr txBox="1">
            <a:spLocks noGrp="1"/>
          </p:cNvSpPr>
          <p:nvPr>
            <p:ph type="subTitle" idx="1"/>
          </p:nvPr>
        </p:nvSpPr>
        <p:spPr>
          <a:xfrm>
            <a:off x="720002" y="1099401"/>
            <a:ext cx="7704000" cy="3693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3" name="Google Shape;43;p7"/>
          <p:cNvGrpSpPr/>
          <p:nvPr/>
        </p:nvGrpSpPr>
        <p:grpSpPr>
          <a:xfrm>
            <a:off x="-2213779" y="-3870539"/>
            <a:ext cx="14851862" cy="11516984"/>
            <a:chOff x="-2213779" y="-3870539"/>
            <a:chExt cx="14851862" cy="11516984"/>
          </a:xfrm>
        </p:grpSpPr>
        <p:pic>
          <p:nvPicPr>
            <p:cNvPr id="44" name="Google Shape;44;p7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 rot="-2384137">
              <a:off x="7113312" y="1694653"/>
              <a:ext cx="4387546" cy="51435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5" name="Google Shape;45;p7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 rot="5713368">
              <a:off x="-4524379" y="-1001760"/>
              <a:ext cx="9144006" cy="3705823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46" name="Google Shape;46;p7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109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subTitle" idx="1"/>
          </p:nvPr>
        </p:nvSpPr>
        <p:spPr>
          <a:xfrm>
            <a:off x="2032800" y="1897775"/>
            <a:ext cx="5078400" cy="182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Font typeface="Open Sans Light"/>
              <a:buChar char="●"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600"/>
              <a:buFont typeface="Nunito Light"/>
              <a:buChar char="○"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500"/>
              <a:buFont typeface="Nunito Light"/>
              <a:buChar char="■"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500"/>
              <a:buFont typeface="Nunito Light"/>
              <a:buChar char="●"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Char char="○"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Char char="■"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300"/>
              <a:buFont typeface="Nunito Light"/>
              <a:buChar char="●"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300"/>
              <a:buFont typeface="Nunito Light"/>
              <a:buChar char="○"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Char char="■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9" name="Google Shape;49;p8"/>
          <p:cNvGrpSpPr/>
          <p:nvPr/>
        </p:nvGrpSpPr>
        <p:grpSpPr>
          <a:xfrm>
            <a:off x="-631595" y="-2866560"/>
            <a:ext cx="11674094" cy="10753262"/>
            <a:chOff x="-631595" y="-2866560"/>
            <a:chExt cx="11674094" cy="10753262"/>
          </a:xfrm>
        </p:grpSpPr>
        <p:pic>
          <p:nvPicPr>
            <p:cNvPr id="50" name="Google Shape;50;p8"/>
            <p:cNvPicPr preferRelativeResize="0"/>
            <p:nvPr/>
          </p:nvPicPr>
          <p:blipFill rotWithShape="1">
            <a:blip r:embed="rId2">
              <a:alphaModFix/>
            </a:blip>
            <a:srcRect/>
            <a:stretch/>
          </p:blipFill>
          <p:spPr>
            <a:xfrm rot="10800000">
              <a:off x="304799" y="4180880"/>
              <a:ext cx="9144003" cy="370582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51" name="Google Shape;51;p8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 rot="10800000">
              <a:off x="4692956" y="-2866560"/>
              <a:ext cx="6349542" cy="514350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52" name="Google Shape;52;p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 rot="10800000">
              <a:off x="-631595" y="-2428410"/>
              <a:ext cx="4387547" cy="5143501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53" name="Google Shape;53;p8"/>
          <p:cNvSpPr txBox="1">
            <a:spLocks noGrp="1"/>
          </p:cNvSpPr>
          <p:nvPr>
            <p:ph type="title"/>
          </p:nvPr>
        </p:nvSpPr>
        <p:spPr>
          <a:xfrm>
            <a:off x="1768500" y="1555800"/>
            <a:ext cx="5607000" cy="2031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 2">
  <p:cSld name="TITLE_AND_TWO_COLUMNS_1_1">
    <p:spTree>
      <p:nvGrpSpPr>
        <p:cNvPr id="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2" name="Google Shape;162;p26"/>
          <p:cNvGrpSpPr/>
          <p:nvPr/>
        </p:nvGrpSpPr>
        <p:grpSpPr>
          <a:xfrm>
            <a:off x="-5121707" y="-3896607"/>
            <a:ext cx="18958404" cy="12282396"/>
            <a:chOff x="-5121707" y="-3896607"/>
            <a:chExt cx="18958404" cy="12282396"/>
          </a:xfrm>
        </p:grpSpPr>
        <p:pic>
          <p:nvPicPr>
            <p:cNvPr id="163" name="Google Shape;163;p26"/>
            <p:cNvPicPr preferRelativeResize="0"/>
            <p:nvPr/>
          </p:nvPicPr>
          <p:blipFill rotWithShape="1">
            <a:blip r:embed="rId2">
              <a:alphaModFix/>
            </a:blip>
            <a:srcRect/>
            <a:stretch/>
          </p:blipFill>
          <p:spPr>
            <a:xfrm rot="-6886526" flipH="1">
              <a:off x="6996455" y="-2508075"/>
              <a:ext cx="6349545" cy="514350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64" name="Google Shape;164;p26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 rot="2969597">
              <a:off x="-5315200" y="1853115"/>
              <a:ext cx="9144002" cy="3705821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65" name="Google Shape;165;p26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166" name="Google Shape;166;p26"/>
          <p:cNvSpPr txBox="1">
            <a:spLocks noGrp="1"/>
          </p:cNvSpPr>
          <p:nvPr>
            <p:ph type="subTitle" idx="1"/>
          </p:nvPr>
        </p:nvSpPr>
        <p:spPr>
          <a:xfrm>
            <a:off x="4764002" y="1794875"/>
            <a:ext cx="3095400" cy="2031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167" name="Google Shape;167;p26"/>
          <p:cNvSpPr txBox="1">
            <a:spLocks noGrp="1"/>
          </p:cNvSpPr>
          <p:nvPr>
            <p:ph type="subTitle" idx="2"/>
          </p:nvPr>
        </p:nvSpPr>
        <p:spPr>
          <a:xfrm>
            <a:off x="1284598" y="1794875"/>
            <a:ext cx="3095400" cy="2031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 3">
  <p:cSld name="TITLE_AND_TWO_COLUMNS_1_1_1">
    <p:spTree>
      <p:nvGrpSpPr>
        <p:cNvPr id="1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9" name="Google Shape;169;p27"/>
          <p:cNvGrpSpPr/>
          <p:nvPr/>
        </p:nvGrpSpPr>
        <p:grpSpPr>
          <a:xfrm>
            <a:off x="-2013950" y="-2872300"/>
            <a:ext cx="9144003" cy="10883236"/>
            <a:chOff x="-2013950" y="-2872300"/>
            <a:chExt cx="9144003" cy="10883236"/>
          </a:xfrm>
        </p:grpSpPr>
        <p:pic>
          <p:nvPicPr>
            <p:cNvPr id="170" name="Google Shape;170;p27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 rot="10800000">
              <a:off x="-1480548" y="-2872300"/>
              <a:ext cx="4387547" cy="514350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71" name="Google Shape;171;p27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 rot="10800000" flipH="1">
              <a:off x="-2013950" y="4305115"/>
              <a:ext cx="9144003" cy="3705821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72" name="Google Shape;172;p27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173" name="Google Shape;173;p27"/>
          <p:cNvSpPr txBox="1">
            <a:spLocks noGrp="1"/>
          </p:cNvSpPr>
          <p:nvPr>
            <p:ph type="body" idx="1"/>
          </p:nvPr>
        </p:nvSpPr>
        <p:spPr>
          <a:xfrm>
            <a:off x="715100" y="1558275"/>
            <a:ext cx="3558900" cy="234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 rtl="0">
              <a:spcBef>
                <a:spcPts val="0"/>
              </a:spcBef>
              <a:spcAft>
                <a:spcPts val="0"/>
              </a:spcAft>
              <a:buClr>
                <a:srgbClr val="152933"/>
              </a:buClr>
              <a:buSzPts val="1200"/>
              <a:buFont typeface="Nunito"/>
              <a:buChar char="●"/>
              <a:defRPr/>
            </a:lvl1pPr>
            <a:lvl2pPr marL="914400" lvl="1" indent="-304800" rtl="0">
              <a:spcBef>
                <a:spcPts val="0"/>
              </a:spcBef>
              <a:spcAft>
                <a:spcPts val="0"/>
              </a:spcAft>
              <a:buClr>
                <a:srgbClr val="152933"/>
              </a:buClr>
              <a:buSzPts val="1200"/>
              <a:buFont typeface="Nunito"/>
              <a:buChar char="○"/>
              <a:defRPr/>
            </a:lvl2pPr>
            <a:lvl3pPr marL="1371600" lvl="2" indent="-304800" rtl="0">
              <a:spcBef>
                <a:spcPts val="0"/>
              </a:spcBef>
              <a:spcAft>
                <a:spcPts val="0"/>
              </a:spcAft>
              <a:buClr>
                <a:srgbClr val="152933"/>
              </a:buClr>
              <a:buSzPts val="1200"/>
              <a:buFont typeface="Nunito"/>
              <a:buChar char="■"/>
              <a:defRPr/>
            </a:lvl3pPr>
            <a:lvl4pPr marL="1828800" lvl="3" indent="-304800" rtl="0">
              <a:spcBef>
                <a:spcPts val="0"/>
              </a:spcBef>
              <a:spcAft>
                <a:spcPts val="0"/>
              </a:spcAft>
              <a:buClr>
                <a:srgbClr val="152933"/>
              </a:buClr>
              <a:buSzPts val="1200"/>
              <a:buFont typeface="Nunito"/>
              <a:buChar char="●"/>
              <a:defRPr/>
            </a:lvl4pPr>
            <a:lvl5pPr marL="2286000" lvl="4" indent="-304800" rtl="0">
              <a:spcBef>
                <a:spcPts val="0"/>
              </a:spcBef>
              <a:spcAft>
                <a:spcPts val="0"/>
              </a:spcAft>
              <a:buClr>
                <a:srgbClr val="152933"/>
              </a:buClr>
              <a:buSzPts val="1200"/>
              <a:buFont typeface="Nunito"/>
              <a:buChar char="○"/>
              <a:defRPr/>
            </a:lvl5pPr>
            <a:lvl6pPr marL="2743200" lvl="5" indent="-304800" rtl="0">
              <a:spcBef>
                <a:spcPts val="0"/>
              </a:spcBef>
              <a:spcAft>
                <a:spcPts val="0"/>
              </a:spcAft>
              <a:buClr>
                <a:srgbClr val="152933"/>
              </a:buClr>
              <a:buSzPts val="1200"/>
              <a:buFont typeface="Nunito"/>
              <a:buChar char="■"/>
              <a:defRPr/>
            </a:lvl6pPr>
            <a:lvl7pPr marL="3200400" lvl="6" indent="-304800" rtl="0">
              <a:spcBef>
                <a:spcPts val="0"/>
              </a:spcBef>
              <a:spcAft>
                <a:spcPts val="0"/>
              </a:spcAft>
              <a:buClr>
                <a:srgbClr val="152933"/>
              </a:buClr>
              <a:buSzPts val="1200"/>
              <a:buFont typeface="Nunito"/>
              <a:buChar char="●"/>
              <a:defRPr/>
            </a:lvl7pPr>
            <a:lvl8pPr marL="3657600" lvl="7" indent="-304800" rtl="0">
              <a:spcBef>
                <a:spcPts val="0"/>
              </a:spcBef>
              <a:spcAft>
                <a:spcPts val="0"/>
              </a:spcAft>
              <a:buClr>
                <a:srgbClr val="152933"/>
              </a:buClr>
              <a:buSzPts val="1200"/>
              <a:buFont typeface="Nunito"/>
              <a:buChar char="○"/>
              <a:defRPr/>
            </a:lvl8pPr>
            <a:lvl9pPr marL="4114800" lvl="8" indent="-304800" rtl="0">
              <a:spcBef>
                <a:spcPts val="0"/>
              </a:spcBef>
              <a:spcAft>
                <a:spcPts val="0"/>
              </a:spcAft>
              <a:buClr>
                <a:srgbClr val="152933"/>
              </a:buClr>
              <a:buSzPts val="1200"/>
              <a:buFont typeface="Nunito"/>
              <a:buChar char="■"/>
              <a:defRPr/>
            </a:lvl9pPr>
          </a:lstStyle>
          <a:p>
            <a:endParaRPr/>
          </a:p>
        </p:txBody>
      </p:sp>
      <p:sp>
        <p:nvSpPr>
          <p:cNvPr id="174" name="Google Shape;174;p27"/>
          <p:cNvSpPr txBox="1">
            <a:spLocks noGrp="1"/>
          </p:cNvSpPr>
          <p:nvPr>
            <p:ph type="body" idx="2"/>
          </p:nvPr>
        </p:nvSpPr>
        <p:spPr>
          <a:xfrm>
            <a:off x="4871800" y="1554479"/>
            <a:ext cx="3557100" cy="234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 rtl="0">
              <a:spcBef>
                <a:spcPts val="0"/>
              </a:spcBef>
              <a:spcAft>
                <a:spcPts val="0"/>
              </a:spcAft>
              <a:buClr>
                <a:srgbClr val="152933"/>
              </a:buClr>
              <a:buSzPts val="1200"/>
              <a:buFont typeface="Nunito"/>
              <a:buChar char="●"/>
              <a:defRPr/>
            </a:lvl1pPr>
            <a:lvl2pPr marL="914400" lvl="1" indent="-304800" rtl="0">
              <a:spcBef>
                <a:spcPts val="0"/>
              </a:spcBef>
              <a:spcAft>
                <a:spcPts val="0"/>
              </a:spcAft>
              <a:buClr>
                <a:srgbClr val="152933"/>
              </a:buClr>
              <a:buSzPts val="1200"/>
              <a:buFont typeface="Nunito"/>
              <a:buChar char="○"/>
              <a:defRPr/>
            </a:lvl2pPr>
            <a:lvl3pPr marL="1371600" lvl="2" indent="-304800" rtl="0">
              <a:spcBef>
                <a:spcPts val="0"/>
              </a:spcBef>
              <a:spcAft>
                <a:spcPts val="0"/>
              </a:spcAft>
              <a:buClr>
                <a:srgbClr val="152933"/>
              </a:buClr>
              <a:buSzPts val="1200"/>
              <a:buFont typeface="Nunito"/>
              <a:buChar char="■"/>
              <a:defRPr/>
            </a:lvl3pPr>
            <a:lvl4pPr marL="1828800" lvl="3" indent="-304800" rtl="0">
              <a:spcBef>
                <a:spcPts val="0"/>
              </a:spcBef>
              <a:spcAft>
                <a:spcPts val="0"/>
              </a:spcAft>
              <a:buClr>
                <a:srgbClr val="152933"/>
              </a:buClr>
              <a:buSzPts val="1200"/>
              <a:buFont typeface="Nunito"/>
              <a:buChar char="●"/>
              <a:defRPr/>
            </a:lvl4pPr>
            <a:lvl5pPr marL="2286000" lvl="4" indent="-304800" rtl="0">
              <a:spcBef>
                <a:spcPts val="0"/>
              </a:spcBef>
              <a:spcAft>
                <a:spcPts val="0"/>
              </a:spcAft>
              <a:buClr>
                <a:srgbClr val="152933"/>
              </a:buClr>
              <a:buSzPts val="1200"/>
              <a:buFont typeface="Nunito"/>
              <a:buChar char="○"/>
              <a:defRPr/>
            </a:lvl5pPr>
            <a:lvl6pPr marL="2743200" lvl="5" indent="-304800" rtl="0">
              <a:spcBef>
                <a:spcPts val="0"/>
              </a:spcBef>
              <a:spcAft>
                <a:spcPts val="0"/>
              </a:spcAft>
              <a:buClr>
                <a:srgbClr val="152933"/>
              </a:buClr>
              <a:buSzPts val="1200"/>
              <a:buFont typeface="Nunito"/>
              <a:buChar char="■"/>
              <a:defRPr/>
            </a:lvl6pPr>
            <a:lvl7pPr marL="3200400" lvl="6" indent="-304800" rtl="0">
              <a:spcBef>
                <a:spcPts val="0"/>
              </a:spcBef>
              <a:spcAft>
                <a:spcPts val="0"/>
              </a:spcAft>
              <a:buClr>
                <a:srgbClr val="152933"/>
              </a:buClr>
              <a:buSzPts val="1200"/>
              <a:buFont typeface="Nunito"/>
              <a:buChar char="●"/>
              <a:defRPr/>
            </a:lvl7pPr>
            <a:lvl8pPr marL="3657600" lvl="7" indent="-304800" rtl="0">
              <a:spcBef>
                <a:spcPts val="0"/>
              </a:spcBef>
              <a:spcAft>
                <a:spcPts val="0"/>
              </a:spcAft>
              <a:buClr>
                <a:srgbClr val="152933"/>
              </a:buClr>
              <a:buSzPts val="1200"/>
              <a:buFont typeface="Nunito"/>
              <a:buChar char="○"/>
              <a:defRPr/>
            </a:lvl8pPr>
            <a:lvl9pPr marL="4114800" lvl="8" indent="-304800" rtl="0">
              <a:spcBef>
                <a:spcPts val="0"/>
              </a:spcBef>
              <a:spcAft>
                <a:spcPts val="0"/>
              </a:spcAft>
              <a:buClr>
                <a:srgbClr val="152933"/>
              </a:buClr>
              <a:buSzPts val="1200"/>
              <a:buFont typeface="Nunito"/>
              <a:buChar char="■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CUSTOM_9">
    <p:spTree>
      <p:nvGrpSpPr>
        <p:cNvPr id="1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4" name="Google Shape;284;p36"/>
          <p:cNvGrpSpPr/>
          <p:nvPr/>
        </p:nvGrpSpPr>
        <p:grpSpPr>
          <a:xfrm>
            <a:off x="-3653639" y="-2790360"/>
            <a:ext cx="15724511" cy="11210106"/>
            <a:chOff x="-3653639" y="-2790360"/>
            <a:chExt cx="15724511" cy="11210106"/>
          </a:xfrm>
        </p:grpSpPr>
        <p:pic>
          <p:nvPicPr>
            <p:cNvPr id="285" name="Google Shape;285;p36"/>
            <p:cNvPicPr preferRelativeResize="0"/>
            <p:nvPr/>
          </p:nvPicPr>
          <p:blipFill rotWithShape="1">
            <a:blip r:embed="rId2">
              <a:alphaModFix/>
            </a:blip>
            <a:srcRect/>
            <a:stretch/>
          </p:blipFill>
          <p:spPr>
            <a:xfrm>
              <a:off x="1440775" y="-2790360"/>
              <a:ext cx="9144003" cy="370582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86" name="Google Shape;286;p36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 rot="1660645">
              <a:off x="-2822346" y="2095850"/>
              <a:ext cx="6349545" cy="514350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87" name="Google Shape;287;p3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 rot="-1557935">
              <a:off x="6778778" y="1904999"/>
              <a:ext cx="4387548" cy="5143502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CUSTOM_9_1">
    <p:spTree>
      <p:nvGrpSpPr>
        <p:cNvPr id="1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9" name="Google Shape;289;p37"/>
          <p:cNvGrpSpPr/>
          <p:nvPr/>
        </p:nvGrpSpPr>
        <p:grpSpPr>
          <a:xfrm>
            <a:off x="-3038425" y="-2885610"/>
            <a:ext cx="15526757" cy="10936860"/>
            <a:chOff x="-3038425" y="-2885610"/>
            <a:chExt cx="15526757" cy="10936860"/>
          </a:xfrm>
        </p:grpSpPr>
        <p:pic>
          <p:nvPicPr>
            <p:cNvPr id="290" name="Google Shape;290;p37"/>
            <p:cNvPicPr preferRelativeResize="0"/>
            <p:nvPr/>
          </p:nvPicPr>
          <p:blipFill rotWithShape="1">
            <a:blip r:embed="rId2">
              <a:alphaModFix/>
            </a:blip>
            <a:srcRect/>
            <a:stretch/>
          </p:blipFill>
          <p:spPr>
            <a:xfrm flipH="1">
              <a:off x="330951" y="-2885610"/>
              <a:ext cx="9144003" cy="370582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91" name="Google Shape;291;p37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 rot="-1028951" flipH="1">
              <a:off x="5521633" y="2085974"/>
              <a:ext cx="6349540" cy="51435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92" name="Google Shape;292;p37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 rot="1600190" flipH="1">
              <a:off x="-2117498" y="1333498"/>
              <a:ext cx="4387549" cy="5143504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"/>
              <a:buNone/>
              <a:defRPr sz="30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Raleway"/>
              <a:buNone/>
              <a:defRPr sz="35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Raleway"/>
              <a:buNone/>
              <a:defRPr sz="35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Raleway"/>
              <a:buNone/>
              <a:defRPr sz="35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Raleway"/>
              <a:buNone/>
              <a:defRPr sz="35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Raleway"/>
              <a:buNone/>
              <a:defRPr sz="35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Raleway"/>
              <a:buNone/>
              <a:defRPr sz="35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Raleway"/>
              <a:buNone/>
              <a:defRPr sz="35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Raleway"/>
              <a:buNone/>
              <a:defRPr sz="35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13225" y="1152475"/>
            <a:ext cx="77175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unito"/>
              <a:buChar char="●"/>
              <a:defRPr sz="12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L="914400" lvl="1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unito"/>
              <a:buChar char="○"/>
              <a:defRPr sz="12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L="1371600" lvl="2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unito"/>
              <a:buChar char="■"/>
              <a:defRPr sz="12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L="1828800" lvl="3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unito"/>
              <a:buChar char="●"/>
              <a:defRPr sz="12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L="2286000" lvl="4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unito"/>
              <a:buChar char="○"/>
              <a:defRPr sz="12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L="2743200" lvl="5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unito"/>
              <a:buChar char="■"/>
              <a:defRPr sz="12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L="3200400" lvl="6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unito"/>
              <a:buChar char="●"/>
              <a:defRPr sz="12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L="3657600" lvl="7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unito"/>
              <a:buChar char="○"/>
              <a:defRPr sz="12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L="4114800" lvl="8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unito"/>
              <a:buChar char="■"/>
              <a:defRPr sz="12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endParaRPr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B480CAA2-12B6-55E8-4E29-9F5854CF37B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229599" y="4879571"/>
            <a:ext cx="822961" cy="14962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/>
              <a:t>Chloe Barker</a:t>
            </a:r>
            <a:endParaRPr lang="en-US" dirty="0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0" r:id="rId2"/>
    <p:sldLayoutId id="2147483653" r:id="rId3"/>
    <p:sldLayoutId id="2147483654" r:id="rId4"/>
    <p:sldLayoutId id="2147483658" r:id="rId5"/>
    <p:sldLayoutId id="2147483672" r:id="rId6"/>
    <p:sldLayoutId id="2147483673" r:id="rId7"/>
    <p:sldLayoutId id="2147483682" r:id="rId8"/>
    <p:sldLayoutId id="2147483683" r:id="rId9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 xmlns:p15="http://schemas.microsoft.com/office/powerpoint/2012/main">
        <p15:guide id="1" pos="449">
          <p15:clr>
            <a:srgbClr val="EA4335"/>
          </p15:clr>
        </p15:guide>
        <p15:guide id="2" pos="5311">
          <p15:clr>
            <a:srgbClr val="EA4335"/>
          </p15:clr>
        </p15:guide>
        <p15:guide id="3" orient="horz" pos="340">
          <p15:clr>
            <a:srgbClr val="EA4335"/>
          </p15:clr>
        </p15:guide>
        <p15:guide id="4" orient="horz" pos="2900">
          <p15:clr>
            <a:srgbClr val="EA4335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p41"/>
          <p:cNvSpPr txBox="1">
            <a:spLocks noGrp="1"/>
          </p:cNvSpPr>
          <p:nvPr>
            <p:ph type="ctrTitle"/>
          </p:nvPr>
        </p:nvSpPr>
        <p:spPr>
          <a:xfrm>
            <a:off x="713250" y="1525050"/>
            <a:ext cx="7717500" cy="166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 dirty="0"/>
              <a:t>How GPT-style AI Could Transform Preventive Medicine</a:t>
            </a:r>
            <a:endParaRPr sz="4400" dirty="0"/>
          </a:p>
        </p:txBody>
      </p:sp>
      <p:sp>
        <p:nvSpPr>
          <p:cNvPr id="304" name="Google Shape;304;p41"/>
          <p:cNvSpPr txBox="1">
            <a:spLocks noGrp="1"/>
          </p:cNvSpPr>
          <p:nvPr>
            <p:ph type="subTitle" idx="1"/>
          </p:nvPr>
        </p:nvSpPr>
        <p:spPr>
          <a:xfrm>
            <a:off x="2307700" y="3187350"/>
            <a:ext cx="4528800" cy="43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NLP News of the Week</a:t>
            </a:r>
            <a:endParaRPr dirty="0"/>
          </a:p>
        </p:txBody>
      </p:sp>
      <p:sp>
        <p:nvSpPr>
          <p:cNvPr id="2" name="Google Shape;304;p41">
            <a:extLst>
              <a:ext uri="{FF2B5EF4-FFF2-40B4-BE49-F238E27FC236}">
                <a16:creationId xmlns:a16="http://schemas.microsoft.com/office/drawing/2014/main" id="{31B62304-C5F3-623C-1745-CB889FF10C94}"/>
              </a:ext>
            </a:extLst>
          </p:cNvPr>
          <p:cNvSpPr txBox="1">
            <a:spLocks/>
          </p:cNvSpPr>
          <p:nvPr/>
        </p:nvSpPr>
        <p:spPr>
          <a:xfrm>
            <a:off x="2301460" y="3531398"/>
            <a:ext cx="45288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unito"/>
              <a:buNone/>
              <a:defRPr sz="1600" b="0" i="0" u="none" strike="noStrike" cap="none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L="914400" marR="0" lvl="1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unito"/>
              <a:buNone/>
              <a:defRPr sz="1800" b="0" i="0" u="none" strike="noStrike" cap="none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L="1371600" marR="0" lvl="2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unito"/>
              <a:buNone/>
              <a:defRPr sz="1800" b="0" i="0" u="none" strike="noStrike" cap="none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L="1828800" marR="0" lvl="3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unito"/>
              <a:buNone/>
              <a:defRPr sz="1800" b="0" i="0" u="none" strike="noStrike" cap="none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L="2286000" marR="0" lvl="4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unito"/>
              <a:buNone/>
              <a:defRPr sz="1800" b="0" i="0" u="none" strike="noStrike" cap="none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L="2743200" marR="0" lvl="5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unito"/>
              <a:buNone/>
              <a:defRPr sz="1800" b="0" i="0" u="none" strike="noStrike" cap="none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L="3200400" marR="0" lvl="6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unito"/>
              <a:buNone/>
              <a:defRPr sz="1800" b="0" i="0" u="none" strike="noStrike" cap="none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L="3657600" marR="0" lvl="7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unito"/>
              <a:buNone/>
              <a:defRPr sz="1800" b="0" i="0" u="none" strike="noStrike" cap="none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L="4114800" marR="0" lvl="8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unito"/>
              <a:buNone/>
              <a:defRPr sz="1800" b="0" i="0" u="none" strike="noStrike" cap="none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marL="0" indent="0"/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Chloe Barker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5C22B8-A8F9-27D8-B6BE-DBACA31721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Problem</a:t>
            </a:r>
          </a:p>
        </p:txBody>
      </p:sp>
      <p:sp>
        <p:nvSpPr>
          <p:cNvPr id="6" name="Google Shape;355;p47">
            <a:extLst>
              <a:ext uri="{FF2B5EF4-FFF2-40B4-BE49-F238E27FC236}">
                <a16:creationId xmlns:a16="http://schemas.microsoft.com/office/drawing/2014/main" id="{D6F3E6B7-198C-3715-5794-3D806BC2E88B}"/>
              </a:ext>
            </a:extLst>
          </p:cNvPr>
          <p:cNvSpPr txBox="1">
            <a:spLocks/>
          </p:cNvSpPr>
          <p:nvPr/>
        </p:nvSpPr>
        <p:spPr>
          <a:xfrm>
            <a:off x="1146255" y="1317595"/>
            <a:ext cx="6888137" cy="27182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Nunito"/>
              <a:buNone/>
              <a:defRPr sz="1200" b="0" i="0" u="none" strike="noStrike" cap="none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L="914400" marR="0" lvl="1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unito"/>
              <a:buNone/>
              <a:defRPr sz="1200" b="0" i="0" u="none" strike="noStrike" cap="none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L="1371600" marR="0" lvl="2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unito"/>
              <a:buNone/>
              <a:defRPr sz="1200" b="0" i="0" u="none" strike="noStrike" cap="none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L="1828800" marR="0" lvl="3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unito"/>
              <a:buNone/>
              <a:defRPr sz="1200" b="0" i="0" u="none" strike="noStrike" cap="none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L="2286000" marR="0" lvl="4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unito"/>
              <a:buNone/>
              <a:defRPr sz="1200" b="0" i="0" u="none" strike="noStrike" cap="none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L="2743200" marR="0" lvl="5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unito"/>
              <a:buNone/>
              <a:defRPr sz="1200" b="0" i="0" u="none" strike="noStrike" cap="none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L="3200400" marR="0" lvl="6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unito"/>
              <a:buNone/>
              <a:defRPr sz="1200" b="0" i="0" u="none" strike="noStrike" cap="none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L="3657600" marR="0" lvl="7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unito"/>
              <a:buNone/>
              <a:defRPr sz="1200" b="0" i="0" u="none" strike="noStrike" cap="none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L="4114800" marR="0" lvl="8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unito"/>
              <a:buNone/>
              <a:defRPr sz="1200" b="0" i="0" u="none" strike="noStrike" cap="none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-317500" algn="l">
              <a:lnSpc>
                <a:spcPct val="150000"/>
              </a:lnSpc>
              <a:buSzPts val="1400"/>
              <a:buFont typeface="Nunito"/>
              <a:buChar char="●"/>
            </a:pPr>
            <a:r>
              <a:rPr lang="en-US" sz="1800" dirty="0"/>
              <a:t>Patients develop </a:t>
            </a:r>
            <a:r>
              <a:rPr lang="en-US" sz="1800" b="1" dirty="0"/>
              <a:t>multiple interacting conditions</a:t>
            </a:r>
            <a:r>
              <a:rPr lang="en-US" sz="1800" dirty="0"/>
              <a:t>, over time</a:t>
            </a:r>
          </a:p>
          <a:p>
            <a:pPr indent="-317500" algn="l">
              <a:lnSpc>
                <a:spcPct val="150000"/>
              </a:lnSpc>
              <a:buSzPts val="1400"/>
              <a:buFont typeface="Nunito"/>
              <a:buChar char="●"/>
            </a:pPr>
            <a:r>
              <a:rPr lang="en-US" sz="1800" dirty="0"/>
              <a:t>Most clinical risk tools predict one </a:t>
            </a:r>
            <a:r>
              <a:rPr lang="en-US" sz="1800" b="1" dirty="0"/>
              <a:t>disease at a time</a:t>
            </a:r>
          </a:p>
          <a:p>
            <a:pPr indent="-317500" algn="l">
              <a:lnSpc>
                <a:spcPct val="150000"/>
              </a:lnSpc>
              <a:buSzPts val="1400"/>
              <a:buFont typeface="Nunito"/>
              <a:buChar char="●"/>
            </a:pPr>
            <a:r>
              <a:rPr lang="en-US" sz="1800" dirty="0"/>
              <a:t>They often </a:t>
            </a:r>
            <a:r>
              <a:rPr lang="en-US" sz="1800" b="1" dirty="0"/>
              <a:t>ignore order and timing </a:t>
            </a:r>
            <a:r>
              <a:rPr lang="en-US" sz="1800" dirty="0"/>
              <a:t>of diagnoses</a:t>
            </a:r>
          </a:p>
          <a:p>
            <a:pPr indent="-317500" algn="l">
              <a:lnSpc>
                <a:spcPct val="150000"/>
              </a:lnSpc>
              <a:buSzPts val="1400"/>
              <a:buFont typeface="Nunito"/>
              <a:buChar char="●"/>
            </a:pPr>
            <a:r>
              <a:rPr lang="en-US" sz="1800" dirty="0"/>
              <a:t>Risk is usually </a:t>
            </a:r>
            <a:r>
              <a:rPr lang="en-US" sz="1800" b="1" dirty="0"/>
              <a:t>detected after damage </a:t>
            </a:r>
            <a:r>
              <a:rPr lang="en-US" sz="1800" dirty="0"/>
              <a:t>begins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F991EF2-0704-8A3B-39EA-B371B01F5AFB}"/>
              </a:ext>
            </a:extLst>
          </p:cNvPr>
          <p:cNvSpPr/>
          <p:nvPr/>
        </p:nvSpPr>
        <p:spPr>
          <a:xfrm>
            <a:off x="0" y="3698240"/>
            <a:ext cx="9144000" cy="66040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dirty="0">
                <a:solidFill>
                  <a:schemeClr val="tx1"/>
                </a:solidFill>
                <a:latin typeface="Nunito" pitchFamily="2" charset="77"/>
              </a:rPr>
              <a:t>Key Gap: </a:t>
            </a:r>
            <a:r>
              <a:rPr lang="en-US" sz="1600" dirty="0">
                <a:solidFill>
                  <a:schemeClr val="tx1"/>
                </a:solidFill>
                <a:latin typeface="Nunito" pitchFamily="2" charset="77"/>
              </a:rPr>
              <a:t>No unified way to model long-term health trajectories for various conditions</a:t>
            </a:r>
          </a:p>
        </p:txBody>
      </p:sp>
    </p:spTree>
    <p:extLst>
      <p:ext uri="{BB962C8B-B14F-4D97-AF65-F5344CB8AC3E}">
        <p14:creationId xmlns:p14="http://schemas.microsoft.com/office/powerpoint/2010/main" val="410089712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Google Shape;347;p46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Meet </a:t>
            </a:r>
            <a:r>
              <a:rPr lang="en" i="1" dirty="0"/>
              <a:t>Delphi-2M</a:t>
            </a:r>
            <a:endParaRPr i="1" dirty="0"/>
          </a:p>
        </p:txBody>
      </p:sp>
      <p:sp>
        <p:nvSpPr>
          <p:cNvPr id="349" name="Google Shape;349;p46"/>
          <p:cNvSpPr txBox="1">
            <a:spLocks noGrp="1"/>
          </p:cNvSpPr>
          <p:nvPr>
            <p:ph type="subTitle" idx="2"/>
          </p:nvPr>
        </p:nvSpPr>
        <p:spPr>
          <a:xfrm>
            <a:off x="561860" y="1508436"/>
            <a:ext cx="4213340" cy="2031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indent="-317500" algn="l">
              <a:buSzPts val="1400"/>
              <a:buFont typeface="Nunito"/>
              <a:buChar char="●"/>
            </a:pPr>
            <a:r>
              <a:rPr lang="en-US" sz="1800" b="1" dirty="0"/>
              <a:t>Predicts risk </a:t>
            </a:r>
            <a:r>
              <a:rPr lang="en-US" sz="1800" dirty="0"/>
              <a:t>for 1,000+ diseases simultaneously</a:t>
            </a:r>
          </a:p>
          <a:p>
            <a:pPr indent="-317500" algn="l">
              <a:buSzPts val="1400"/>
              <a:buFont typeface="Nunito"/>
              <a:buChar char="●"/>
            </a:pPr>
            <a:r>
              <a:rPr lang="en-US" sz="1800" dirty="0"/>
              <a:t>Forecasts disease </a:t>
            </a:r>
            <a:r>
              <a:rPr lang="en-US" sz="1800" b="1" dirty="0"/>
              <a:t>probability</a:t>
            </a:r>
            <a:r>
              <a:rPr lang="en-US" sz="1800" dirty="0"/>
              <a:t> </a:t>
            </a:r>
            <a:r>
              <a:rPr lang="en-US" sz="1800" b="1" dirty="0"/>
              <a:t>and timing</a:t>
            </a:r>
            <a:r>
              <a:rPr lang="en-US" sz="1800" dirty="0"/>
              <a:t> of events, up to 20 years ahead</a:t>
            </a:r>
          </a:p>
          <a:p>
            <a:pPr indent="-317500" algn="l">
              <a:buSzPts val="1400"/>
              <a:buFont typeface="Nunito"/>
              <a:buChar char="●"/>
            </a:pPr>
            <a:r>
              <a:rPr lang="en-US" sz="1800" dirty="0"/>
              <a:t>Built on a modified </a:t>
            </a:r>
            <a:r>
              <a:rPr lang="en-US" sz="1800" b="1" dirty="0"/>
              <a:t>GPT-style transformer</a:t>
            </a:r>
          </a:p>
          <a:p>
            <a:pPr indent="-317500" algn="l">
              <a:buSzPts val="1400"/>
              <a:buFont typeface="Nunito"/>
              <a:buChar char="●"/>
            </a:pPr>
            <a:r>
              <a:rPr lang="en-US" sz="1800" dirty="0"/>
              <a:t>Treats health history as a </a:t>
            </a:r>
            <a:r>
              <a:rPr lang="en-US" sz="1800" b="1" dirty="0"/>
              <a:t>sequence</a:t>
            </a:r>
            <a:endParaRPr lang="en-US" sz="1800" dirty="0"/>
          </a:p>
          <a:p>
            <a:pPr indent="-317500" algn="l">
              <a:buSzPts val="1400"/>
              <a:buFont typeface="Nunito"/>
              <a:buChar char="●"/>
            </a:pPr>
            <a:endParaRPr lang="en-US" sz="1800" dirty="0"/>
          </a:p>
          <a:p>
            <a:pPr indent="-317500" algn="l">
              <a:buSzPts val="1400"/>
              <a:buFont typeface="Nunito"/>
              <a:buChar char="●"/>
            </a:pPr>
            <a:endParaRPr lang="en-US" sz="1800" dirty="0"/>
          </a:p>
        </p:txBody>
      </p:sp>
      <p:pic>
        <p:nvPicPr>
          <p:cNvPr id="5" name="Picture 4" descr="A close-up of a blue cell&#10;&#10;AI-generated content may be incorrect.">
            <a:extLst>
              <a:ext uri="{FF2B5EF4-FFF2-40B4-BE49-F238E27FC236}">
                <a16:creationId xmlns:a16="http://schemas.microsoft.com/office/drawing/2014/main" id="{C590C188-5D83-60AD-886D-4D3BFDB618C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20640" y="1615441"/>
            <a:ext cx="3657600" cy="2057400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3">
          <a:extLst>
            <a:ext uri="{FF2B5EF4-FFF2-40B4-BE49-F238E27FC236}">
              <a16:creationId xmlns:a16="http://schemas.microsoft.com/office/drawing/2014/main" id="{D386703D-58BA-3154-81E4-249FDBB6DF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Google Shape;355;p47">
            <a:extLst>
              <a:ext uri="{FF2B5EF4-FFF2-40B4-BE49-F238E27FC236}">
                <a16:creationId xmlns:a16="http://schemas.microsoft.com/office/drawing/2014/main" id="{C369B1A0-0079-56CD-5964-4EB327C44801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575727" y="1214235"/>
            <a:ext cx="3431194" cy="3172829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sz="1800" dirty="0"/>
              <a:t>Each diagnosis = a token (ICD-10 code)</a:t>
            </a:r>
          </a:p>
          <a:p>
            <a:r>
              <a:rPr lang="en-US" sz="1800" dirty="0"/>
              <a:t>Tokens are ordered sequentially, by age</a:t>
            </a:r>
          </a:p>
          <a:p>
            <a:r>
              <a:rPr lang="en-US" sz="1800" dirty="0"/>
              <a:t>Tokens Included:</a:t>
            </a:r>
          </a:p>
          <a:p>
            <a:pPr marL="858838" indent="-285750">
              <a:tabLst>
                <a:tab pos="511175" algn="l"/>
              </a:tabLst>
            </a:pPr>
            <a:r>
              <a:rPr lang="en-US" sz="1800" dirty="0"/>
              <a:t>Sex</a:t>
            </a:r>
          </a:p>
          <a:p>
            <a:pPr marL="858838" indent="-285750">
              <a:tabLst>
                <a:tab pos="511175" algn="l"/>
              </a:tabLst>
            </a:pPr>
            <a:r>
              <a:rPr lang="en-US" sz="1800" dirty="0"/>
              <a:t>Disease</a:t>
            </a:r>
          </a:p>
          <a:p>
            <a:pPr marL="858838" indent="-285750">
              <a:tabLst>
                <a:tab pos="511175" algn="l"/>
              </a:tabLst>
            </a:pPr>
            <a:r>
              <a:rPr lang="en-US" sz="1800" dirty="0"/>
              <a:t>Lifestyle (BMI, smoking, alcohol, etc.)</a:t>
            </a:r>
          </a:p>
          <a:p>
            <a:pPr marL="858838" indent="-285750">
              <a:tabLst>
                <a:tab pos="511175" algn="l"/>
              </a:tabLst>
            </a:pPr>
            <a:r>
              <a:rPr lang="en-US" sz="1800" dirty="0"/>
              <a:t>No event (padding)</a:t>
            </a:r>
          </a:p>
          <a:p>
            <a:r>
              <a:rPr lang="en-US" sz="1800" dirty="0"/>
              <a:t>Model learns the grammar of disease progression</a:t>
            </a:r>
          </a:p>
          <a:p>
            <a:endParaRPr lang="en-US" sz="1800" dirty="0"/>
          </a:p>
          <a:p>
            <a:endParaRPr lang="en-US" sz="1800" dirty="0"/>
          </a:p>
        </p:txBody>
      </p:sp>
      <p:pic>
        <p:nvPicPr>
          <p:cNvPr id="2" name="Picture 1" descr="A diagram of a diagram of smoking&#10;&#10;AI-generated content may be incorrect.">
            <a:extLst>
              <a:ext uri="{FF2B5EF4-FFF2-40B4-BE49-F238E27FC236}">
                <a16:creationId xmlns:a16="http://schemas.microsoft.com/office/drawing/2014/main" id="{196B4F4F-BD74-5D48-A389-7CA4BB2C103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2807"/>
          <a:stretch>
            <a:fillRect/>
          </a:stretch>
        </p:blipFill>
        <p:spPr>
          <a:xfrm>
            <a:off x="4260840" y="1196587"/>
            <a:ext cx="4662575" cy="1424737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3" name="Google Shape;360;p48">
            <a:extLst>
              <a:ext uri="{FF2B5EF4-FFF2-40B4-BE49-F238E27FC236}">
                <a16:creationId xmlns:a16="http://schemas.microsoft.com/office/drawing/2014/main" id="{6DFA654E-EAAD-64C5-B4F4-A2BA69095EFC}"/>
              </a:ext>
            </a:extLst>
          </p:cNvPr>
          <p:cNvSpPr txBox="1">
            <a:spLocks/>
          </p:cNvSpPr>
          <p:nvPr/>
        </p:nvSpPr>
        <p:spPr>
          <a:xfrm>
            <a:off x="510680" y="400957"/>
            <a:ext cx="3995219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"/>
              <a:buNone/>
              <a:defRPr sz="30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Raleway"/>
              <a:buNone/>
              <a:defRPr sz="35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Raleway"/>
              <a:buNone/>
              <a:defRPr sz="35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Raleway"/>
              <a:buNone/>
              <a:defRPr sz="35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Raleway"/>
              <a:buNone/>
              <a:defRPr sz="35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Raleway"/>
              <a:buNone/>
              <a:defRPr sz="35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Raleway"/>
              <a:buNone/>
              <a:defRPr sz="35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Raleway"/>
              <a:buNone/>
              <a:defRPr sz="35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Raleway"/>
              <a:buNone/>
              <a:defRPr sz="35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pPr algn="ctr"/>
            <a:r>
              <a:rPr lang="en-US" sz="2400"/>
              <a:t>How </a:t>
            </a:r>
            <a:r>
              <a:rPr lang="en-US" sz="2400" i="1"/>
              <a:t>Delphi-2M</a:t>
            </a:r>
            <a:r>
              <a:rPr lang="en-US" sz="2400"/>
              <a:t> Works</a:t>
            </a:r>
            <a:endParaRPr lang="en-US" sz="2400" dirty="0"/>
          </a:p>
        </p:txBody>
      </p:sp>
      <p:sp>
        <p:nvSpPr>
          <p:cNvPr id="4" name="Google Shape;355;p47">
            <a:extLst>
              <a:ext uri="{FF2B5EF4-FFF2-40B4-BE49-F238E27FC236}">
                <a16:creationId xmlns:a16="http://schemas.microsoft.com/office/drawing/2014/main" id="{CD9DFE2B-6FDE-911E-C0F3-8244E29F668B}"/>
              </a:ext>
            </a:extLst>
          </p:cNvPr>
          <p:cNvSpPr txBox="1">
            <a:spLocks/>
          </p:cNvSpPr>
          <p:nvPr/>
        </p:nvSpPr>
        <p:spPr>
          <a:xfrm>
            <a:off x="4732505" y="3522848"/>
            <a:ext cx="3719245" cy="848987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150000"/>
              </a:lnSpc>
              <a:buSzPts val="1400"/>
            </a:pPr>
            <a:r>
              <a:rPr lang="en-US" sz="1000" dirty="0">
                <a:latin typeface="Nunito" pitchFamily="2" charset="77"/>
              </a:rPr>
              <a:t>Credibility: Training, validation and testing data derived from:</a:t>
            </a:r>
          </a:p>
          <a:p>
            <a:pPr marL="404813" lvl="4" indent="-166688">
              <a:lnSpc>
                <a:spcPct val="150000"/>
              </a:lnSpc>
              <a:buSzPts val="1400"/>
              <a:buFont typeface="Arial" panose="020B0604020202020204" pitchFamily="34" charset="0"/>
              <a:buChar char="•"/>
            </a:pPr>
            <a:r>
              <a:rPr lang="en-US" sz="1000" dirty="0">
                <a:latin typeface="Nunito" pitchFamily="2" charset="77"/>
              </a:rPr>
              <a:t>400K UK Biobank participants</a:t>
            </a:r>
          </a:p>
          <a:p>
            <a:pPr marL="404813" lvl="4" indent="-166688">
              <a:lnSpc>
                <a:spcPct val="150000"/>
              </a:lnSpc>
              <a:buSzPts val="1400"/>
              <a:buFont typeface="Arial" panose="020B0604020202020204" pitchFamily="34" charset="0"/>
              <a:buChar char="•"/>
            </a:pPr>
            <a:r>
              <a:rPr lang="en-US" sz="1000" dirty="0">
                <a:latin typeface="Nunito" pitchFamily="2" charset="77"/>
              </a:rPr>
              <a:t>1.9M Danish disease registries</a:t>
            </a:r>
          </a:p>
          <a:p>
            <a:pPr indent="-317500">
              <a:lnSpc>
                <a:spcPct val="150000"/>
              </a:lnSpc>
              <a:buSzPts val="1400"/>
              <a:buFont typeface="Nunito"/>
              <a:buChar char="●"/>
            </a:pPr>
            <a:endParaRPr lang="en-US" sz="1000" dirty="0">
              <a:latin typeface="Nunito" pitchFamily="2" charset="77"/>
            </a:endParaRPr>
          </a:p>
          <a:p>
            <a:endParaRPr lang="en-US" sz="1000" dirty="0">
              <a:latin typeface="Nunito" pitchFamily="2" charset="77"/>
            </a:endParaRPr>
          </a:p>
          <a:p>
            <a:pPr marL="139700">
              <a:buSzPts val="1400"/>
            </a:pPr>
            <a:endParaRPr lang="en-US" sz="1000" dirty="0">
              <a:latin typeface="Nunito" pitchFamily="2" charset="77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6320623-7332-364F-E80E-758B17DB7524}"/>
              </a:ext>
            </a:extLst>
          </p:cNvPr>
          <p:cNvSpPr txBox="1"/>
          <p:nvPr/>
        </p:nvSpPr>
        <p:spPr>
          <a:xfrm>
            <a:off x="4192025" y="2684851"/>
            <a:ext cx="4874018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latin typeface="Nunito" pitchFamily="2" charset="77"/>
              </a:rPr>
              <a:t>Sample Figure: Schematic of health trajectories based on ICD-10 diagnoses, lifestyle and healthy padding tokens, each recorded at a distinct age.</a:t>
            </a:r>
          </a:p>
          <a:p>
            <a:endParaRPr lang="en-US" sz="1000" dirty="0">
              <a:latin typeface="Nunito" pitchFamily="2" charset="77"/>
            </a:endParaRPr>
          </a:p>
        </p:txBody>
      </p:sp>
      <p:sp>
        <p:nvSpPr>
          <p:cNvPr id="6" name="Google Shape;386;p51">
            <a:extLst>
              <a:ext uri="{FF2B5EF4-FFF2-40B4-BE49-F238E27FC236}">
                <a16:creationId xmlns:a16="http://schemas.microsoft.com/office/drawing/2014/main" id="{DDCD7617-AF81-0B4A-DC9C-2D544C633B4C}"/>
              </a:ext>
            </a:extLst>
          </p:cNvPr>
          <p:cNvSpPr txBox="1">
            <a:spLocks/>
          </p:cNvSpPr>
          <p:nvPr/>
        </p:nvSpPr>
        <p:spPr>
          <a:xfrm>
            <a:off x="789768" y="826105"/>
            <a:ext cx="2811000" cy="361251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Nunito" pitchFamily="2" charset="77"/>
              </a:rPr>
              <a:t>Health as Tokens Over Time</a:t>
            </a:r>
          </a:p>
        </p:txBody>
      </p:sp>
    </p:spTree>
    <p:extLst>
      <p:ext uri="{BB962C8B-B14F-4D97-AF65-F5344CB8AC3E}">
        <p14:creationId xmlns:p14="http://schemas.microsoft.com/office/powerpoint/2010/main" val="331795383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9B3155-A6DF-E66C-194F-4130AE2745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1">
            <a:extLst>
              <a:ext uri="{FF2B5EF4-FFF2-40B4-BE49-F238E27FC236}">
                <a16:creationId xmlns:a16="http://schemas.microsoft.com/office/drawing/2014/main" id="{AF4CC757-3930-E47F-0506-E5AB510232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Limitations &amp; Ethical Considerations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7B8007C-53C9-3D3C-6EBE-0EC5F186EBB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0998" y="1865141"/>
            <a:ext cx="3669357" cy="1826400"/>
          </a:xfrm>
        </p:spPr>
        <p:txBody>
          <a:bodyPr/>
          <a:lstStyle/>
          <a:p>
            <a:pPr algn="l">
              <a:buFont typeface="Arial" panose="020B0604020202020204" pitchFamily="34" charset="0"/>
              <a:buChar char="•"/>
            </a:pPr>
            <a:r>
              <a:rPr lang="en-US" sz="1800" dirty="0"/>
              <a:t>Not ready for clinical deployment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1800" dirty="0"/>
              <a:t>Predictions reflect probability, not certainty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1800" dirty="0"/>
              <a:t>Performance varies by disease type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1800" dirty="0"/>
              <a:t>Training data may introduce demographic bias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C2D0204-7B6F-AF54-7E85-4FCDABF1D2B2}"/>
              </a:ext>
            </a:extLst>
          </p:cNvPr>
          <p:cNvSpPr txBox="1"/>
          <p:nvPr/>
        </p:nvSpPr>
        <p:spPr>
          <a:xfrm>
            <a:off x="4723545" y="1865141"/>
            <a:ext cx="3732087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indent="-304800">
              <a:buClr>
                <a:schemeClr val="dk1"/>
              </a:buClr>
              <a:buSzPts val="1600"/>
              <a:buFont typeface="Arial" panose="020B0604020202020204" pitchFamily="34" charset="0"/>
              <a:buChar char="•"/>
              <a:defRPr sz="18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L="914400" indent="-304800" algn="ctr">
              <a:buClr>
                <a:srgbClr val="E76A28"/>
              </a:buClr>
              <a:buSzPts val="1600"/>
              <a:buFont typeface="Nunito Light"/>
              <a:buChar char="○"/>
              <a:defRPr sz="12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L="1371600" indent="-304800" algn="ctr">
              <a:buClr>
                <a:srgbClr val="E76A28"/>
              </a:buClr>
              <a:buSzPts val="1500"/>
              <a:buFont typeface="Nunito Light"/>
              <a:buChar char="■"/>
              <a:defRPr sz="12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L="1828800" indent="-304800" algn="ctr">
              <a:buClr>
                <a:srgbClr val="E76A28"/>
              </a:buClr>
              <a:buSzPts val="1500"/>
              <a:buFont typeface="Nunito Light"/>
              <a:buChar char="●"/>
              <a:defRPr sz="12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L="2286000" indent="-304800" algn="ctr">
              <a:buClr>
                <a:srgbClr val="E76A28"/>
              </a:buClr>
              <a:buSzPts val="1200"/>
              <a:buFont typeface="Nunito Light"/>
              <a:buChar char="○"/>
              <a:defRPr sz="12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L="2743200" indent="-304800" algn="ctr">
              <a:buClr>
                <a:srgbClr val="999999"/>
              </a:buClr>
              <a:buSzPts val="1200"/>
              <a:buFont typeface="Nunito Light"/>
              <a:buChar char="■"/>
              <a:defRPr sz="12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L="3200400" indent="-304800" algn="ctr">
              <a:buClr>
                <a:srgbClr val="999999"/>
              </a:buClr>
              <a:buSzPts val="1300"/>
              <a:buFont typeface="Nunito Light"/>
              <a:buChar char="●"/>
              <a:defRPr sz="12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L="3657600" indent="-304800" algn="ctr">
              <a:buClr>
                <a:srgbClr val="999999"/>
              </a:buClr>
              <a:buSzPts val="1300"/>
              <a:buFont typeface="Nunito Light"/>
              <a:buChar char="○"/>
              <a:defRPr sz="12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L="4114800" indent="-304800" algn="ctr">
              <a:buClr>
                <a:srgbClr val="999999"/>
              </a:buClr>
              <a:buSzPts val="1200"/>
              <a:buFont typeface="Nunito Light"/>
              <a:buChar char="■"/>
              <a:defRPr sz="12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r>
              <a:rPr lang="en-US" dirty="0"/>
              <a:t>Raises ethical questions about potential future risk</a:t>
            </a:r>
          </a:p>
          <a:p>
            <a:r>
              <a:rPr lang="en-US" dirty="0"/>
              <a:t>Privacy and governance of sensitive health data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81629FA-6F13-9D7C-8899-8A9932AE782A}"/>
              </a:ext>
            </a:extLst>
          </p:cNvPr>
          <p:cNvSpPr txBox="1"/>
          <p:nvPr/>
        </p:nvSpPr>
        <p:spPr>
          <a:xfrm>
            <a:off x="786831" y="1368555"/>
            <a:ext cx="3732087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indent="-304800">
              <a:buClr>
                <a:schemeClr val="dk1"/>
              </a:buClr>
              <a:buSzPts val="1600"/>
              <a:buFont typeface="Arial" panose="020B0604020202020204" pitchFamily="34" charset="0"/>
              <a:buChar char="•"/>
              <a:defRPr sz="18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L="914400" indent="-304800" algn="ctr">
              <a:buClr>
                <a:srgbClr val="E76A28"/>
              </a:buClr>
              <a:buSzPts val="1600"/>
              <a:buFont typeface="Nunito Light"/>
              <a:buChar char="○"/>
              <a:defRPr sz="12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L="1371600" indent="-304800" algn="ctr">
              <a:buClr>
                <a:srgbClr val="E76A28"/>
              </a:buClr>
              <a:buSzPts val="1500"/>
              <a:buFont typeface="Nunito Light"/>
              <a:buChar char="■"/>
              <a:defRPr sz="12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L="1828800" indent="-304800" algn="ctr">
              <a:buClr>
                <a:srgbClr val="E76A28"/>
              </a:buClr>
              <a:buSzPts val="1500"/>
              <a:buFont typeface="Nunito Light"/>
              <a:buChar char="●"/>
              <a:defRPr sz="12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L="2286000" indent="-304800" algn="ctr">
              <a:buClr>
                <a:srgbClr val="E76A28"/>
              </a:buClr>
              <a:buSzPts val="1200"/>
              <a:buFont typeface="Nunito Light"/>
              <a:buChar char="○"/>
              <a:defRPr sz="12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L="2743200" indent="-304800" algn="ctr">
              <a:buClr>
                <a:srgbClr val="999999"/>
              </a:buClr>
              <a:buSzPts val="1200"/>
              <a:buFont typeface="Nunito Light"/>
              <a:buChar char="■"/>
              <a:defRPr sz="12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L="3200400" indent="-304800" algn="ctr">
              <a:buClr>
                <a:srgbClr val="999999"/>
              </a:buClr>
              <a:buSzPts val="1300"/>
              <a:buFont typeface="Nunito Light"/>
              <a:buChar char="●"/>
              <a:defRPr sz="12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L="3657600" indent="-304800" algn="ctr">
              <a:buClr>
                <a:srgbClr val="999999"/>
              </a:buClr>
              <a:buSzPts val="1300"/>
              <a:buFont typeface="Nunito Light"/>
              <a:buChar char="○"/>
              <a:defRPr sz="12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L="4114800" indent="-304800" algn="ctr">
              <a:buClr>
                <a:srgbClr val="999999"/>
              </a:buClr>
              <a:buSzPts val="1200"/>
              <a:buFont typeface="Nunito Light"/>
              <a:buChar char="■"/>
              <a:defRPr sz="12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marL="152400" indent="0">
              <a:buNone/>
            </a:pPr>
            <a:r>
              <a:rPr lang="en-US" b="1" dirty="0"/>
              <a:t>Limitations: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7A30E89-139E-D78C-5AB0-8584D8BC83D9}"/>
              </a:ext>
            </a:extLst>
          </p:cNvPr>
          <p:cNvSpPr txBox="1"/>
          <p:nvPr/>
        </p:nvSpPr>
        <p:spPr>
          <a:xfrm>
            <a:off x="4586558" y="1368555"/>
            <a:ext cx="3732087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indent="-304800">
              <a:buClr>
                <a:schemeClr val="dk1"/>
              </a:buClr>
              <a:buSzPts val="1600"/>
              <a:buFont typeface="Arial" panose="020B0604020202020204" pitchFamily="34" charset="0"/>
              <a:buChar char="•"/>
              <a:defRPr sz="18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L="914400" indent="-304800" algn="ctr">
              <a:buClr>
                <a:srgbClr val="E76A28"/>
              </a:buClr>
              <a:buSzPts val="1600"/>
              <a:buFont typeface="Nunito Light"/>
              <a:buChar char="○"/>
              <a:defRPr sz="12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L="1371600" indent="-304800" algn="ctr">
              <a:buClr>
                <a:srgbClr val="E76A28"/>
              </a:buClr>
              <a:buSzPts val="1500"/>
              <a:buFont typeface="Nunito Light"/>
              <a:buChar char="■"/>
              <a:defRPr sz="12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L="1828800" indent="-304800" algn="ctr">
              <a:buClr>
                <a:srgbClr val="E76A28"/>
              </a:buClr>
              <a:buSzPts val="1500"/>
              <a:buFont typeface="Nunito Light"/>
              <a:buChar char="●"/>
              <a:defRPr sz="12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L="2286000" indent="-304800" algn="ctr">
              <a:buClr>
                <a:srgbClr val="E76A28"/>
              </a:buClr>
              <a:buSzPts val="1200"/>
              <a:buFont typeface="Nunito Light"/>
              <a:buChar char="○"/>
              <a:defRPr sz="12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L="2743200" indent="-304800" algn="ctr">
              <a:buClr>
                <a:srgbClr val="999999"/>
              </a:buClr>
              <a:buSzPts val="1200"/>
              <a:buFont typeface="Nunito Light"/>
              <a:buChar char="■"/>
              <a:defRPr sz="12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L="3200400" indent="-304800" algn="ctr">
              <a:buClr>
                <a:srgbClr val="999999"/>
              </a:buClr>
              <a:buSzPts val="1300"/>
              <a:buFont typeface="Nunito Light"/>
              <a:buChar char="●"/>
              <a:defRPr sz="12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L="3657600" indent="-304800" algn="ctr">
              <a:buClr>
                <a:srgbClr val="999999"/>
              </a:buClr>
              <a:buSzPts val="1300"/>
              <a:buFont typeface="Nunito Light"/>
              <a:buChar char="○"/>
              <a:defRPr sz="12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L="4114800" indent="-304800" algn="ctr">
              <a:buClr>
                <a:srgbClr val="999999"/>
              </a:buClr>
              <a:buSzPts val="1200"/>
              <a:buFont typeface="Nunito Light"/>
              <a:buChar char="■"/>
              <a:defRPr sz="12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marL="152400" indent="0">
              <a:buNone/>
            </a:pPr>
            <a:r>
              <a:rPr lang="en-US" b="1" dirty="0"/>
              <a:t>Ethical Considerations: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B343F31-1FCB-90AC-B93C-7CE5D5DEB1F1}"/>
              </a:ext>
            </a:extLst>
          </p:cNvPr>
          <p:cNvSpPr/>
          <p:nvPr/>
        </p:nvSpPr>
        <p:spPr>
          <a:xfrm>
            <a:off x="1027416" y="1693523"/>
            <a:ext cx="1551397" cy="51371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E36140B-CDE5-CC51-506E-F69FD0FB2035}"/>
              </a:ext>
            </a:extLst>
          </p:cNvPr>
          <p:cNvSpPr/>
          <p:nvPr/>
        </p:nvSpPr>
        <p:spPr>
          <a:xfrm>
            <a:off x="4816867" y="1693523"/>
            <a:ext cx="2743200" cy="51371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794336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" name="Google Shape;354;p47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109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US" dirty="0"/>
              <a:t>Why This Matters for Prevention</a:t>
            </a:r>
            <a:endParaRPr dirty="0"/>
          </a:p>
        </p:txBody>
      </p:sp>
      <p:sp>
        <p:nvSpPr>
          <p:cNvPr id="355" name="Google Shape;355;p47"/>
          <p:cNvSpPr txBox="1">
            <a:spLocks noGrp="1"/>
          </p:cNvSpPr>
          <p:nvPr>
            <p:ph type="subTitle" idx="1"/>
          </p:nvPr>
        </p:nvSpPr>
        <p:spPr>
          <a:xfrm>
            <a:off x="595900" y="1255332"/>
            <a:ext cx="8167956" cy="2450214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sz="1800" dirty="0"/>
              <a:t>Enables </a:t>
            </a:r>
            <a:r>
              <a:rPr lang="en-US" sz="1800" b="1" dirty="0"/>
              <a:t>earlier identification </a:t>
            </a:r>
            <a:r>
              <a:rPr lang="en-US" sz="1800" dirty="0"/>
              <a:t>of high-risk individuals</a:t>
            </a:r>
          </a:p>
          <a:p>
            <a:r>
              <a:rPr lang="en-US" sz="1800" dirty="0"/>
              <a:t>Supports </a:t>
            </a:r>
            <a:r>
              <a:rPr lang="en-US" sz="1800" b="1" dirty="0"/>
              <a:t>preventive screening </a:t>
            </a:r>
            <a:r>
              <a:rPr lang="en-US" sz="1800" dirty="0"/>
              <a:t>before symptoms</a:t>
            </a:r>
          </a:p>
          <a:p>
            <a:r>
              <a:rPr lang="en-US" sz="1800" dirty="0"/>
              <a:t>Allows population-level </a:t>
            </a:r>
            <a:r>
              <a:rPr lang="en-US" sz="1800" b="1" dirty="0"/>
              <a:t>forecasting</a:t>
            </a:r>
          </a:p>
          <a:p>
            <a:r>
              <a:rPr lang="en-US" sz="1800" dirty="0"/>
              <a:t>Shifts medicine from </a:t>
            </a:r>
            <a:r>
              <a:rPr lang="en-US" sz="1800" b="1" dirty="0"/>
              <a:t>reactive → preventive</a:t>
            </a:r>
          </a:p>
          <a:p>
            <a:r>
              <a:rPr lang="en-US" sz="1800" dirty="0"/>
              <a:t>Shows how NLP models can </a:t>
            </a:r>
            <a:r>
              <a:rPr lang="en-US" sz="1800" b="1" dirty="0"/>
              <a:t>predict health trajectories</a:t>
            </a:r>
          </a:p>
          <a:p>
            <a:r>
              <a:rPr lang="en-US" sz="1800" dirty="0"/>
              <a:t>Delphi-2M reframes healthcare as a </a:t>
            </a:r>
            <a:r>
              <a:rPr lang="en-US" sz="1800" b="1" dirty="0"/>
              <a:t>sequence modeling problem</a:t>
            </a:r>
          </a:p>
          <a:p>
            <a:r>
              <a:rPr lang="en-US" sz="1800" dirty="0"/>
              <a:t>Transformers can </a:t>
            </a:r>
            <a:r>
              <a:rPr lang="en-US" sz="1800" b="1" dirty="0"/>
              <a:t>learn the structure </a:t>
            </a:r>
            <a:r>
              <a:rPr lang="en-US" sz="1800" dirty="0"/>
              <a:t>of disease over time</a:t>
            </a:r>
          </a:p>
          <a:p>
            <a:r>
              <a:rPr lang="en-US" sz="1800" dirty="0"/>
              <a:t>A major step toward </a:t>
            </a:r>
            <a:r>
              <a:rPr lang="en-US" sz="1800" b="1" dirty="0"/>
              <a:t>AI-driven</a:t>
            </a:r>
            <a:r>
              <a:rPr lang="en-US" sz="1800" dirty="0"/>
              <a:t> preventive medicine</a:t>
            </a:r>
          </a:p>
          <a:p>
            <a:endParaRPr lang="en-US" sz="1800" dirty="0"/>
          </a:p>
          <a:p>
            <a:endParaRPr lang="en-US" sz="1800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CC5E12A-9FFB-7778-BB01-0E0D505EBEA4}"/>
              </a:ext>
            </a:extLst>
          </p:cNvPr>
          <p:cNvSpPr/>
          <p:nvPr/>
        </p:nvSpPr>
        <p:spPr>
          <a:xfrm>
            <a:off x="0" y="3965368"/>
            <a:ext cx="9144000" cy="66040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dirty="0">
                <a:solidFill>
                  <a:schemeClr val="tx1"/>
                </a:solidFill>
                <a:latin typeface="Nunito" pitchFamily="2" charset="77"/>
              </a:rPr>
              <a:t>Delphi-2M predicts not just WHAT is coming, but also WHEN </a:t>
            </a:r>
            <a:endParaRPr lang="en-US" sz="1600" dirty="0">
              <a:solidFill>
                <a:schemeClr val="tx1"/>
              </a:solidFill>
              <a:latin typeface="Nunito" pitchFamily="2" charset="77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720;p75">
            <a:extLst>
              <a:ext uri="{FF2B5EF4-FFF2-40B4-BE49-F238E27FC236}">
                <a16:creationId xmlns:a16="http://schemas.microsoft.com/office/drawing/2014/main" id="{26EC6823-A0CC-635D-9FF9-F3E0E6EF3B6B}"/>
              </a:ext>
            </a:extLst>
          </p:cNvPr>
          <p:cNvSpPr txBox="1">
            <a:spLocks/>
          </p:cNvSpPr>
          <p:nvPr/>
        </p:nvSpPr>
        <p:spPr>
          <a:xfrm>
            <a:off x="2347950" y="1933767"/>
            <a:ext cx="4448100" cy="110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Raleway"/>
              <a:buNone/>
              <a:defRPr sz="60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Raleway"/>
              <a:buNone/>
              <a:defRPr sz="48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Raleway"/>
              <a:buNone/>
              <a:defRPr sz="48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Raleway"/>
              <a:buNone/>
              <a:defRPr sz="48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Raleway"/>
              <a:buNone/>
              <a:defRPr sz="48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Raleway"/>
              <a:buNone/>
              <a:defRPr sz="48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Raleway"/>
              <a:buNone/>
              <a:defRPr sz="48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Raleway"/>
              <a:buNone/>
              <a:defRPr sz="48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Raleway"/>
              <a:buNone/>
              <a:defRPr sz="48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r>
              <a:rPr lang="en-US" dirty="0"/>
              <a:t>Thanks!</a:t>
            </a:r>
          </a:p>
        </p:txBody>
      </p:sp>
      <p:sp>
        <p:nvSpPr>
          <p:cNvPr id="4" name="Google Shape;721;p75">
            <a:extLst>
              <a:ext uri="{FF2B5EF4-FFF2-40B4-BE49-F238E27FC236}">
                <a16:creationId xmlns:a16="http://schemas.microsoft.com/office/drawing/2014/main" id="{08A8B283-F240-95B9-B2D4-CD3CA8440B93}"/>
              </a:ext>
            </a:extLst>
          </p:cNvPr>
          <p:cNvSpPr txBox="1">
            <a:spLocks/>
          </p:cNvSpPr>
          <p:nvPr/>
        </p:nvSpPr>
        <p:spPr>
          <a:xfrm>
            <a:off x="2392018" y="2896236"/>
            <a:ext cx="4448100" cy="1046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US" b="1" dirty="0">
                <a:latin typeface="Nunito" pitchFamily="2" charset="77"/>
              </a:rPr>
              <a:t>Do you have any questions?</a:t>
            </a:r>
          </a:p>
          <a:p>
            <a:pPr algn="ctr"/>
            <a:r>
              <a:rPr lang="en-US" dirty="0" err="1">
                <a:latin typeface="Nunito" pitchFamily="2" charset="77"/>
              </a:rPr>
              <a:t>chloebarker@smu.edu</a:t>
            </a:r>
            <a:endParaRPr lang="en-US" dirty="0">
              <a:latin typeface="Nunito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36395007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4" name="Google Shape;754;p77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References</a:t>
            </a:r>
            <a:endParaRPr dirty="0"/>
          </a:p>
        </p:txBody>
      </p:sp>
      <p:sp>
        <p:nvSpPr>
          <p:cNvPr id="755" name="Google Shape;755;p77"/>
          <p:cNvSpPr txBox="1">
            <a:spLocks noGrp="1"/>
          </p:cNvSpPr>
          <p:nvPr>
            <p:ph type="body" idx="1"/>
          </p:nvPr>
        </p:nvSpPr>
        <p:spPr>
          <a:xfrm>
            <a:off x="560864" y="1194718"/>
            <a:ext cx="8307714" cy="234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71450" indent="-171450"/>
            <a:r>
              <a:rPr lang="en-US" dirty="0"/>
              <a:t>Shmatko, A., Jung, A.W., Gaurav, K. et al. Learning the natural history of human disease with generative transformers. Nature 647, 248–256 (2025). https://</a:t>
            </a:r>
            <a:r>
              <a:rPr lang="en-US" dirty="0" err="1"/>
              <a:t>doi-org.proxy.libraries.smu.edu</a:t>
            </a:r>
            <a:r>
              <a:rPr lang="en-US" dirty="0"/>
              <a:t>/10.1038/s41586-025-09529-3</a:t>
            </a:r>
            <a:endParaRPr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Emerging Therapies in Nephrotic Syndrome by Slidesgo">
  <a:themeElements>
    <a:clrScheme name="Simple Light">
      <a:dk1>
        <a:srgbClr val="1D1D1C"/>
      </a:dk1>
      <a:lt1>
        <a:srgbClr val="FFFFFF"/>
      </a:lt1>
      <a:dk2>
        <a:srgbClr val="4A4A48"/>
      </a:dk2>
      <a:lt2>
        <a:srgbClr val="73736F"/>
      </a:lt2>
      <a:accent1>
        <a:srgbClr val="C4C4BE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1D1D1C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1705</TotalTime>
  <Words>369</Words>
  <Application>Microsoft Macintosh PowerPoint</Application>
  <PresentationFormat>On-screen Show (16:9)</PresentationFormat>
  <Paragraphs>53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4" baseType="lpstr">
      <vt:lpstr>Open Sans Light</vt:lpstr>
      <vt:lpstr>Nunito Light</vt:lpstr>
      <vt:lpstr>Nunito</vt:lpstr>
      <vt:lpstr>Raleway</vt:lpstr>
      <vt:lpstr>Arial</vt:lpstr>
      <vt:lpstr>Emerging Therapies in Nephrotic Syndrome by Slidesgo</vt:lpstr>
      <vt:lpstr>How GPT-style AI Could Transform Preventive Medicine</vt:lpstr>
      <vt:lpstr>The Problem</vt:lpstr>
      <vt:lpstr>Meet Delphi-2M</vt:lpstr>
      <vt:lpstr>PowerPoint Presentation</vt:lpstr>
      <vt:lpstr>Limitations &amp; Ethical Considerations</vt:lpstr>
      <vt:lpstr>Why This Matters for Prevention</vt:lpstr>
      <vt:lpstr>PowerPoint Presentation</vt:lpstr>
      <vt:lpstr>References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Barker, Chloe</cp:lastModifiedBy>
  <cp:revision>6</cp:revision>
  <dcterms:modified xsi:type="dcterms:W3CDTF">2026-01-29T02:43:07Z</dcterms:modified>
</cp:coreProperties>
</file>