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81" r:id="rId5"/>
    <p:sldId id="282" r:id="rId6"/>
    <p:sldId id="283" r:id="rId7"/>
    <p:sldId id="280" r:id="rId8"/>
    <p:sldId id="270" r:id="rId9"/>
    <p:sldId id="289" r:id="rId10"/>
    <p:sldId id="266" r:id="rId11"/>
    <p:sldId id="262" r:id="rId12"/>
    <p:sldId id="265" r:id="rId13"/>
    <p:sldId id="290" r:id="rId14"/>
    <p:sldId id="291" r:id="rId15"/>
    <p:sldId id="264" r:id="rId16"/>
    <p:sldId id="287" r:id="rId17"/>
    <p:sldId id="267" r:id="rId18"/>
    <p:sldId id="293" r:id="rId19"/>
    <p:sldId id="288" r:id="rId20"/>
    <p:sldId id="29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29712D-5882-93B5-4545-AF79E7A79CE6}" name="Barker, Chloe" initials="" userId="S::chloebarker@smu.edu::e9d2b38d-e5fd-4d00-adc8-c61666bc235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34" autoAdjust="0"/>
    <p:restoredTop sz="86510" autoAdjust="0"/>
  </p:normalViewPr>
  <p:slideViewPr>
    <p:cSldViewPr snapToGrid="0">
      <p:cViewPr varScale="1">
        <p:scale>
          <a:sx n="97" d="100"/>
          <a:sy n="97" d="100"/>
        </p:scale>
        <p:origin x="736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12/17/25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12/17/25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16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DCE2D-F821-2ACC-07E8-2C0FD437B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65714-0976-8C90-84A6-FC5ADD004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A3ACDA-D80A-AA4B-6FA2-3F6D75E8E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F71D5-6A85-B452-A913-9E2731862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032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687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32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F8200-729E-9428-B4CA-72487133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912D8-0523-7669-7BDA-7788EDB5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166DC-1D72-8CAF-09DE-ACC2EE7F58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65AD0-CB4E-1876-C688-EF2FF8BC0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9738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E0176-DF01-55DB-3D79-8AC8481D0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276C19-0EAB-DBDA-5EBD-931528E7C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297CB-45CE-CAE4-2B3A-3A372BDA7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3C05E-926F-9ECB-AC47-C5B96EC05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917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820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82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413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137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055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EF233E3C-C99A-4345-9504-B06740BBAB2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83159" y="3186346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406787F7-1112-4CC9-8FD0-D3583902DE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83159" y="3699738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9FA8680-9A76-4984-9EF3-619FF82EF7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83159" y="4213130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CB4D59B1-4953-4B1A-9812-770624E09F4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83159" y="4726522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95F87D86-6041-4E3C-BB75-D69D0BE78AE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83159" y="5239913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82" name="Text Placeholder 14">
            <a:extLst>
              <a:ext uri="{FF2B5EF4-FFF2-40B4-BE49-F238E27FC236}">
                <a16:creationId xmlns:a16="http://schemas.microsoft.com/office/drawing/2014/main" id="{634E901B-B6DE-434D-897D-F1CBD4C850F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83158" y="5757105"/>
            <a:ext cx="578977" cy="366359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1205833E-1296-4429-98BC-86ED5E75B78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56287" y="5930807"/>
            <a:ext cx="68083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ADE2985-788D-4E06-BD6E-2DAB0780CC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3623" y="5930807"/>
            <a:ext cx="717943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FAA1F6E3-EB96-4B94-BB57-05FD3C6316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418590" y="5929991"/>
            <a:ext cx="68846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59FA224-FF57-40F3-9DE2-A9E5663CA4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4388" y="5929991"/>
            <a:ext cx="680835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54D6B4E-0A06-4D7F-A784-E937A895E8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72728" y="5929991"/>
            <a:ext cx="717942" cy="55348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BAACD0B-92AC-4BB5-B2A1-E707BF046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593151" y="3356785"/>
            <a:ext cx="4296522" cy="2583500"/>
            <a:chOff x="6593151" y="3356785"/>
            <a:chExt cx="4296522" cy="258350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621DF36-2E24-4250-8EA9-A4F7384057A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87397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19F31A0-FCE5-444A-9B67-BAD40A29F00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33567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2EB8C64-26D1-49F5-BA35-75904015FB3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940285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ED0880-E9DE-43CA-BBF7-379FADCCAD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5417240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ECB90AC-2E9C-4DA6-9DE3-DC040D0710F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908361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D64C7F2-BB5D-48DC-9D4E-C23102C15F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93151" y="4393627"/>
              <a:ext cx="4296522" cy="0"/>
            </a:xfrm>
            <a:prstGeom prst="line">
              <a:avLst/>
            </a:prstGeom>
            <a:ln>
              <a:solidFill>
                <a:schemeClr val="accent3">
                  <a:alpha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A55D8F5-8A01-4257-9CE6-A1B977F30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56287" y="5431011"/>
            <a:ext cx="680833" cy="50136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F2C8F2-9655-45C9-AEF1-0F524E904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86167" y="4913817"/>
            <a:ext cx="680834" cy="101855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58165E-0BB4-4621-BC5C-EB2DDE22E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6048" y="4396625"/>
            <a:ext cx="680835" cy="1534931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4798AF-A852-4991-B42B-A74C23574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4388" y="3879433"/>
            <a:ext cx="680835" cy="205212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BCA52D7-A558-4733-BD5C-28751C99A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075270" y="3362241"/>
            <a:ext cx="680836" cy="2569313"/>
          </a:xfrm>
          <a:prstGeom prst="rect">
            <a:avLst/>
          </a:prstGeom>
          <a:solidFill>
            <a:schemeClr val="accent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377440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11226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/>
              <a:t>May 21, 20xx</a:t>
            </a:r>
            <a:endParaRPr lang="en-US" cap="all" dirty="0"/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794" y="961999"/>
            <a:ext cx="7068646" cy="1929505"/>
          </a:xfrm>
        </p:spPr>
        <p:txBody>
          <a:bodyPr/>
          <a:lstStyle/>
          <a:p>
            <a:r>
              <a:rPr lang="en-US" sz="3600" dirty="0"/>
              <a:t>AI in Healthcare: CHALLENGES &amp; Breakthroughs</a:t>
            </a:r>
            <a:endParaRPr lang="en-US" sz="3600" b="1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4567904"/>
            <a:ext cx="4989628" cy="816022"/>
          </a:xfrm>
        </p:spPr>
        <p:txBody>
          <a:bodyPr>
            <a:normAutofit/>
          </a:bodyPr>
          <a:lstStyle/>
          <a:p>
            <a:r>
              <a:rPr lang="en-US" dirty="0"/>
              <a:t>Chloe Barker 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98890CE8-2FDA-48EC-D9C1-25569298F2E4}"/>
              </a:ext>
            </a:extLst>
          </p:cNvPr>
          <p:cNvSpPr txBox="1">
            <a:spLocks/>
          </p:cNvSpPr>
          <p:nvPr/>
        </p:nvSpPr>
        <p:spPr>
          <a:xfrm>
            <a:off x="717014" y="298294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Data Science News of the Week</a:t>
            </a:r>
          </a:p>
        </p:txBody>
      </p:sp>
    </p:spTree>
    <p:extLst>
      <p:ext uri="{BB962C8B-B14F-4D97-AF65-F5344CB8AC3E}">
        <p14:creationId xmlns:p14="http://schemas.microsoft.com/office/powerpoint/2010/main" val="420203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AC2324A2-9A57-4433-8C66-C17D1D27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623" y="2210810"/>
            <a:ext cx="4579970" cy="538038"/>
          </a:xfrm>
        </p:spPr>
        <p:txBody>
          <a:bodyPr/>
          <a:lstStyle/>
          <a:p>
            <a:r>
              <a:rPr lang="en-US" dirty="0"/>
              <a:t>Why this matters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FDAF9C5E-FFD5-49FC-9788-18CE8F0958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660" y="2747550"/>
            <a:ext cx="6350878" cy="2872039"/>
          </a:xfrm>
        </p:spPr>
        <p:txBody>
          <a:bodyPr/>
          <a:lstStyle/>
          <a:p>
            <a:pPr marL="285750" indent="-285750">
              <a:lnSpc>
                <a:spcPct val="200000"/>
              </a:lnSpc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2000" dirty="0"/>
              <a:t>Rising demand for efficient and accurate care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2000" dirty="0"/>
              <a:t>Great advancements in AI and data science tools</a:t>
            </a:r>
          </a:p>
          <a:p>
            <a:pPr marL="285750" indent="-285750">
              <a:lnSpc>
                <a:spcPct val="200000"/>
              </a:lnSpc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2000" dirty="0"/>
              <a:t>Significant potential to improve patient outcomes and reduce healthcare costs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2981E3D-54C8-4A85-9DAB-CE41C50EA3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22A69A8-1CA3-486A-A675-DB22FF0D4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6" name="Picture Placeholder 5" descr="A close-up of a science&#10;&#10;AI-generated content may be incorrect.">
            <a:extLst>
              <a:ext uri="{FF2B5EF4-FFF2-40B4-BE49-F238E27FC236}">
                <a16:creationId xmlns:a16="http://schemas.microsoft.com/office/drawing/2014/main" id="{E73B949C-D591-E395-2CA0-C694D942583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57" b="115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793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2108" y="695093"/>
            <a:ext cx="6877171" cy="667498"/>
          </a:xfrm>
        </p:spPr>
        <p:txBody>
          <a:bodyPr/>
          <a:lstStyle/>
          <a:p>
            <a:r>
              <a:rPr lang="en-US" dirty="0"/>
              <a:t>Quick overview of ai &amp; DS in healthcare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886085" y="1860752"/>
            <a:ext cx="3037229" cy="365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Diagnostic imaging &amp; computer vision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8997" y="1873815"/>
            <a:ext cx="4060820" cy="365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Remote patient monitoring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78186" y="2126193"/>
            <a:ext cx="3237860" cy="12910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Real-time alerts &amp; monitoring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003652" y="4071261"/>
            <a:ext cx="3037228" cy="365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Predictive analytics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003654" y="4357817"/>
            <a:ext cx="3135700" cy="13282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Identification of high-risk patients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Personalized treatment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Detection of drug interactions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38997" y="4071261"/>
            <a:ext cx="3721186" cy="3651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Administrative automation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78187" y="4349764"/>
            <a:ext cx="2556578" cy="12910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Chatbots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Coding of medical notes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0E6E7-FE9E-4C88-8036-BAF0835C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8B22BE6D-BE9A-B447-8C8A-4E8AB911F328}"/>
              </a:ext>
            </a:extLst>
          </p:cNvPr>
          <p:cNvSpPr txBox="1">
            <a:spLocks/>
          </p:cNvSpPr>
          <p:nvPr/>
        </p:nvSpPr>
        <p:spPr>
          <a:xfrm>
            <a:off x="3877043" y="2370033"/>
            <a:ext cx="3237860" cy="129108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Detecting tumors in medical scans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of medical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44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6010-D06F-EB5D-D4FB-EB0096F00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ai in medicine look like?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C15EA-234D-282E-0B54-0631650F31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36943" y="1499633"/>
            <a:ext cx="2341392" cy="582661"/>
          </a:xfrm>
        </p:spPr>
        <p:txBody>
          <a:bodyPr/>
          <a:lstStyle/>
          <a:p>
            <a:r>
              <a:rPr lang="en-US" sz="1100" dirty="0"/>
              <a:t>DRUG AND DOSAGE RECOMMENDATIONS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B860D-6342-2063-ED04-0ED9D6B7C9C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1888" y="2304248"/>
            <a:ext cx="2623727" cy="492025"/>
          </a:xfrm>
        </p:spPr>
        <p:txBody>
          <a:bodyPr/>
          <a:lstStyle/>
          <a:p>
            <a:r>
              <a:rPr lang="en-US" dirty="0"/>
              <a:t>TELEMEDICINE &amp; REMOTE CONSULTATIONS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453B1F-8CAB-368D-14AD-DC4496C85D4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43586" y="2129182"/>
            <a:ext cx="3133255" cy="1048575"/>
          </a:xfrm>
        </p:spPr>
        <p:txBody>
          <a:bodyPr/>
          <a:lstStyle/>
          <a:p>
            <a:r>
              <a:rPr lang="en-US" dirty="0"/>
              <a:t>Analysis OF vital signs and test results FOR PERSONALIZED RECOMMENDATIONS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27D2C7-E5E8-6C0B-8832-0496D29A88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34778" y="3345083"/>
            <a:ext cx="2185616" cy="814667"/>
          </a:xfrm>
        </p:spPr>
        <p:txBody>
          <a:bodyPr/>
          <a:lstStyle/>
          <a:p>
            <a:r>
              <a:rPr lang="en-US" sz="1200" dirty="0"/>
              <a:t>More Accurate risk assessments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1BA7AE-0BF3-914A-B10A-50E8430DF9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31018" y="3528829"/>
            <a:ext cx="2182967" cy="492025"/>
          </a:xfrm>
        </p:spPr>
        <p:txBody>
          <a:bodyPr/>
          <a:lstStyle/>
          <a:p>
            <a:r>
              <a:rPr lang="en-US" sz="1100" dirty="0"/>
              <a:t>DIAGNOSES OF DISEASES IN MEDICAL IMAGES (MRIs, CT Scans, &amp; x-rays)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F64B60-8BD3-DB7E-ED9D-8FF37FC27EA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66951" y="4601981"/>
            <a:ext cx="2886322" cy="1225182"/>
          </a:xfrm>
        </p:spPr>
        <p:txBody>
          <a:bodyPr/>
          <a:lstStyle/>
          <a:p>
            <a:r>
              <a:rPr lang="en-US" dirty="0"/>
              <a:t>early IDENTIFICATION OF  CANCER AND CHRONIC DISEASE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991A49-148E-1D4B-F5A8-769E9FB07E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33861" y="4358049"/>
            <a:ext cx="2508103" cy="492025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PERSONALIZED CARE PLANS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AF55C6-6F6B-6924-AB28-5D61E3E1A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85079" y="5630835"/>
            <a:ext cx="1810240" cy="634041"/>
          </a:xfrm>
        </p:spPr>
        <p:txBody>
          <a:bodyPr/>
          <a:lstStyle/>
          <a:p>
            <a:r>
              <a:rPr lang="en-US" sz="1100" dirty="0"/>
              <a:t>Automated appointment scheduling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3A902D4-50D3-CE13-BCB5-07D693372FA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36467" y="5423050"/>
            <a:ext cx="2711242" cy="492025"/>
          </a:xfrm>
        </p:spPr>
        <p:txBody>
          <a:bodyPr/>
          <a:lstStyle/>
          <a:p>
            <a:r>
              <a:rPr lang="en-US" dirty="0"/>
              <a:t>REAL-TIME VITALS MONITORING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78ED82-0C92-5FDE-FA77-C5A5114080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876762" y="1967752"/>
            <a:ext cx="2058872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E596A-2373-117F-1F3F-FF716B920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7BEC48-433D-5DFC-4AB8-C8401CEA87A1}"/>
              </a:ext>
            </a:extLst>
          </p:cNvPr>
          <p:cNvCxnSpPr>
            <a:cxnSpLocks/>
          </p:cNvCxnSpPr>
          <p:nvPr/>
        </p:nvCxnSpPr>
        <p:spPr>
          <a:xfrm flipV="1">
            <a:off x="3348681" y="3114339"/>
            <a:ext cx="2304463" cy="17665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117961D-5D61-B5AD-B9CC-2033FA61F450}"/>
              </a:ext>
            </a:extLst>
          </p:cNvPr>
          <p:cNvCxnSpPr>
            <a:cxnSpLocks/>
          </p:cNvCxnSpPr>
          <p:nvPr/>
        </p:nvCxnSpPr>
        <p:spPr>
          <a:xfrm>
            <a:off x="3765176" y="2974489"/>
            <a:ext cx="1893346" cy="1495313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C387064-869C-92D9-9A51-159FBEDD8F5C}"/>
              </a:ext>
            </a:extLst>
          </p:cNvPr>
          <p:cNvCxnSpPr>
            <a:cxnSpLocks/>
          </p:cNvCxnSpPr>
          <p:nvPr/>
        </p:nvCxnSpPr>
        <p:spPr>
          <a:xfrm>
            <a:off x="4772025" y="3764756"/>
            <a:ext cx="916256" cy="16860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708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E213D79D-DADA-2BD7-C57B-821C2BBA4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0" y="163460"/>
            <a:ext cx="9188043" cy="68783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Chat-</a:t>
            </a:r>
            <a:r>
              <a:rPr lang="en-US" dirty="0" err="1">
                <a:solidFill>
                  <a:schemeClr val="accent6"/>
                </a:solidFill>
              </a:rPr>
              <a:t>Gpt</a:t>
            </a:r>
            <a:r>
              <a:rPr lang="en-US" dirty="0">
                <a:solidFill>
                  <a:schemeClr val="accent6"/>
                </a:solidFill>
              </a:rPr>
              <a:t> 4.0 vs. Medical students</a:t>
            </a:r>
          </a:p>
        </p:txBody>
      </p:sp>
      <p:pic>
        <p:nvPicPr>
          <p:cNvPr id="1026" name="Picture 2" descr="A table of information&#10;&#10;AI-generated content may be incorrect.">
            <a:extLst>
              <a:ext uri="{FF2B5EF4-FFF2-40B4-BE49-F238E27FC236}">
                <a16:creationId xmlns:a16="http://schemas.microsoft.com/office/drawing/2014/main" id="{F0E65212-BE83-7925-E7D0-1FFD1D43D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2699" y="640187"/>
            <a:ext cx="7052887" cy="604785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EB3167CB-A6C4-4DEF-86D2-0EE698CF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880833" y="1747883"/>
            <a:ext cx="2091085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AI IN HEALTHCARE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05E33BA-D532-4BFC-985F-6257C8C95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1FC6F8-0BCD-47E9-9C64-690771D9C14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F9B86C-8E07-A704-08B5-5FA89A7DFCCB}"/>
              </a:ext>
            </a:extLst>
          </p:cNvPr>
          <p:cNvSpPr txBox="1"/>
          <p:nvPr/>
        </p:nvSpPr>
        <p:spPr>
          <a:xfrm>
            <a:off x="-1" y="6488668"/>
            <a:ext cx="22570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(Strong et al., 2023)</a:t>
            </a:r>
          </a:p>
        </p:txBody>
      </p:sp>
    </p:spTree>
    <p:extLst>
      <p:ext uri="{BB962C8B-B14F-4D97-AF65-F5344CB8AC3E}">
        <p14:creationId xmlns:p14="http://schemas.microsoft.com/office/powerpoint/2010/main" val="1877591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56466-1F3D-50F9-59A9-AC5AC5522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77228095-A616-B6AF-23D2-811763BDB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170" y="163460"/>
            <a:ext cx="9188043" cy="68783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Chat-</a:t>
            </a:r>
            <a:r>
              <a:rPr lang="en-US" dirty="0" err="1">
                <a:solidFill>
                  <a:schemeClr val="accent6"/>
                </a:solidFill>
              </a:rPr>
              <a:t>Gpt</a:t>
            </a:r>
            <a:r>
              <a:rPr lang="en-US" dirty="0">
                <a:solidFill>
                  <a:schemeClr val="accent6"/>
                </a:solidFill>
              </a:rPr>
              <a:t> 4.0 vs. Medical Students</a:t>
            </a:r>
          </a:p>
        </p:txBody>
      </p:sp>
      <p:sp>
        <p:nvSpPr>
          <p:cNvPr id="32" name="Footer Placeholder 31">
            <a:extLst>
              <a:ext uri="{FF2B5EF4-FFF2-40B4-BE49-F238E27FC236}">
                <a16:creationId xmlns:a16="http://schemas.microsoft.com/office/drawing/2014/main" id="{F069E23C-4A9F-21F0-924F-53810F6139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 anchor="ctr">
            <a:normAutofit/>
          </a:bodyPr>
          <a:lstStyle/>
          <a:p>
            <a:r>
              <a:rPr lang="en-US" dirty="0"/>
              <a:t>AI IN HEALTHCARE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74BCB467-BF8B-9DB5-1C62-0BE089BB1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D1FC6F8-0BCD-47E9-9C64-690771D9C14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9" name="Picture 8" descr="A table with numbers and words&#10;&#10;AI-generated content may be incorrect.">
            <a:extLst>
              <a:ext uri="{FF2B5EF4-FFF2-40B4-BE49-F238E27FC236}">
                <a16:creationId xmlns:a16="http://schemas.microsoft.com/office/drawing/2014/main" id="{034C0237-F257-812E-C57F-8517632F4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39" y="792879"/>
            <a:ext cx="3530297" cy="5486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829FD7E-2ABE-BC5D-07DB-64718DB99779}"/>
              </a:ext>
            </a:extLst>
          </p:cNvPr>
          <p:cNvSpPr txBox="1"/>
          <p:nvPr/>
        </p:nvSpPr>
        <p:spPr>
          <a:xfrm>
            <a:off x="6075823" y="894345"/>
            <a:ext cx="398575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chemeClr val="accent3">
                  <a:lumMod val="60000"/>
                  <a:lumOff val="40000"/>
                </a:schemeClr>
              </a:buClr>
            </a:pPr>
            <a:r>
              <a:rPr lang="en-US" sz="1800" dirty="0">
                <a:solidFill>
                  <a:schemeClr val="accent6"/>
                </a:solidFill>
              </a:rPr>
              <a:t>Findings:</a:t>
            </a: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Model 4 of the chatbot outperformed first- and second-year students from Stanford University School of Medicine on clinical reasoning examinations and had significant improvement over Model 3.5.</a:t>
            </a: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sz="18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0B9E2A-29F2-0417-5DF8-140E94269DC7}"/>
              </a:ext>
            </a:extLst>
          </p:cNvPr>
          <p:cNvSpPr txBox="1"/>
          <p:nvPr/>
        </p:nvSpPr>
        <p:spPr>
          <a:xfrm>
            <a:off x="0" y="6488668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(Strong et al., 2023)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A0D52D-2B85-E148-1907-053C36C70F99}"/>
              </a:ext>
            </a:extLst>
          </p:cNvPr>
          <p:cNvSpPr txBox="1"/>
          <p:nvPr/>
        </p:nvSpPr>
        <p:spPr>
          <a:xfrm>
            <a:off x="6216351" y="3374025"/>
            <a:ext cx="398575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sz="1800" dirty="0">
              <a:solidFill>
                <a:schemeClr val="bg1"/>
              </a:solidFill>
            </a:endParaRPr>
          </a:p>
          <a:p>
            <a:pPr>
              <a:buClr>
                <a:schemeClr val="accent3">
                  <a:lumMod val="60000"/>
                  <a:lumOff val="40000"/>
                </a:schemeClr>
              </a:buClr>
            </a:pPr>
            <a:r>
              <a:rPr lang="en-US" sz="1800" dirty="0">
                <a:solidFill>
                  <a:schemeClr val="accent6"/>
                </a:solidFill>
              </a:rPr>
              <a:t>Implications: </a:t>
            </a: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This suggests </a:t>
            </a:r>
            <a:r>
              <a:rPr lang="en-US" dirty="0">
                <a:solidFill>
                  <a:schemeClr val="bg1"/>
                </a:solidFill>
              </a:rPr>
              <a:t>great potential for growth of chatbot technology over time and within the medical field. </a:t>
            </a: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</a:rPr>
              <a:t>Medicine should integrate AI-related concepts into its curriculum to enhance medical practices and patient outcomes.</a:t>
            </a:r>
          </a:p>
          <a:p>
            <a:pPr marL="285750" indent="-285750">
              <a:buClr>
                <a:schemeClr val="accent3">
                  <a:lumMod val="60000"/>
                  <a:lumOff val="40000"/>
                </a:schemeClr>
              </a:buClr>
              <a:buFont typeface="Wingdings" pitchFamily="2" charset="2"/>
              <a:buChar char="§"/>
            </a:pP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3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202891BF-DCB2-480A-BAB9-0C3CDD92B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99A1ED1C-790E-44E3-B2F4-DE91FE0388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A16AD745-5163-B5A0-5958-63D58FBBB5AC}"/>
              </a:ext>
            </a:extLst>
          </p:cNvPr>
          <p:cNvSpPr txBox="1">
            <a:spLocks/>
          </p:cNvSpPr>
          <p:nvPr/>
        </p:nvSpPr>
        <p:spPr>
          <a:xfrm>
            <a:off x="894522" y="2461773"/>
            <a:ext cx="9599278" cy="319762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-webkit-standard"/>
              </a:rPr>
              <a:t>Improve patient outcomes and reduce medical costs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-webkit-standard"/>
              </a:rPr>
              <a:t>Increase efficiency, reproducibility, and coverage of screening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-webkit-standard"/>
              </a:rPr>
              <a:t>Overcome human limitation and error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-webkit-standard"/>
              </a:rPr>
              <a:t>Increase access to healthcare resources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-webkit-standard"/>
              </a:rPr>
              <a:t>Provide earlier detection and other preventative measures for disease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-webkit-standar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-webkit-standar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-webkit-standard"/>
            </a:endParaRPr>
          </a:p>
        </p:txBody>
      </p:sp>
      <p:sp>
        <p:nvSpPr>
          <p:cNvPr id="17" name="Title 23">
            <a:extLst>
              <a:ext uri="{FF2B5EF4-FFF2-40B4-BE49-F238E27FC236}">
                <a16:creationId xmlns:a16="http://schemas.microsoft.com/office/drawing/2014/main" id="{18009D8D-F798-7E60-9401-5F8FD9AA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226" y="1848339"/>
            <a:ext cx="4569572" cy="580029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Potential benefits</a:t>
            </a:r>
          </a:p>
        </p:txBody>
      </p:sp>
    </p:spTree>
    <p:extLst>
      <p:ext uri="{BB962C8B-B14F-4D97-AF65-F5344CB8AC3E}">
        <p14:creationId xmlns:p14="http://schemas.microsoft.com/office/powerpoint/2010/main" val="408633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3F1E9F-55ED-1865-4F2F-CDD4247D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306" y="2724093"/>
            <a:ext cx="5002478" cy="2357066"/>
          </a:xfrm>
        </p:spPr>
        <p:txBody>
          <a:bodyPr/>
          <a:lstStyle/>
          <a:p>
            <a:r>
              <a:rPr lang="en-US" dirty="0"/>
              <a:t>Some</a:t>
            </a:r>
            <a:br>
              <a:rPr lang="en-US" dirty="0"/>
            </a:br>
            <a:r>
              <a:rPr lang="en-US" dirty="0"/>
              <a:t>Current research </a:t>
            </a:r>
          </a:p>
        </p:txBody>
      </p:sp>
    </p:spTree>
    <p:extLst>
      <p:ext uri="{BB962C8B-B14F-4D97-AF65-F5344CB8AC3E}">
        <p14:creationId xmlns:p14="http://schemas.microsoft.com/office/powerpoint/2010/main" val="37164961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8FA1AC37-B920-4C0A-855F-E5667B4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742" y="762056"/>
            <a:ext cx="5097428" cy="918377"/>
          </a:xfrm>
        </p:spPr>
        <p:txBody>
          <a:bodyPr/>
          <a:lstStyle/>
          <a:p>
            <a:r>
              <a:rPr lang="en-US" sz="2400" dirty="0">
                <a:solidFill>
                  <a:schemeClr val="accent6"/>
                </a:solidFill>
              </a:rPr>
              <a:t>Breast cancer prediction using machine learning</a:t>
            </a:r>
            <a:br>
              <a:rPr lang="en-US" sz="2400" dirty="0">
                <a:solidFill>
                  <a:schemeClr val="accent6"/>
                </a:solidFill>
              </a:rPr>
            </a:br>
            <a:endParaRPr lang="en-US" sz="2400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619512-A1D4-44AD-8188-F1687FC50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3ED8FD-6B33-4E5E-8834-826A2D14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FEA145A6-660C-42A7-85AF-AF42E3C0A89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AEB078-275A-0A5D-4044-8D040129EE1F}"/>
              </a:ext>
            </a:extLst>
          </p:cNvPr>
          <p:cNvSpPr txBox="1"/>
          <p:nvPr/>
        </p:nvSpPr>
        <p:spPr>
          <a:xfrm>
            <a:off x="477577" y="2369863"/>
            <a:ext cx="84680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Breast cancer is the second most diagnosed cancer and the leading cause of death among in women.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Strong limitations in breast cancer diagnosis: mammography has around 70% accuracy on average and there is biopsy-related human error.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 recently published study used eight machine learning classifiers with 11 features that may contribute to breast cancer prognosis on a dataset of 213 breast cancer patients, exploring how feature selection may affect performance in predicting breast cancer diagnoses (</a:t>
            </a:r>
            <a:r>
              <a:rPr lang="en-US" dirty="0" err="1">
                <a:solidFill>
                  <a:schemeClr val="bg1"/>
                </a:solidFill>
              </a:rPr>
              <a:t>Almustafa</a:t>
            </a:r>
            <a:r>
              <a:rPr lang="en-US" dirty="0">
                <a:solidFill>
                  <a:schemeClr val="bg1"/>
                </a:solidFill>
              </a:rPr>
              <a:t> &amp; La </a:t>
            </a:r>
            <a:r>
              <a:rPr lang="en-US" dirty="0" err="1">
                <a:solidFill>
                  <a:schemeClr val="bg1"/>
                </a:solidFill>
              </a:rPr>
              <a:t>Mogolia</a:t>
            </a:r>
            <a:r>
              <a:rPr lang="en-US" dirty="0">
                <a:solidFill>
                  <a:schemeClr val="bg1"/>
                </a:solidFill>
              </a:rPr>
              <a:t>, 2025).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8AA824-CF23-12B2-43EE-5FE011FC3172}"/>
              </a:ext>
            </a:extLst>
          </p:cNvPr>
          <p:cNvSpPr txBox="1"/>
          <p:nvPr/>
        </p:nvSpPr>
        <p:spPr>
          <a:xfrm>
            <a:off x="665768" y="5729227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chemeClr val="accent6"/>
                </a:solidFill>
                <a:effectLst/>
              </a:rPr>
              <a:t>Data Collection and Description: </a:t>
            </a:r>
            <a:r>
              <a:rPr lang="en-US" sz="1600" b="0" i="0" dirty="0">
                <a:solidFill>
                  <a:schemeClr val="bg1"/>
                </a:solidFill>
                <a:effectLst/>
              </a:rPr>
              <a:t>The dataset of observations was obtained from the University of Calabar Teaching Hospital cancer registry over 24 months (January 2019 - August 2021).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A1DDB5-56C1-4D9F-075B-97A0739FDE70}"/>
              </a:ext>
            </a:extLst>
          </p:cNvPr>
          <p:cNvSpPr txBox="1"/>
          <p:nvPr/>
        </p:nvSpPr>
        <p:spPr>
          <a:xfrm>
            <a:off x="9218140" y="6488668"/>
            <a:ext cx="42475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Almustafa</a:t>
            </a:r>
            <a:r>
              <a:rPr lang="en-US" dirty="0">
                <a:solidFill>
                  <a:schemeClr val="bg1"/>
                </a:solidFill>
              </a:rPr>
              <a:t> &amp; La Moglia, 2025)</a:t>
            </a:r>
          </a:p>
        </p:txBody>
      </p:sp>
    </p:spTree>
    <p:extLst>
      <p:ext uri="{BB962C8B-B14F-4D97-AF65-F5344CB8AC3E}">
        <p14:creationId xmlns:p14="http://schemas.microsoft.com/office/powerpoint/2010/main" val="1602888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1461-3F3A-107B-731F-1ED1A6EF2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D3504D97-50EA-5737-6B55-67CF99DDA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1433" y="128477"/>
            <a:ext cx="5097428" cy="918377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Breast cancer prediction using machine learning</a:t>
            </a:r>
            <a:br>
              <a:rPr lang="en-US" dirty="0">
                <a:solidFill>
                  <a:schemeClr val="accent6"/>
                </a:solidFill>
              </a:rPr>
            </a:br>
            <a:endParaRPr lang="en-US" dirty="0">
              <a:solidFill>
                <a:schemeClr val="accent6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1C62985-08FF-DEE7-69D7-FC89D3401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7946347-4C38-19DE-E6B2-E197E32D2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FEA145A6-660C-42A7-85AF-AF42E3C0A89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3A1EE3-DCB6-4AC2-B678-855284E5AD3F}"/>
              </a:ext>
            </a:extLst>
          </p:cNvPr>
          <p:cNvSpPr txBox="1"/>
          <p:nvPr/>
        </p:nvSpPr>
        <p:spPr>
          <a:xfrm>
            <a:off x="6729314" y="2114682"/>
            <a:ext cx="3403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Third Feature Selection : </a:t>
            </a:r>
            <a:r>
              <a:rPr lang="en-US" dirty="0">
                <a:solidFill>
                  <a:schemeClr val="bg1"/>
                </a:solidFill>
              </a:rPr>
              <a:t>repeat each classifier with their four most important features in predicting the output.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49848-A4A9-B10B-1885-306137DE022C}"/>
              </a:ext>
            </a:extLst>
          </p:cNvPr>
          <p:cNvSpPr txBox="1"/>
          <p:nvPr/>
        </p:nvSpPr>
        <p:spPr>
          <a:xfrm>
            <a:off x="592667" y="47253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Highest performing accuracies (original data):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Logistic Regression: 91.94 %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Random Forest classifier:  90.32 %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6DC82-7319-3138-678C-C4720C3F56D7}"/>
              </a:ext>
            </a:extLst>
          </p:cNvPr>
          <p:cNvSpPr txBox="1"/>
          <p:nvPr/>
        </p:nvSpPr>
        <p:spPr>
          <a:xfrm>
            <a:off x="546099" y="5842000"/>
            <a:ext cx="60663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6"/>
                </a:solidFill>
              </a:rPr>
              <a:t>Highest performing accurac</a:t>
            </a:r>
            <a:r>
              <a:rPr lang="en-US" dirty="0">
                <a:solidFill>
                  <a:schemeClr val="accent6"/>
                </a:solidFill>
              </a:rPr>
              <a:t>y </a:t>
            </a:r>
            <a:r>
              <a:rPr lang="en-US" sz="1800" dirty="0">
                <a:solidFill>
                  <a:schemeClr val="accent6"/>
                </a:solidFill>
              </a:rPr>
              <a:t>(third feature selection):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LGMB: 92.19 %</a:t>
            </a:r>
          </a:p>
        </p:txBody>
      </p:sp>
      <p:pic>
        <p:nvPicPr>
          <p:cNvPr id="7" name="Picture 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D9C98361-2FEF-FED8-75C1-1E5B47376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" y="1381109"/>
            <a:ext cx="5930900" cy="32543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8F4078-BBD7-B6EE-2FAF-EDECE673A39B}"/>
              </a:ext>
            </a:extLst>
          </p:cNvPr>
          <p:cNvSpPr txBox="1"/>
          <p:nvPr/>
        </p:nvSpPr>
        <p:spPr>
          <a:xfrm>
            <a:off x="9242855" y="6488668"/>
            <a:ext cx="3212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Almustafa</a:t>
            </a:r>
            <a:r>
              <a:rPr lang="en-US" dirty="0">
                <a:solidFill>
                  <a:schemeClr val="bg1"/>
                </a:solidFill>
              </a:rPr>
              <a:t> &amp; La Moglia, 2025)</a:t>
            </a:r>
          </a:p>
        </p:txBody>
      </p:sp>
    </p:spTree>
    <p:extLst>
      <p:ext uri="{BB962C8B-B14F-4D97-AF65-F5344CB8AC3E}">
        <p14:creationId xmlns:p14="http://schemas.microsoft.com/office/powerpoint/2010/main" val="265935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1FF6E-3128-D99F-235A-0BA4C81F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A03B7BF3-3142-F7E4-9592-A34C040190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6655881E-447A-35D8-DC30-243BDFDE0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5CB8B9F-BC83-7FF7-5349-0517DD380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82465" y="1767279"/>
            <a:ext cx="4172533" cy="274650"/>
          </a:xfrm>
        </p:spPr>
        <p:txBody>
          <a:bodyPr/>
          <a:lstStyle/>
          <a:p>
            <a:r>
              <a:rPr lang="en-US" sz="2400" dirty="0"/>
              <a:t>IMPLICATIONS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E11D3-08E6-A354-6C8D-21E7D54FD14C}"/>
              </a:ext>
            </a:extLst>
          </p:cNvPr>
          <p:cNvSpPr txBox="1"/>
          <p:nvPr/>
        </p:nvSpPr>
        <p:spPr>
          <a:xfrm>
            <a:off x="9176951" y="6488668"/>
            <a:ext cx="30150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Almustafa</a:t>
            </a:r>
            <a:r>
              <a:rPr lang="en-US" dirty="0">
                <a:solidFill>
                  <a:schemeClr val="bg1"/>
                </a:solidFill>
              </a:rPr>
              <a:t> &amp; La Moglia, 2025)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5FB7C7-EF0D-5B4B-1A8D-70AEC5CC9ADB}"/>
              </a:ext>
            </a:extLst>
          </p:cNvPr>
          <p:cNvSpPr txBox="1"/>
          <p:nvPr/>
        </p:nvSpPr>
        <p:spPr>
          <a:xfrm>
            <a:off x="1179927" y="2323740"/>
            <a:ext cx="9475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Machine learning can enhance or surpass traditional diagnostic methods, significantly improving accuracy and reducing errors caused by human limitations.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929769-0394-188B-1F32-3B6128743204}"/>
              </a:ext>
            </a:extLst>
          </p:cNvPr>
          <p:cNvSpPr txBox="1"/>
          <p:nvPr/>
        </p:nvSpPr>
        <p:spPr>
          <a:xfrm>
            <a:off x="1168204" y="3050572"/>
            <a:ext cx="94754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It supports healthcare professionals by providing faster, data-driven insights, resulting in quicker and more accurate breast cancer diagnoses.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41848-B607-0530-9E31-064E5878196E}"/>
              </a:ext>
            </a:extLst>
          </p:cNvPr>
          <p:cNvSpPr txBox="1"/>
          <p:nvPr/>
        </p:nvSpPr>
        <p:spPr>
          <a:xfrm>
            <a:off x="1133035" y="4035309"/>
            <a:ext cx="94754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potential of machine learning extends beyond breast cancer detection, offering improved predictive capabilities for various diseases, such as heart disease and diabetes, thereby transforming patient care and outcomes.</a:t>
            </a:r>
          </a:p>
        </p:txBody>
      </p:sp>
    </p:spTree>
    <p:extLst>
      <p:ext uri="{BB962C8B-B14F-4D97-AF65-F5344CB8AC3E}">
        <p14:creationId xmlns:p14="http://schemas.microsoft.com/office/powerpoint/2010/main" val="173485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2" grpId="0"/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3E47C41-D39A-4245-A7A3-ED0AB8507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4880" y="201941"/>
            <a:ext cx="6103867" cy="991689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Deep learning algorithm to detect diabetic retinopathy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25CFF5-858C-4164-9FC5-90CD2124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C97396-5C5E-4112-B44F-BAEFC9E0A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B379252-A7AD-9DA4-D655-3B1440A4F7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59800" y="6013045"/>
            <a:ext cx="5532200" cy="1151633"/>
          </a:xfrm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dirty="0"/>
              <a:t>Performance of the Algorithm (Black Curve) and Ophthalmologists (Colored Dots) for Predicting Gradable Images on the EyePACS-1 Dataset (9946 Images)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29D2E5A-79FA-CC61-190B-5F587867E1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53" y="4488016"/>
            <a:ext cx="5769757" cy="6731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1800" dirty="0"/>
              <a:t>Sensitivities of  97.5% and 96.1% were achieved with these deep-learning models. </a:t>
            </a:r>
          </a:p>
        </p:txBody>
      </p:sp>
      <p:pic>
        <p:nvPicPr>
          <p:cNvPr id="23" name="Picture 22" descr="A graph of a function&#10;&#10;AI-generated content may be incorrect.">
            <a:extLst>
              <a:ext uri="{FF2B5EF4-FFF2-40B4-BE49-F238E27FC236}">
                <a16:creationId xmlns:a16="http://schemas.microsoft.com/office/drawing/2014/main" id="{5B65902E-DB36-D6F3-CCB7-64B8A1EA8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2038" y="1575253"/>
            <a:ext cx="4242154" cy="436486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2FA4FFB-49A3-3C21-F602-33A1EC746497}"/>
              </a:ext>
            </a:extLst>
          </p:cNvPr>
          <p:cNvSpPr txBox="1"/>
          <p:nvPr/>
        </p:nvSpPr>
        <p:spPr>
          <a:xfrm>
            <a:off x="534083" y="3454846"/>
            <a:ext cx="6093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The EyePACS-1 dataset consisted of 9963 images of retinal fundus from 4997 patients with diabetes used to train an algorithm to detect referable diabetic retinopathy. </a:t>
            </a:r>
          </a:p>
        </p:txBody>
      </p:sp>
      <p:pic>
        <p:nvPicPr>
          <p:cNvPr id="5" name="Picture 4" descr="Close-up of a red eyeball&#10;&#10;AI-generated content may be incorrect.">
            <a:extLst>
              <a:ext uri="{FF2B5EF4-FFF2-40B4-BE49-F238E27FC236}">
                <a16:creationId xmlns:a16="http://schemas.microsoft.com/office/drawing/2014/main" id="{ADADC566-19B9-7218-9D4C-15D5A32F6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08" y="533685"/>
            <a:ext cx="2308678" cy="21605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3DB2A0-0B2C-F270-6215-03C041ED6C0D}"/>
              </a:ext>
            </a:extLst>
          </p:cNvPr>
          <p:cNvSpPr txBox="1"/>
          <p:nvPr/>
        </p:nvSpPr>
        <p:spPr>
          <a:xfrm>
            <a:off x="548969" y="2787623"/>
            <a:ext cx="54438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Deep learning </a:t>
            </a:r>
            <a:r>
              <a:rPr lang="en-US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: a predictive algorithm that uses datasets of images to develop patterns and output predictions.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9D1D5-2D77-E769-5EE6-779676D02CF0}"/>
              </a:ext>
            </a:extLst>
          </p:cNvPr>
          <p:cNvSpPr txBox="1"/>
          <p:nvPr/>
        </p:nvSpPr>
        <p:spPr>
          <a:xfrm>
            <a:off x="0" y="6488668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(Gulshan et al., 2016)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AB5AF477-BCA7-8481-212C-CDF80280B8DB}"/>
              </a:ext>
            </a:extLst>
          </p:cNvPr>
          <p:cNvSpPr txBox="1">
            <a:spLocks/>
          </p:cNvSpPr>
          <p:nvPr/>
        </p:nvSpPr>
        <p:spPr>
          <a:xfrm>
            <a:off x="279643" y="5466308"/>
            <a:ext cx="6418318" cy="673180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chemeClr val="accent6"/>
                </a:solidFill>
              </a:rPr>
              <a:t>Implications: </a:t>
            </a:r>
            <a:r>
              <a:rPr lang="en-US" sz="1600" dirty="0"/>
              <a:t>Great potential for using these models in a clinical setting, as they provide evidence that they meet the standards of the best doctors and beat the standards set by average doctors (Gulshan et al., 2016). 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2361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690802"/>
            <a:ext cx="6149565" cy="575890"/>
          </a:xfrm>
        </p:spPr>
        <p:txBody>
          <a:bodyPr/>
          <a:lstStyle/>
          <a:p>
            <a:r>
              <a:rPr lang="en-US" dirty="0"/>
              <a:t>Risks AND CHALLENGES</a:t>
            </a:r>
          </a:p>
        </p:txBody>
      </p:sp>
      <p:pic>
        <p:nvPicPr>
          <p:cNvPr id="42" name="Picture Placeholder 41" descr="box icon">
            <a:extLst>
              <a:ext uri="{FF2B5EF4-FFF2-40B4-BE49-F238E27FC236}">
                <a16:creationId xmlns:a16="http://schemas.microsoft.com/office/drawing/2014/main" id="{7A0C5CE6-9CA6-4807-B23A-A4F89C0310D2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E239EA0A-BE2A-46D5-876A-5614B0A7C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0069" y="2568679"/>
            <a:ext cx="3008631" cy="348162"/>
          </a:xfrm>
        </p:spPr>
        <p:txBody>
          <a:bodyPr/>
          <a:lstStyle/>
          <a:p>
            <a:r>
              <a:rPr lang="en-US" dirty="0"/>
              <a:t>Data privacy/security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06398" y="2861988"/>
            <a:ext cx="3008630" cy="636682"/>
          </a:xfrm>
        </p:spPr>
        <p:txBody>
          <a:bodyPr/>
          <a:lstStyle/>
          <a:p>
            <a:r>
              <a:rPr lang="en-US" dirty="0"/>
              <a:t>Protection of sensitive medical data and patient records from breaches.</a:t>
            </a:r>
          </a:p>
        </p:txBody>
      </p:sp>
      <p:pic>
        <p:nvPicPr>
          <p:cNvPr id="43" name="Picture Placeholder 42" descr="market icon">
            <a:extLst>
              <a:ext uri="{FF2B5EF4-FFF2-40B4-BE49-F238E27FC236}">
                <a16:creationId xmlns:a16="http://schemas.microsoft.com/office/drawing/2014/main" id="{68703471-66FD-4701-B79F-C054E717F5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C9BBBD5-3078-4A97-8E7D-F5F839845B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3979" y="2568679"/>
            <a:ext cx="3476832" cy="348162"/>
          </a:xfrm>
        </p:spPr>
        <p:txBody>
          <a:bodyPr/>
          <a:lstStyle/>
          <a:p>
            <a:r>
              <a:rPr lang="en-US" dirty="0"/>
              <a:t>Bias &amp; data quality issues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13978" y="2888114"/>
            <a:ext cx="3387067" cy="636682"/>
          </a:xfrm>
        </p:spPr>
        <p:txBody>
          <a:bodyPr/>
          <a:lstStyle/>
          <a:p>
            <a:r>
              <a:rPr lang="en-US" dirty="0"/>
              <a:t>Risk of inaccurate or biased data influencing healthcare models and algorithms.</a:t>
            </a:r>
          </a:p>
        </p:txBody>
      </p:sp>
      <p:pic>
        <p:nvPicPr>
          <p:cNvPr id="45" name="Picture Placeholder 44" descr="clipboard with check list icon">
            <a:extLst>
              <a:ext uri="{FF2B5EF4-FFF2-40B4-BE49-F238E27FC236}">
                <a16:creationId xmlns:a16="http://schemas.microsoft.com/office/drawing/2014/main" id="{C8D7F118-FF46-4EA6-8CB0-7A7F32EA9B67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5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3A32E54C-621B-48BA-A803-164046E2AE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90069" y="5069023"/>
            <a:ext cx="3008631" cy="627442"/>
          </a:xfrm>
        </p:spPr>
        <p:txBody>
          <a:bodyPr/>
          <a:lstStyle/>
          <a:p>
            <a:r>
              <a:rPr lang="en-US" dirty="0"/>
              <a:t>Regulatory hurdles (e.g. FDA approvals)</a:t>
            </a:r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01AED438-7299-4DC8-9DD9-BA1D41DA9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0651" y="5549920"/>
            <a:ext cx="3008630" cy="636682"/>
          </a:xfrm>
        </p:spPr>
        <p:txBody>
          <a:bodyPr/>
          <a:lstStyle/>
          <a:p>
            <a:r>
              <a:rPr lang="en-ZA" dirty="0"/>
              <a:t>Challenges in meeting regulatory standards for data integration and clinical model deployment.</a:t>
            </a:r>
          </a:p>
        </p:txBody>
      </p:sp>
      <p:pic>
        <p:nvPicPr>
          <p:cNvPr id="44" name="Picture Placeholder 43" descr="two people talking icon">
            <a:extLst>
              <a:ext uri="{FF2B5EF4-FFF2-40B4-BE49-F238E27FC236}">
                <a16:creationId xmlns:a16="http://schemas.microsoft.com/office/drawing/2014/main" id="{32FDE888-33A7-493E-A23F-0EAAB9E1095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6"/>
          <a:srcRect t="131" b="131"/>
          <a:stretch>
            <a:fillRect/>
          </a:stretch>
        </p:blipFill>
        <p:spPr>
          <a:xfrm>
            <a:off x="7906631" y="4298696"/>
            <a:ext cx="603504" cy="603504"/>
          </a:xfrm>
          <a:prstGeom prst="rect">
            <a:avLst/>
          </a:prstGeom>
        </p:spPr>
      </p:pic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9B8F2F1C-23A5-48F0-83ED-64D9A8A3E4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13980" y="5047681"/>
            <a:ext cx="3008631" cy="348162"/>
          </a:xfrm>
        </p:spPr>
        <p:txBody>
          <a:bodyPr/>
          <a:lstStyle/>
          <a:p>
            <a:r>
              <a:rPr lang="en-US" dirty="0"/>
              <a:t>Clinician/patient acceptance and trust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16B8F8D8-59B2-406F-94E0-04DFD90B8D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27042" y="5565883"/>
            <a:ext cx="3209043" cy="847274"/>
          </a:xfrm>
        </p:spPr>
        <p:txBody>
          <a:bodyPr/>
          <a:lstStyle/>
          <a:p>
            <a:r>
              <a:rPr lang="en-US" dirty="0"/>
              <a:t>Resistance to change and low trust in new healthcare technologies.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5EC8A42-193D-43A9-B162-8977ADBDB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284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B5DCDD26-2EBE-4DA1-88E6-739CC32AA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9846" y="1576658"/>
            <a:ext cx="2724466" cy="2628393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itle 52">
            <a:extLst>
              <a:ext uri="{FF2B5EF4-FFF2-40B4-BE49-F238E27FC236}">
                <a16:creationId xmlns:a16="http://schemas.microsoft.com/office/drawing/2014/main" id="{24046B9E-C52D-4466-AE77-E724F5B08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908" y="859311"/>
            <a:ext cx="5611660" cy="677782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FUTURE OUTLOOK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D4D6CB0C-A7D9-4409-AB5D-E136D3307D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6213" y="2112493"/>
            <a:ext cx="2028106" cy="913606"/>
          </a:xfrm>
        </p:spPr>
        <p:txBody>
          <a:bodyPr/>
          <a:lstStyle/>
          <a:p>
            <a:r>
              <a:rPr lang="en-US" sz="2000" dirty="0"/>
              <a:t>Better data integration &amp; explainable AI for trust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C57077DD-31D5-47C0-8A51-7084E938B94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6872" y="1910547"/>
            <a:ext cx="2266569" cy="1929018"/>
          </a:xfrm>
        </p:spPr>
        <p:txBody>
          <a:bodyPr/>
          <a:lstStyle/>
          <a:p>
            <a:r>
              <a:rPr lang="en-US" sz="2000" dirty="0"/>
              <a:t>Larger, more diverse datasets to reduce bias and have generalizable results</a:t>
            </a:r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E7D0D0D6-1ED1-462C-B06F-D055EA885C5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15078" y="1960977"/>
            <a:ext cx="2028106" cy="959282"/>
          </a:xfrm>
        </p:spPr>
        <p:txBody>
          <a:bodyPr/>
          <a:lstStyle/>
          <a:p>
            <a:r>
              <a:rPr lang="en-US" sz="2000" dirty="0"/>
              <a:t>Collaboration across medicine, computer science, and policy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4A4EFB0B-EDB6-4E5D-BD82-B6F5A96E2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97A7A317-65B9-416D-A896-F174F465E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6567" y="2887540"/>
            <a:ext cx="455433" cy="476983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BA6BC5-A8DC-9922-64EB-8DE6C8853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08203" y="1598429"/>
            <a:ext cx="2724466" cy="2628393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6A59174-5C51-CBDA-FC73-6DA28E317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29089" y="1582100"/>
            <a:ext cx="2724466" cy="2628393"/>
          </a:xfrm>
          <a:prstGeom prst="ellipse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2C5DE9-F6DF-DD14-FF2E-8DF15284AFE8}"/>
              </a:ext>
            </a:extLst>
          </p:cNvPr>
          <p:cNvSpPr txBox="1"/>
          <p:nvPr/>
        </p:nvSpPr>
        <p:spPr>
          <a:xfrm>
            <a:off x="1219398" y="5338354"/>
            <a:ext cx="9950171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AI is rapidly reshaping healthcare diagnostics, monitoring, and personalization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Strong promise shown in recent studies (e.g., breast cancer prediction, deep-learning in diagnosis)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Ethical, regulatory, and data challenges remain</a:t>
            </a:r>
          </a:p>
        </p:txBody>
      </p:sp>
      <p:sp>
        <p:nvSpPr>
          <p:cNvPr id="19" name="Title 17">
            <a:extLst>
              <a:ext uri="{FF2B5EF4-FFF2-40B4-BE49-F238E27FC236}">
                <a16:creationId xmlns:a16="http://schemas.microsoft.com/office/drawing/2014/main" id="{D9D662F9-F850-AE4B-3848-A6B819E1A2E1}"/>
              </a:ext>
            </a:extLst>
          </p:cNvPr>
          <p:cNvSpPr txBox="1">
            <a:spLocks/>
          </p:cNvSpPr>
          <p:nvPr/>
        </p:nvSpPr>
        <p:spPr>
          <a:xfrm>
            <a:off x="3669155" y="4666364"/>
            <a:ext cx="5124189" cy="492302"/>
          </a:xfrm>
          <a:prstGeom prst="rect">
            <a:avLst/>
          </a:prstGeom>
        </p:spPr>
        <p:txBody>
          <a:bodyPr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accent6"/>
                </a:solidFill>
              </a:rPr>
              <a:t>Key takeaways</a:t>
            </a:r>
          </a:p>
        </p:txBody>
      </p:sp>
    </p:spTree>
    <p:extLst>
      <p:ext uri="{BB962C8B-B14F-4D97-AF65-F5344CB8AC3E}">
        <p14:creationId xmlns:p14="http://schemas.microsoft.com/office/powerpoint/2010/main" val="991594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97B6B-E930-D7A5-7B4A-27B772D69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BFDA2-6AB6-D346-5A78-2A36B025C0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66378" y="1726087"/>
            <a:ext cx="4856479" cy="2858270"/>
          </a:xfrm>
        </p:spPr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AI models are powerful educational tools that can complement, rather than replace, medical professionals - greater integration of AI education can empower healthcare workers, improve clinical decision-making, and ultimately enhance patient care.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34085A-DBD3-35FB-5EA1-D4760CB4E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62BDB8-8C87-783E-8236-4ACDD48FAA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87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038" y="1935272"/>
            <a:ext cx="4989629" cy="886306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6852" y="3531676"/>
            <a:ext cx="4989628" cy="1756576"/>
          </a:xfrm>
        </p:spPr>
        <p:txBody>
          <a:bodyPr>
            <a:normAutofit/>
          </a:bodyPr>
          <a:lstStyle/>
          <a:p>
            <a:r>
              <a:rPr lang="en-US" dirty="0"/>
              <a:t>Chloe Barker</a:t>
            </a:r>
          </a:p>
          <a:p>
            <a:r>
              <a:rPr lang="en-US" dirty="0" err="1"/>
              <a:t>chloebarker@smu.edu</a:t>
            </a:r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fld id="{8D1FC6F8-0BCD-47E9-9C64-690771D9C1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029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3BAF-76E7-20E0-D052-97AB7A8BE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B3FDD331-0FD5-D60C-6D7F-B8E0DCF9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327" y="554248"/>
            <a:ext cx="6922876" cy="687834"/>
          </a:xfrm>
        </p:spPr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REFERENCES 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4B06601-B5FF-0C29-F1B1-60168A02C6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14472" y="1330441"/>
            <a:ext cx="9468834" cy="3193433"/>
          </a:xfrm>
        </p:spPr>
        <p:txBody>
          <a:bodyPr/>
          <a:lstStyle/>
          <a:p>
            <a:pPr>
              <a:buClr>
                <a:schemeClr val="accent6"/>
              </a:buClr>
            </a:pPr>
            <a:r>
              <a:rPr lang="en-US" sz="1600" b="0" i="0" dirty="0">
                <a:effectLst/>
              </a:rPr>
              <a:t>Gulshan, V., Peng, L., Coram, M., Stumpe, M. C., Wu, D., Narayanaswamy, A., Venugopalan, S., Widner, K., Madams, T., Cuadros, J., Kim, R., Raman, R., Nelson, P. C., Mega, J. L., &amp; Webster, D. R. (2016). Development and Validation of a Deep Learning Algorithm for Detection of Diabetic Retinopathy in Retinal Fundus Photographs. JAMA, 316(22), 2402–2410. https://doi.org/10.1001/jama.2016.17216</a:t>
            </a:r>
          </a:p>
          <a:p>
            <a:pPr>
              <a:buClr>
                <a:schemeClr val="accent6"/>
              </a:buClr>
            </a:pPr>
            <a:r>
              <a:rPr lang="en-US" sz="1600" dirty="0"/>
              <a:t>Hindelang, M., </a:t>
            </a:r>
            <a:r>
              <a:rPr lang="en-US" sz="1600" dirty="0" err="1"/>
              <a:t>Sitaru</a:t>
            </a:r>
            <a:r>
              <a:rPr lang="en-US" sz="1600" dirty="0"/>
              <a:t>, S., &amp; Zink, A. (2024). Transforming Health Care Through Chatbots for Medical History-Taking and Future Directions: Comprehensive Systematic Review. JMIR Med Inform, 12, e56628. 10.2196/56628</a:t>
            </a:r>
          </a:p>
          <a:p>
            <a:pPr>
              <a:buClr>
                <a:schemeClr val="accent6"/>
              </a:buClr>
            </a:pPr>
            <a:r>
              <a:rPr lang="en-US" sz="1600" dirty="0"/>
              <a:t>La Moglia, A., &amp; Mohamad Almustafa, K. (2025). Breast cancer prediction using machine learning classification algorithms. Intelligence-Based Medicine, 11, 100193. 10.1016/j.ibmed.2024.100193</a:t>
            </a:r>
          </a:p>
          <a:p>
            <a:pPr>
              <a:buClr>
                <a:schemeClr val="accent6"/>
              </a:buClr>
            </a:pPr>
            <a:r>
              <a:rPr lang="en-US" sz="1600" dirty="0"/>
              <a:t>Li, Y., Li, Y., Wei, M., &amp; Li, G. (2024). Innovation and challenges of artificial intelligence technology in personalized healthcare. Scientific Reports, 14(1)10.1038/s41598-024-70073-7</a:t>
            </a:r>
          </a:p>
          <a:p>
            <a:pPr>
              <a:buClr>
                <a:schemeClr val="accent6"/>
              </a:buClr>
            </a:pPr>
            <a:r>
              <a:rPr lang="en-US" sz="1600" dirty="0"/>
              <a:t>Strong, E., DiGiammarino, A., Weng, Y., Kumar, A., </a:t>
            </a:r>
            <a:r>
              <a:rPr lang="en-US" sz="1600" dirty="0" err="1"/>
              <a:t>Hosamani</a:t>
            </a:r>
            <a:r>
              <a:rPr lang="en-US" sz="1600" dirty="0"/>
              <a:t>, P., Hom, J., &amp; Chen, J. H. (2023). Chatbot vs Medical Student Performance on Free-Response Clinical Reasoning Examinations. JAMA Internal Medicine, 183(9), 1028–1030. 10.1001/jamainternmed.2023.2909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5083B91-693F-04F9-911A-CFEA710E9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784371" y="1873845"/>
            <a:ext cx="2086302" cy="365125"/>
          </a:xfrm>
        </p:spPr>
        <p:txBody>
          <a:bodyPr/>
          <a:lstStyle/>
          <a:p>
            <a:r>
              <a:rPr lang="en-US" dirty="0"/>
              <a:t>AI IN HEALTHCARE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03427E6-DCBB-EFF1-2EDB-856149749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735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D07AFA-56ED-494E-AC96-7D874BD7F8DE}">
  <ds:schemaRefs>
    <ds:schemaRef ds:uri="http://schemas.microsoft.com/sharepoint/v3"/>
    <ds:schemaRef ds:uri="http://schemas.microsoft.com/office/2006/metadata/properties"/>
    <ds:schemaRef ds:uri="http://www.w3.org/XML/1998/namespace"/>
    <ds:schemaRef ds:uri="230e9df3-be65-4c73-a93b-d1236ebd677e"/>
    <ds:schemaRef ds:uri="http://purl.org/dc/terms/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C3B034D-ACEF-4C52-A048-622E130B9A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089DF1-5746-46EC-AE4D-E0FEEFA364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TM56488565</Template>
  <TotalTime>16457</TotalTime>
  <Words>1257</Words>
  <Application>Microsoft Macintosh PowerPoint</Application>
  <PresentationFormat>Widescreen</PresentationFormat>
  <Paragraphs>150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-webkit-standard</vt:lpstr>
      <vt:lpstr>Arial</vt:lpstr>
      <vt:lpstr>Calibri</vt:lpstr>
      <vt:lpstr>Century Gothic Bold</vt:lpstr>
      <vt:lpstr>Courier New</vt:lpstr>
      <vt:lpstr>Daytona Pro Light</vt:lpstr>
      <vt:lpstr>Wingdings</vt:lpstr>
      <vt:lpstr>Office Theme</vt:lpstr>
      <vt:lpstr>AI in Healthcare: CHALLENGES &amp; Breakthroughs</vt:lpstr>
      <vt:lpstr>Why this matters</vt:lpstr>
      <vt:lpstr>Quick overview of ai &amp; DS in healthcare</vt:lpstr>
      <vt:lpstr>What does ai in medicine look like?</vt:lpstr>
      <vt:lpstr>Chat-Gpt 4.0 vs. Medical students</vt:lpstr>
      <vt:lpstr>Chat-Gpt 4.0 vs. Medical Students</vt:lpstr>
      <vt:lpstr>Potential benefits</vt:lpstr>
      <vt:lpstr>Some Current research </vt:lpstr>
      <vt:lpstr>Breast cancer prediction using machine learning </vt:lpstr>
      <vt:lpstr>Breast cancer prediction using machine learning </vt:lpstr>
      <vt:lpstr>PowerPoint Presentation</vt:lpstr>
      <vt:lpstr>Deep learning algorithm to detect diabetic retinopathy</vt:lpstr>
      <vt:lpstr>Risks AND CHALLENGES</vt:lpstr>
      <vt:lpstr>FUTURE OUTLOOK</vt:lpstr>
      <vt:lpstr>Remember!</vt:lpstr>
      <vt:lpstr>Thank you 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Barker, Chloe</cp:lastModifiedBy>
  <cp:revision>22</cp:revision>
  <dcterms:created xsi:type="dcterms:W3CDTF">2025-03-25T01:53:51Z</dcterms:created>
  <dcterms:modified xsi:type="dcterms:W3CDTF">2025-12-17T21:58:26Z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